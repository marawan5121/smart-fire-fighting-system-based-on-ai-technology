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B40BB-B127-6FA4-9A15-3CFAB327D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CDDFBD-E553-BBAB-8794-E635D870D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BE3CC-B039-5555-4571-7774BF6D9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EE21-C9FB-4C4A-962E-4B0A54FE6590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F4F9E-250C-39AA-8302-8D90B5060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A082C-748A-6F45-FE2F-005692FD9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874-B18E-4CA6-A8E5-535D2206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414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A3576-B5C3-FA8D-9C8E-5F95EC1E1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191AE-23B8-D8C2-27EB-EC5DB030F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EABE9-C458-9626-E696-0E1D16CE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EE21-C9FB-4C4A-962E-4B0A54FE6590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48332-9A4D-7E89-FE7C-71036D7DB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7BDFE-2861-834B-823C-909A8FDDF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874-B18E-4CA6-A8E5-535D2206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187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229A6-831F-5FBB-DA6E-916125541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83332-6A3F-184A-6402-6AD0EB6D6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EFA7E-6CC8-0698-AF87-8C58E069D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EE21-C9FB-4C4A-962E-4B0A54FE6590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0A517-8C55-12D2-06D9-CCE3AF20A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FA716-A586-664F-9DCF-1CCCE0427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874-B18E-4CA6-A8E5-535D2206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61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79409-1460-869F-D2A4-4117B461A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CCDEC-4359-AF3D-BA04-D21842A42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63705-BFD7-B592-F9BB-A1204DC22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8DE8B-B503-4A8E-552E-22717CD59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EE21-C9FB-4C4A-962E-4B0A54FE6590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3BA07-BC43-AD51-514C-3B205BA1A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687C5-2F0C-3F35-3584-9F65CED18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874-B18E-4CA6-A8E5-535D2206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623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237A9-0BEE-9101-B15F-633853618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8982A-53D6-B868-20DD-A2C8B769B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3AB42-0985-A1F6-5674-F7C6BA817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46449C-69CA-DEFF-091F-2D1526B2CF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B5C39D-2174-F42A-11E4-CBC917FD41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B44259-6625-6614-1A1E-DEA2D07BA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EE21-C9FB-4C4A-962E-4B0A54FE6590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5CEE69-0A51-CFC9-17F3-A23D047D6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304EF1-48AF-9FCD-06CA-149A10D4E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874-B18E-4CA6-A8E5-535D2206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713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5A653-FA02-AD83-EEBE-A825B147C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0DDB89-5C7B-6A6F-22CE-7A65FC6AE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EE21-C9FB-4C4A-962E-4B0A54FE6590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8D4380-FF1A-20B2-D277-2A2A8DDAF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CCC8A-9344-1523-5E38-F1A2DBC12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874-B18E-4CA6-A8E5-535D2206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217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554B5F-13B6-DFF8-06EA-A5D725712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EE21-C9FB-4C4A-962E-4B0A54FE6590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E2FB7-FCBE-1930-8C9E-F9C8A6DF3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3F0FE-A9B8-C6CB-9529-3B374318E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874-B18E-4CA6-A8E5-535D2206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142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55B4F-17E8-28B7-4684-F4A4FB6C2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BAC7A-2217-4F50-9E44-DEDECA666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17E9C-80C6-858D-FCAE-3C98EEF8A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512BD-E434-8F91-B1F1-2442AD848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EE21-C9FB-4C4A-962E-4B0A54FE6590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382F6-E68E-9297-9BE0-763FAE572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743DF-7DF5-F6C5-DAC7-C2C2A302B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874-B18E-4CA6-A8E5-535D2206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53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C1F13-BA32-32EA-6877-188DD3FD7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55184-E6A0-FF35-254A-240B4F49C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434AA-F804-5EA7-17AA-C05104BA3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11D14-9516-04A8-495B-1CDB18860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EE21-C9FB-4C4A-962E-4B0A54FE6590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E9023A-5F03-537F-0068-C0ECC4919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58074-ED92-BAC7-086D-2833D7B7F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874-B18E-4CA6-A8E5-535D2206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04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9BD7F-86C3-F5F2-E8D0-F6B1DC775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C486C-F591-F3A8-11E6-1FF03C278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33792-AD16-79DA-B667-464741B4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EE21-C9FB-4C4A-962E-4B0A54FE6590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EA17C-A195-CA02-57B1-A29686EE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047BF-2F2C-C032-B5B5-DDF05DB3D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874-B18E-4CA6-A8E5-535D2206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824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F4D967-10EA-10E1-9C08-E2C0EB4D2B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7195F-C2C1-2D5C-A89E-730F4D1DFA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541F0-A595-08E8-DFDE-3A9B27F9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B8EE21-C9FB-4C4A-962E-4B0A54FE6590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665EB-8664-4D7E-D7FF-2B33E402E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53288-9440-6CE9-B04B-489FE8520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874-B18E-4CA6-A8E5-535D2206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544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4601E8-AB73-0DF5-9E1B-4B358CF03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6E010-4AE6-DFC1-E606-B17B5B2D2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30038-D0B0-9A45-1ECD-99948B95F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B8EE21-C9FB-4C4A-962E-4B0A54FE6590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87C82-01EA-1C30-67B1-558B49F8A3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64C04-5533-27A9-69F9-36E4368743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C6F874-B18E-4CA6-A8E5-535D22067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3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C9AEF0A-221E-6365-18EB-067A4E18BD1C}"/>
              </a:ext>
            </a:extLst>
          </p:cNvPr>
          <p:cNvCxnSpPr/>
          <p:nvPr/>
        </p:nvCxnSpPr>
        <p:spPr>
          <a:xfrm>
            <a:off x="914400" y="4724400"/>
            <a:ext cx="152400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D79A0DB-8E8F-5E58-8D63-B2084917DF7C}"/>
              </a:ext>
            </a:extLst>
          </p:cNvPr>
          <p:cNvSpPr txBox="1"/>
          <p:nvPr/>
        </p:nvSpPr>
        <p:spPr>
          <a:xfrm>
            <a:off x="914400" y="3175000"/>
            <a:ext cx="965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4600" b="1">
                <a:solidFill>
                  <a:srgbClr val="1C1C1C"/>
                </a:solidFill>
                <a:latin typeface="Segoe UI" panose="020B0502040204020203" pitchFamily="34" charset="0"/>
              </a:rPr>
              <a:t>Smart Fire Fighting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4174FE-0E5B-B0EB-A759-4B3B3D469EBE}"/>
              </a:ext>
            </a:extLst>
          </p:cNvPr>
          <p:cNvSpPr txBox="1"/>
          <p:nvPr/>
        </p:nvSpPr>
        <p:spPr>
          <a:xfrm>
            <a:off x="914400" y="4927600"/>
            <a:ext cx="1041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200">
                <a:solidFill>
                  <a:srgbClr val="606060"/>
                </a:solidFill>
                <a:latin typeface="Segoe UI" panose="020B0502040204020203" pitchFamily="34" charset="0"/>
              </a:rPr>
              <a:t>Suppression that doesn't wait on the network.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5F704B9-A77B-E949-B79F-5146DC1A5FFE}"/>
              </a:ext>
            </a:extLst>
          </p:cNvPr>
          <p:cNvSpPr/>
          <p:nvPr/>
        </p:nvSpPr>
        <p:spPr>
          <a:xfrm>
            <a:off x="10287000" y="889000"/>
            <a:ext cx="711200" cy="711200"/>
          </a:xfrm>
          <a:prstGeom prst="ellipse">
            <a:avLst/>
          </a:prstGeom>
          <a:noFill/>
          <a:ln w="31750" cap="flat" cmpd="sng" algn="ctr">
            <a:solidFill>
              <a:srgbClr val="D32F2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7CFA8B-EF62-3214-B12F-AF517EC48A29}"/>
              </a:ext>
            </a:extLst>
          </p:cNvPr>
          <p:cNvSpPr txBox="1"/>
          <p:nvPr/>
        </p:nvSpPr>
        <p:spPr>
          <a:xfrm>
            <a:off x="914400" y="6172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>
                <a:solidFill>
                  <a:srgbClr val="969696"/>
                </a:solidFill>
                <a:latin typeface="Segoe UI" panose="020B0502040204020203" pitchFamily="34" charset="0"/>
              </a:rPr>
              <a:t>Graduation Project Defense  ·  Modern Academy for Engineering &amp; Technology  ·  Supervisor: Dr. Maha Gaber</a:t>
            </a:r>
          </a:p>
        </p:txBody>
      </p:sp>
    </p:spTree>
    <p:extLst>
      <p:ext uri="{BB962C8B-B14F-4D97-AF65-F5344CB8AC3E}">
        <p14:creationId xmlns:p14="http://schemas.microsoft.com/office/powerpoint/2010/main" val="267006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9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9989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6B537B-B360-3DCC-7103-A4BC1FDCF4AF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F57C00"/>
                </a:solidFill>
                <a:latin typeface="Segoe UI" panose="020B0502040204020203" pitchFamily="34" charset="0"/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07DDAE-615E-9029-BD97-F165E1B9C502}"/>
              </a:ext>
            </a:extLst>
          </p:cNvPr>
          <p:cNvSpPr txBox="1"/>
          <p:nvPr/>
        </p:nvSpPr>
        <p:spPr>
          <a:xfrm>
            <a:off x="914400" y="1498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3400" b="1">
                <a:solidFill>
                  <a:srgbClr val="1C1C1C"/>
                </a:solidFill>
                <a:latin typeface="Segoe UI" panose="020B0502040204020203" pitchFamily="34" charset="0"/>
              </a:rPr>
              <a:t>This defense, in four moves.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7C7D7CE-6CA0-381B-EB9A-C6D871A8C0A6}"/>
              </a:ext>
            </a:extLst>
          </p:cNvPr>
          <p:cNvSpPr/>
          <p:nvPr/>
        </p:nvSpPr>
        <p:spPr>
          <a:xfrm>
            <a:off x="914400" y="2667000"/>
            <a:ext cx="10363200" cy="7366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E63389-176D-8098-1518-92E9C105203C}"/>
              </a:ext>
            </a:extLst>
          </p:cNvPr>
          <p:cNvSpPr/>
          <p:nvPr/>
        </p:nvSpPr>
        <p:spPr>
          <a:xfrm>
            <a:off x="914400" y="2667000"/>
            <a:ext cx="101600" cy="736600"/>
          </a:xfrm>
          <a:prstGeom prst="rect">
            <a:avLst/>
          </a:prstGeom>
          <a:solidFill>
            <a:srgbClr val="0288D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4C83F6-C0B4-9523-D665-8C6CD62E66C9}"/>
              </a:ext>
            </a:extLst>
          </p:cNvPr>
          <p:cNvSpPr txBox="1"/>
          <p:nvPr/>
        </p:nvSpPr>
        <p:spPr>
          <a:xfrm>
            <a:off x="1270000" y="2743200"/>
            <a:ext cx="889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en-US" sz="2600" b="1">
                <a:solidFill>
                  <a:srgbClr val="0288D1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564B-D74C-FD48-7199-0F97A05BDDD6}"/>
              </a:ext>
            </a:extLst>
          </p:cNvPr>
          <p:cNvSpPr txBox="1"/>
          <p:nvPr/>
        </p:nvSpPr>
        <p:spPr>
          <a:xfrm>
            <a:off x="2311400" y="2743200"/>
            <a:ext cx="3810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en-US" sz="2000" b="1">
                <a:solidFill>
                  <a:srgbClr val="1C1C1C"/>
                </a:solidFill>
                <a:latin typeface="Segoe UI" panose="020B0502040204020203" pitchFamily="34" charset="0"/>
              </a:rPr>
              <a:t>Architecture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7B3C98-1D44-8CE1-F25E-2644043D576C}"/>
              </a:ext>
            </a:extLst>
          </p:cNvPr>
          <p:cNvSpPr txBox="1"/>
          <p:nvPr/>
        </p:nvSpPr>
        <p:spPr>
          <a:xfrm>
            <a:off x="6375400" y="2743200"/>
            <a:ext cx="4064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en-US" sz="1600">
                <a:solidFill>
                  <a:srgbClr val="606060"/>
                </a:solidFill>
                <a:latin typeface="Segoe UI" panose="020B0502040204020203" pitchFamily="34" charset="0"/>
              </a:rPr>
              <a:t>Two tiers, one bus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6363C3A-BE4B-E75B-7D77-7FA2ECF7638D}"/>
              </a:ext>
            </a:extLst>
          </p:cNvPr>
          <p:cNvSpPr/>
          <p:nvPr/>
        </p:nvSpPr>
        <p:spPr>
          <a:xfrm>
            <a:off x="914400" y="3556000"/>
            <a:ext cx="10363200" cy="7366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D64ACC-A87E-6A6C-F728-38E49969A330}"/>
              </a:ext>
            </a:extLst>
          </p:cNvPr>
          <p:cNvSpPr/>
          <p:nvPr/>
        </p:nvSpPr>
        <p:spPr>
          <a:xfrm>
            <a:off x="914400" y="3556000"/>
            <a:ext cx="101600" cy="736600"/>
          </a:xfrm>
          <a:prstGeom prst="rect">
            <a:avLst/>
          </a:prstGeom>
          <a:solidFill>
            <a:srgbClr val="F57C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1485DB-BD85-49D9-2AEF-8F922A043479}"/>
              </a:ext>
            </a:extLst>
          </p:cNvPr>
          <p:cNvSpPr txBox="1"/>
          <p:nvPr/>
        </p:nvSpPr>
        <p:spPr>
          <a:xfrm>
            <a:off x="1270000" y="3632200"/>
            <a:ext cx="889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en-US" sz="2600" b="1">
                <a:solidFill>
                  <a:srgbClr val="F57C00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618DF1-4E03-B8F4-8DFB-0F0F11592907}"/>
              </a:ext>
            </a:extLst>
          </p:cNvPr>
          <p:cNvSpPr txBox="1"/>
          <p:nvPr/>
        </p:nvSpPr>
        <p:spPr>
          <a:xfrm>
            <a:off x="2311400" y="3632200"/>
            <a:ext cx="3810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en-US" sz="2000" b="1">
                <a:solidFill>
                  <a:srgbClr val="1C1C1C"/>
                </a:solidFill>
                <a:latin typeface="Segoe UI" panose="020B0502040204020203" pitchFamily="34" charset="0"/>
              </a:rPr>
              <a:t>AI &amp; Vision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5CDF5D-9756-E15D-9BD4-AB8DFA4CF1EE}"/>
              </a:ext>
            </a:extLst>
          </p:cNvPr>
          <p:cNvSpPr txBox="1"/>
          <p:nvPr/>
        </p:nvSpPr>
        <p:spPr>
          <a:xfrm>
            <a:off x="6375400" y="3632200"/>
            <a:ext cx="4064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en-US" sz="1600">
                <a:solidFill>
                  <a:srgbClr val="606060"/>
                </a:solidFill>
                <a:latin typeface="Segoe UI" panose="020B0502040204020203" pitchFamily="34" charset="0"/>
              </a:rPr>
              <a:t>Confirm, see, alert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FD928E4-33DE-F367-E6C4-562C223B724A}"/>
              </a:ext>
            </a:extLst>
          </p:cNvPr>
          <p:cNvSpPr/>
          <p:nvPr/>
        </p:nvSpPr>
        <p:spPr>
          <a:xfrm>
            <a:off x="914400" y="4445000"/>
            <a:ext cx="10363200" cy="7366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ED0422-8EEB-DA41-36F9-29D8DA02D38F}"/>
              </a:ext>
            </a:extLst>
          </p:cNvPr>
          <p:cNvSpPr/>
          <p:nvPr/>
        </p:nvSpPr>
        <p:spPr>
          <a:xfrm>
            <a:off x="914400" y="4445000"/>
            <a:ext cx="101600" cy="736600"/>
          </a:xfrm>
          <a:prstGeom prst="rect">
            <a:avLst/>
          </a:prstGeom>
          <a:solidFill>
            <a:srgbClr val="D3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DC027D-FE34-DF2A-8E65-76AF7C94040E}"/>
              </a:ext>
            </a:extLst>
          </p:cNvPr>
          <p:cNvSpPr txBox="1"/>
          <p:nvPr/>
        </p:nvSpPr>
        <p:spPr>
          <a:xfrm>
            <a:off x="1270000" y="4521200"/>
            <a:ext cx="889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en-US" sz="2600" b="1">
                <a:solidFill>
                  <a:srgbClr val="D32F2F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EAAAFF-1BE8-6631-B62B-B90A4FFEC0B1}"/>
              </a:ext>
            </a:extLst>
          </p:cNvPr>
          <p:cNvSpPr txBox="1"/>
          <p:nvPr/>
        </p:nvSpPr>
        <p:spPr>
          <a:xfrm>
            <a:off x="2311400" y="4521200"/>
            <a:ext cx="3810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en-US" sz="2000" b="1">
                <a:solidFill>
                  <a:srgbClr val="1C1C1C"/>
                </a:solidFill>
                <a:latin typeface="Segoe UI" panose="020B0502040204020203" pitchFamily="34" charset="0"/>
              </a:rPr>
              <a:t>Reliability &amp; Results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9468EF-415C-772D-5ABF-28F0652A7B9E}"/>
              </a:ext>
            </a:extLst>
          </p:cNvPr>
          <p:cNvSpPr txBox="1"/>
          <p:nvPr/>
        </p:nvSpPr>
        <p:spPr>
          <a:xfrm>
            <a:off x="6375400" y="4521200"/>
            <a:ext cx="4064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en-US" sz="1600">
                <a:solidFill>
                  <a:srgbClr val="606060"/>
                </a:solidFill>
                <a:latin typeface="Segoe UI" panose="020B0502040204020203" pitchFamily="34" charset="0"/>
              </a:rPr>
              <a:t>Proven, measured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166A8A9-3579-6CFD-2453-17DDC1534ACD}"/>
              </a:ext>
            </a:extLst>
          </p:cNvPr>
          <p:cNvSpPr/>
          <p:nvPr/>
        </p:nvSpPr>
        <p:spPr>
          <a:xfrm>
            <a:off x="914400" y="5334000"/>
            <a:ext cx="10363200" cy="7366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74366D-1923-28BF-C048-1290A98A95E4}"/>
              </a:ext>
            </a:extLst>
          </p:cNvPr>
          <p:cNvSpPr/>
          <p:nvPr/>
        </p:nvSpPr>
        <p:spPr>
          <a:xfrm>
            <a:off x="914400" y="5334000"/>
            <a:ext cx="101600" cy="736600"/>
          </a:xfrm>
          <a:prstGeom prst="rect">
            <a:avLst/>
          </a:prstGeom>
          <a:solidFill>
            <a:srgbClr val="1C1C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2BF7F5-14D3-44EB-6887-8350556D6ED5}"/>
              </a:ext>
            </a:extLst>
          </p:cNvPr>
          <p:cNvSpPr txBox="1"/>
          <p:nvPr/>
        </p:nvSpPr>
        <p:spPr>
          <a:xfrm>
            <a:off x="1270000" y="5410200"/>
            <a:ext cx="889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en-US" sz="2600" b="1">
                <a:solidFill>
                  <a:srgbClr val="1C1C1C"/>
                </a:solidFill>
                <a:latin typeface="Segoe UI" panose="020B0502040204020203" pitchFamily="34" charset="0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4B72F7-5206-E31A-0FC9-F0E3C0DD5580}"/>
              </a:ext>
            </a:extLst>
          </p:cNvPr>
          <p:cNvSpPr txBox="1"/>
          <p:nvPr/>
        </p:nvSpPr>
        <p:spPr>
          <a:xfrm>
            <a:off x="2311400" y="5410200"/>
            <a:ext cx="3810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en-US" sz="2000" b="1">
                <a:solidFill>
                  <a:srgbClr val="1C1C1C"/>
                </a:solidFill>
                <a:latin typeface="Segoe UI" panose="020B0502040204020203" pitchFamily="34" charset="0"/>
              </a:rPr>
              <a:t>Live Demonstration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823B1A-2826-5355-A1F7-DA5E670745D2}"/>
              </a:ext>
            </a:extLst>
          </p:cNvPr>
          <p:cNvSpPr txBox="1"/>
          <p:nvPr/>
        </p:nvSpPr>
        <p:spPr>
          <a:xfrm>
            <a:off x="6375400" y="5410200"/>
            <a:ext cx="4064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en-US" sz="1600">
                <a:solidFill>
                  <a:srgbClr val="606060"/>
                </a:solidFill>
                <a:latin typeface="Segoe UI" panose="020B0502040204020203" pitchFamily="34" charset="0"/>
              </a:rPr>
              <a:t>Ground truth</a:t>
            </a:r>
          </a:p>
        </p:txBody>
      </p:sp>
    </p:spTree>
    <p:extLst>
      <p:ext uri="{BB962C8B-B14F-4D97-AF65-F5344CB8AC3E}">
        <p14:creationId xmlns:p14="http://schemas.microsoft.com/office/powerpoint/2010/main" val="240640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push dir="u"/>
      </p:transition>
    </mc:Choice>
    <mc:Fallback xmlns=""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5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5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4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35A84B-1695-A151-24CE-8FE23BE598C2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D32F2F"/>
                </a:solidFill>
                <a:latin typeface="Segoe UI" panose="020B0502040204020203" pitchFamily="34" charset="0"/>
              </a:rPr>
              <a:t>SITUATION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13A547-7F9E-E578-1B0E-A887AA497F60}"/>
              </a:ext>
            </a:extLst>
          </p:cNvPr>
          <p:cNvSpPr txBox="1"/>
          <p:nvPr/>
        </p:nvSpPr>
        <p:spPr>
          <a:xfrm>
            <a:off x="914400" y="1905000"/>
            <a:ext cx="4572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en-US" sz="6400" b="1">
                <a:solidFill>
                  <a:srgbClr val="D32F2F"/>
                </a:solidFill>
                <a:latin typeface="Segoe UI" panose="020B0502040204020203" pitchFamily="34" charset="0"/>
              </a:rPr>
              <a:t>Minutes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6FBB65-8EB9-3A15-C05D-EA661B1F1BCF}"/>
              </a:ext>
            </a:extLst>
          </p:cNvPr>
          <p:cNvSpPr txBox="1"/>
          <p:nvPr/>
        </p:nvSpPr>
        <p:spPr>
          <a:xfrm>
            <a:off x="914400" y="4445000"/>
            <a:ext cx="4826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000">
                <a:solidFill>
                  <a:srgbClr val="1C1C1C"/>
                </a:solidFill>
                <a:latin typeface="Segoe UI" panose="020B0502040204020203" pitchFamily="34" charset="0"/>
              </a:rPr>
              <a:t>A structure fire becomes unsurvivable in minutes — hazard accumulates as t², not linearly.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27778F3-8456-6F8A-C704-ED7E1C761978}"/>
              </a:ext>
            </a:extLst>
          </p:cNvPr>
          <p:cNvCxnSpPr/>
          <p:nvPr/>
        </p:nvCxnSpPr>
        <p:spPr>
          <a:xfrm>
            <a:off x="7112000" y="5461000"/>
            <a:ext cx="4064000" cy="0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775DB3-6906-40AB-4BC6-6376FC707D0E}"/>
              </a:ext>
            </a:extLst>
          </p:cNvPr>
          <p:cNvCxnSpPr/>
          <p:nvPr/>
        </p:nvCxnSpPr>
        <p:spPr>
          <a:xfrm flipV="1">
            <a:off x="7112000" y="2540000"/>
            <a:ext cx="0" cy="2921000"/>
          </a:xfrm>
          <a:prstGeom prst="line">
            <a:avLst/>
          </a:prstGeom>
          <a:ln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3332BE-9DA7-5031-CD27-8FB54FA8A452}"/>
              </a:ext>
            </a:extLst>
          </p:cNvPr>
          <p:cNvCxnSpPr/>
          <p:nvPr/>
        </p:nvCxnSpPr>
        <p:spPr>
          <a:xfrm flipV="1">
            <a:off x="7112000" y="5433060"/>
            <a:ext cx="406400" cy="2794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3996A4-CD3E-81E8-FC69-FE9FC246C1E7}"/>
              </a:ext>
            </a:extLst>
          </p:cNvPr>
          <p:cNvCxnSpPr/>
          <p:nvPr/>
        </p:nvCxnSpPr>
        <p:spPr>
          <a:xfrm flipV="1">
            <a:off x="7518400" y="5349240"/>
            <a:ext cx="406400" cy="8382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7F7CFE-6770-8654-2F7E-D8221335B68C}"/>
              </a:ext>
            </a:extLst>
          </p:cNvPr>
          <p:cNvCxnSpPr/>
          <p:nvPr/>
        </p:nvCxnSpPr>
        <p:spPr>
          <a:xfrm flipV="1">
            <a:off x="7924800" y="5209540"/>
            <a:ext cx="406400" cy="13970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09EB6F-F711-15F2-DBF9-A0AE2A9F633A}"/>
              </a:ext>
            </a:extLst>
          </p:cNvPr>
          <p:cNvCxnSpPr/>
          <p:nvPr/>
        </p:nvCxnSpPr>
        <p:spPr>
          <a:xfrm flipV="1">
            <a:off x="8331200" y="5013960"/>
            <a:ext cx="406400" cy="19558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C279CFD-E398-7D8F-F6E2-CD40BB32E22E}"/>
              </a:ext>
            </a:extLst>
          </p:cNvPr>
          <p:cNvCxnSpPr/>
          <p:nvPr/>
        </p:nvCxnSpPr>
        <p:spPr>
          <a:xfrm flipV="1">
            <a:off x="8737600" y="4762500"/>
            <a:ext cx="406400" cy="25146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94072A-9E98-16CE-2F95-5B566C37A802}"/>
              </a:ext>
            </a:extLst>
          </p:cNvPr>
          <p:cNvCxnSpPr/>
          <p:nvPr/>
        </p:nvCxnSpPr>
        <p:spPr>
          <a:xfrm flipV="1">
            <a:off x="9144000" y="4455160"/>
            <a:ext cx="406400" cy="30734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6682D1D-6E46-E790-257D-E5B3C8B417E0}"/>
              </a:ext>
            </a:extLst>
          </p:cNvPr>
          <p:cNvCxnSpPr/>
          <p:nvPr/>
        </p:nvCxnSpPr>
        <p:spPr>
          <a:xfrm flipV="1">
            <a:off x="9550400" y="4091940"/>
            <a:ext cx="406400" cy="36322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3AA52-6FCC-CC78-9C3E-4F16159D5A9D}"/>
              </a:ext>
            </a:extLst>
          </p:cNvPr>
          <p:cNvCxnSpPr/>
          <p:nvPr/>
        </p:nvCxnSpPr>
        <p:spPr>
          <a:xfrm flipV="1">
            <a:off x="9956800" y="3672840"/>
            <a:ext cx="406400" cy="41910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B837CA4-11FD-4DEA-DDDA-AEE6CDDCF043}"/>
              </a:ext>
            </a:extLst>
          </p:cNvPr>
          <p:cNvCxnSpPr/>
          <p:nvPr/>
        </p:nvCxnSpPr>
        <p:spPr>
          <a:xfrm flipV="1">
            <a:off x="10363200" y="3197860"/>
            <a:ext cx="406400" cy="47498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837EDE8-C58B-121D-D176-DA627EA75AA1}"/>
              </a:ext>
            </a:extLst>
          </p:cNvPr>
          <p:cNvCxnSpPr/>
          <p:nvPr/>
        </p:nvCxnSpPr>
        <p:spPr>
          <a:xfrm flipV="1">
            <a:off x="10769600" y="2667000"/>
            <a:ext cx="406400" cy="53086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B9B3E74-3947-8A1A-2354-D02F67940C5F}"/>
              </a:ext>
            </a:extLst>
          </p:cNvPr>
          <p:cNvSpPr txBox="1"/>
          <p:nvPr/>
        </p:nvSpPr>
        <p:spPr>
          <a:xfrm>
            <a:off x="9017000" y="2286000"/>
            <a:ext cx="254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F57C00"/>
                </a:solidFill>
                <a:latin typeface="Segoe UI" panose="020B0502040204020203" pitchFamily="34" charset="0"/>
              </a:rPr>
              <a:t>Heat release  ∝  t²</a:t>
            </a:r>
          </a:p>
        </p:txBody>
      </p:sp>
    </p:spTree>
    <p:extLst>
      <p:ext uri="{BB962C8B-B14F-4D97-AF65-F5344CB8AC3E}">
        <p14:creationId xmlns:p14="http://schemas.microsoft.com/office/powerpoint/2010/main" val="17702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/>
      </p:transition>
    </mc:Choice>
    <mc:Fallback xmlns="">
      <p:transition spd="med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381E29-0A53-0E7D-C5CA-54365BF87C2C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D32F2F"/>
                </a:solidFill>
                <a:latin typeface="Segoe UI" panose="020B0502040204020203" pitchFamily="34" charset="0"/>
              </a:rPr>
              <a:t>COMPLICATION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89741-9A2A-5F1E-597E-378F94D72CF5}"/>
              </a:ext>
            </a:extLst>
          </p:cNvPr>
          <p:cNvSpPr txBox="1"/>
          <p:nvPr/>
        </p:nvSpPr>
        <p:spPr>
          <a:xfrm>
            <a:off x="914400" y="1498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600" b="1">
                <a:solidFill>
                  <a:srgbClr val="1C1C1C"/>
                </a:solidFill>
                <a:latin typeface="Segoe UI" panose="020B0502040204020203" pitchFamily="34" charset="0"/>
              </a:rPr>
              <a:t>Conventional detectors are single-signal and blind; “smart” ones depend on the very network a fire takes down.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23BE370-06E3-275D-21BC-34EE918C350A}"/>
              </a:ext>
            </a:extLst>
          </p:cNvPr>
          <p:cNvSpPr/>
          <p:nvPr/>
        </p:nvSpPr>
        <p:spPr>
          <a:xfrm>
            <a:off x="914400" y="3048000"/>
            <a:ext cx="4927600" cy="29210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2632CFC-C97C-3F2F-478A-AE6E8B2FB700}"/>
              </a:ext>
            </a:extLst>
          </p:cNvPr>
          <p:cNvSpPr/>
          <p:nvPr/>
        </p:nvSpPr>
        <p:spPr>
          <a:xfrm>
            <a:off x="6350000" y="3048000"/>
            <a:ext cx="4927600" cy="29210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6A7CF9-F410-22BD-E4E6-F35EEFF8E032}"/>
              </a:ext>
            </a:extLst>
          </p:cNvPr>
          <p:cNvSpPr txBox="1"/>
          <p:nvPr/>
        </p:nvSpPr>
        <p:spPr>
          <a:xfrm>
            <a:off x="1168400" y="3251200"/>
            <a:ext cx="4419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500" b="1">
                <a:solidFill>
                  <a:srgbClr val="606060"/>
                </a:solidFill>
                <a:latin typeface="Segoe UI" panose="020B0502040204020203" pitchFamily="34" charset="0"/>
              </a:rPr>
              <a:t>LEGACY POINT DETECTION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8ABE1D-99F5-0666-4583-D0B37F09D863}"/>
              </a:ext>
            </a:extLst>
          </p:cNvPr>
          <p:cNvSpPr txBox="1"/>
          <p:nvPr/>
        </p:nvSpPr>
        <p:spPr>
          <a:xfrm>
            <a:off x="1168400" y="3810000"/>
            <a:ext cx="4419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600">
                <a:solidFill>
                  <a:srgbClr val="1C1C1C"/>
                </a:solidFill>
                <a:latin typeface="Segoe UI" panose="020B0502040204020203" pitchFamily="34" charset="0"/>
              </a:rPr>
              <a:t>—  Single modality (smoke OR heat)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077268-1573-91F2-DF0E-4DF9A8F9EF5E}"/>
              </a:ext>
            </a:extLst>
          </p:cNvPr>
          <p:cNvSpPr txBox="1"/>
          <p:nvPr/>
        </p:nvSpPr>
        <p:spPr>
          <a:xfrm>
            <a:off x="1168400" y="4419600"/>
            <a:ext cx="4419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600">
                <a:solidFill>
                  <a:srgbClr val="1C1C1C"/>
                </a:solidFill>
                <a:latin typeface="Segoe UI" panose="020B0502040204020203" pitchFamily="34" charset="0"/>
              </a:rPr>
              <a:t>—  Building-wide, no zone resolution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CFB5A8-FB98-6E59-C60A-4CAD5B549A7C}"/>
              </a:ext>
            </a:extLst>
          </p:cNvPr>
          <p:cNvSpPr txBox="1"/>
          <p:nvPr/>
        </p:nvSpPr>
        <p:spPr>
          <a:xfrm>
            <a:off x="1168400" y="5029200"/>
            <a:ext cx="4419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600">
                <a:solidFill>
                  <a:srgbClr val="1C1C1C"/>
                </a:solidFill>
                <a:latin typeface="Segoe UI" panose="020B0502040204020203" pitchFamily="34" charset="0"/>
              </a:rPr>
              <a:t>—  No visual confirmation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F8862B-B9BD-FB3F-2663-F96602F22F6F}"/>
              </a:ext>
            </a:extLst>
          </p:cNvPr>
          <p:cNvSpPr txBox="1"/>
          <p:nvPr/>
        </p:nvSpPr>
        <p:spPr>
          <a:xfrm>
            <a:off x="6604000" y="3251200"/>
            <a:ext cx="4419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500" b="1">
                <a:solidFill>
                  <a:srgbClr val="606060"/>
                </a:solidFill>
                <a:latin typeface="Segoe UI" panose="020B0502040204020203" pitchFamily="34" charset="0"/>
              </a:rPr>
              <a:t>CLOUD-SMART SYSTEMS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92859B-3772-5939-6B61-5D23B11EDE0F}"/>
              </a:ext>
            </a:extLst>
          </p:cNvPr>
          <p:cNvSpPr txBox="1"/>
          <p:nvPr/>
        </p:nvSpPr>
        <p:spPr>
          <a:xfrm>
            <a:off x="6604000" y="3810000"/>
            <a:ext cx="4419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600">
                <a:solidFill>
                  <a:srgbClr val="1C1C1C"/>
                </a:solidFill>
                <a:latin typeface="Segoe UI" panose="020B0502040204020203" pitchFamily="34" charset="0"/>
              </a:rPr>
              <a:t>—  AI lives in the cloud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BD37D5-DB16-17E8-CAF6-DA1E08BD903E}"/>
              </a:ext>
            </a:extLst>
          </p:cNvPr>
          <p:cNvSpPr txBox="1"/>
          <p:nvPr/>
        </p:nvSpPr>
        <p:spPr>
          <a:xfrm>
            <a:off x="6604000" y="4419600"/>
            <a:ext cx="4419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600">
                <a:solidFill>
                  <a:srgbClr val="1C1C1C"/>
                </a:solidFill>
                <a:latin typeface="Segoe UI" panose="020B0502040204020203" pitchFamily="34" charset="0"/>
              </a:rPr>
              <a:t>—  Round-trip latency in the loop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A457BB-CDD4-73FA-ABA9-B379E360B95C}"/>
              </a:ext>
            </a:extLst>
          </p:cNvPr>
          <p:cNvSpPr txBox="1"/>
          <p:nvPr/>
        </p:nvSpPr>
        <p:spPr>
          <a:xfrm>
            <a:off x="6604000" y="5029200"/>
            <a:ext cx="4419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600" b="1">
                <a:solidFill>
                  <a:srgbClr val="D32F2F"/>
                </a:solidFill>
                <a:latin typeface="Segoe UI" panose="020B0502040204020203" pitchFamily="34" charset="0"/>
              </a:rPr>
              <a:t>—  Fails when the network fails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6068FD-2F03-FC58-034A-EF2DE6FCAC12}"/>
              </a:ext>
            </a:extLst>
          </p:cNvPr>
          <p:cNvCxnSpPr/>
          <p:nvPr/>
        </p:nvCxnSpPr>
        <p:spPr>
          <a:xfrm>
            <a:off x="6096000" y="3175000"/>
            <a:ext cx="0" cy="2667000"/>
          </a:xfrm>
          <a:prstGeom prst="line">
            <a:avLst/>
          </a:prstGeom>
          <a:ln w="2540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787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/>
      </p:transition>
    </mc:Choice>
    <mc:Fallback xmlns="">
      <p:transition spd="med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900" fill="hold"/>
                                        <p:tgtEl>
                                          <p:spTgt spid="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79982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9986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BB37EF-F42D-BCDE-890C-C4986CEC7E4E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F57C00"/>
                </a:solidFill>
                <a:latin typeface="Segoe UI" panose="020B0502040204020203" pitchFamily="34" charset="0"/>
              </a:rPr>
              <a:t>QUESTION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058194-A48B-458F-7FC5-96BF2BF27763}"/>
              </a:ext>
            </a:extLst>
          </p:cNvPr>
          <p:cNvSpPr txBox="1"/>
          <p:nvPr/>
        </p:nvSpPr>
        <p:spPr>
          <a:xfrm>
            <a:off x="914400" y="2667000"/>
            <a:ext cx="103632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3400" b="1">
                <a:solidFill>
                  <a:srgbClr val="1C1C1C"/>
                </a:solidFill>
                <a:latin typeface="Segoe UI" panose="020B0502040204020203" pitchFamily="34" charset="0"/>
              </a:rPr>
              <a:t>So: how do you get AI-grade intelligence  and  a guaranteed local response?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F56A31-9915-B342-9489-20A516FAD463}"/>
              </a:ext>
            </a:extLst>
          </p:cNvPr>
          <p:cNvCxnSpPr/>
          <p:nvPr/>
        </p:nvCxnSpPr>
        <p:spPr>
          <a:xfrm>
            <a:off x="5791200" y="4191000"/>
            <a:ext cx="60960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55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repeatCount="9999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9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65DC5-3833-558D-C8BC-F1D31A20039A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1C1C1C"/>
                </a:solidFill>
                <a:latin typeface="Segoe UI" panose="020B0502040204020203" pitchFamily="34" charset="0"/>
              </a:rPr>
              <a:t>ANSWER  ·  THE GOVERNING THESIS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3D2502-7BDE-EC80-5A4D-35FB8C94E5E8}"/>
              </a:ext>
            </a:extLst>
          </p:cNvPr>
          <p:cNvSpPr txBox="1"/>
          <p:nvPr/>
        </p:nvSpPr>
        <p:spPr>
          <a:xfrm>
            <a:off x="914400" y="21590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3200" b="1">
                <a:solidFill>
                  <a:srgbClr val="0288D1"/>
                </a:solidFill>
                <a:latin typeface="Segoe UI" panose="020B0502040204020203" pitchFamily="34" charset="0"/>
              </a:rPr>
              <a:t>A fail-operational,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ED23D5-49CE-C4B5-33DF-FD22689B9764}"/>
              </a:ext>
            </a:extLst>
          </p:cNvPr>
          <p:cNvSpPr txBox="1"/>
          <p:nvPr/>
        </p:nvSpPr>
        <p:spPr>
          <a:xfrm>
            <a:off x="914400" y="2895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3200" b="1">
                <a:solidFill>
                  <a:srgbClr val="F57C00"/>
                </a:solidFill>
                <a:latin typeface="Segoe UI" panose="020B0502040204020203" pitchFamily="34" charset="0"/>
              </a:rPr>
              <a:t>AI-confirmed,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AB2524-1EFC-BC90-758F-F3D76C20ABF4}"/>
              </a:ext>
            </a:extLst>
          </p:cNvPr>
          <p:cNvSpPr txBox="1"/>
          <p:nvPr/>
        </p:nvSpPr>
        <p:spPr>
          <a:xfrm>
            <a:off x="914400" y="3632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3200" b="1">
                <a:solidFill>
                  <a:srgbClr val="D32F2F"/>
                </a:solidFill>
                <a:latin typeface="Segoe UI" panose="020B0502040204020203" pitchFamily="34" charset="0"/>
              </a:rPr>
              <a:t>room-level fire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E515DD-67E0-9260-AE52-5B14E881030C}"/>
              </a:ext>
            </a:extLst>
          </p:cNvPr>
          <p:cNvSpPr txBox="1"/>
          <p:nvPr/>
        </p:nvSpPr>
        <p:spPr>
          <a:xfrm>
            <a:off x="914400" y="43688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3200" b="1">
                <a:solidFill>
                  <a:srgbClr val="D32F2F"/>
                </a:solidFill>
                <a:latin typeface="Segoe UI" panose="020B0502040204020203" pitchFamily="34" charset="0"/>
              </a:rPr>
              <a:t>that suppresses in one control cycle 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11B423-C7EB-018B-0F27-1BE770E5533A}"/>
              </a:ext>
            </a:extLst>
          </p:cNvPr>
          <p:cNvSpPr txBox="1"/>
          <p:nvPr/>
        </p:nvSpPr>
        <p:spPr>
          <a:xfrm>
            <a:off x="914400" y="51054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3200" b="1">
                <a:solidFill>
                  <a:srgbClr val="1C1C1C"/>
                </a:solidFill>
                <a:latin typeface="Segoe UI" panose="020B0502040204020203" pitchFamily="34" charset="0"/>
              </a:rPr>
              <a:t>without waiting on the network.</a:t>
            </a:r>
          </a:p>
        </p:txBody>
      </p:sp>
    </p:spTree>
    <p:extLst>
      <p:ext uri="{BB962C8B-B14F-4D97-AF65-F5344CB8AC3E}">
        <p14:creationId xmlns:p14="http://schemas.microsoft.com/office/powerpoint/2010/main" val="333534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mph" presetSubtype="0" repeatCount="9999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9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5" grpId="1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297310-5ABB-1A16-A592-8507ABFFA836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F57C00"/>
                </a:solidFill>
                <a:latin typeface="Segoe UI" panose="020B0502040204020203" pitchFamily="34" charset="0"/>
              </a:rPr>
              <a:t>SYSTEM AT A GLANCE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1A8EEF-0E11-CF34-23F1-7841710A465D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400" b="1">
                <a:solidFill>
                  <a:srgbClr val="1C1C1C"/>
                </a:solidFill>
                <a:latin typeface="Segoe UI" panose="020B0502040204020203" pitchFamily="34" charset="0"/>
              </a:rPr>
              <a:t>Two tiers, one bus: deterministic edge control + probabilistic AI, decoupled by MQTT.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B55AB73-3B52-42CE-CFAC-B7DAFB19122C}"/>
              </a:ext>
            </a:extLst>
          </p:cNvPr>
          <p:cNvSpPr/>
          <p:nvPr/>
        </p:nvSpPr>
        <p:spPr>
          <a:xfrm>
            <a:off x="914400" y="3175000"/>
            <a:ext cx="2921000" cy="1524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0288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55ADE7-F621-EA43-12AE-40EC10EAA1F1}"/>
              </a:ext>
            </a:extLst>
          </p:cNvPr>
          <p:cNvSpPr txBox="1"/>
          <p:nvPr/>
        </p:nvSpPr>
        <p:spPr>
          <a:xfrm>
            <a:off x="914400" y="3327400"/>
            <a:ext cx="2921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500">
                <a:solidFill>
                  <a:srgbClr val="1C1C1C"/>
                </a:solidFill>
                <a:latin typeface="Segoe UI" panose="020B0502040204020203" pitchFamily="34" charset="0"/>
              </a:rPr>
              <a:t>ESP32 CONTROL TIER
Level-driven loop
9 servos · 4 pumps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371328-5ADC-F58E-ACBE-A099CDBF07EA}"/>
              </a:ext>
            </a:extLst>
          </p:cNvPr>
          <p:cNvSpPr/>
          <p:nvPr/>
        </p:nvSpPr>
        <p:spPr>
          <a:xfrm>
            <a:off x="5143500" y="3429000"/>
            <a:ext cx="1905000" cy="1016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606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515CC8-BAE8-D537-B91F-8BCD9B2F1F83}"/>
              </a:ext>
            </a:extLst>
          </p:cNvPr>
          <p:cNvSpPr txBox="1"/>
          <p:nvPr/>
        </p:nvSpPr>
        <p:spPr>
          <a:xfrm>
            <a:off x="5143500" y="3556000"/>
            <a:ext cx="1905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500">
                <a:solidFill>
                  <a:srgbClr val="606060"/>
                </a:solidFill>
                <a:latin typeface="Segoe UI" panose="020B0502040204020203" pitchFamily="34" charset="0"/>
              </a:rPr>
              <a:t>Mosquitto
MQTT 1883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0ADB9E5-042F-9C76-3277-C756159CCCDF}"/>
              </a:ext>
            </a:extLst>
          </p:cNvPr>
          <p:cNvSpPr/>
          <p:nvPr/>
        </p:nvSpPr>
        <p:spPr>
          <a:xfrm>
            <a:off x="8356600" y="3175000"/>
            <a:ext cx="2921000" cy="1524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F57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9074BF-3F01-21E0-E26C-2998595B76F0}"/>
              </a:ext>
            </a:extLst>
          </p:cNvPr>
          <p:cNvSpPr txBox="1"/>
          <p:nvPr/>
        </p:nvSpPr>
        <p:spPr>
          <a:xfrm>
            <a:off x="8356600" y="3327400"/>
            <a:ext cx="2921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500">
                <a:solidFill>
                  <a:srgbClr val="1C1C1C"/>
                </a:solidFill>
                <a:latin typeface="Segoe UI" panose="020B0502040204020203" pitchFamily="34" charset="0"/>
              </a:rPr>
              <a:t>AI PERCEPTION TIER
YOLOv11 · CUDA FP16
fusion + occupancy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00D9117-DFDB-37DD-6FDF-3E058607CD5C}"/>
              </a:ext>
            </a:extLst>
          </p:cNvPr>
          <p:cNvSpPr/>
          <p:nvPr/>
        </p:nvSpPr>
        <p:spPr>
          <a:xfrm>
            <a:off x="8356600" y="5181600"/>
            <a:ext cx="2921000" cy="6096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D32F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463761-E929-BDD7-4727-14281CE2AEBE}"/>
              </a:ext>
            </a:extLst>
          </p:cNvPr>
          <p:cNvSpPr txBox="1"/>
          <p:nvPr/>
        </p:nvSpPr>
        <p:spPr>
          <a:xfrm>
            <a:off x="8356600" y="5257800"/>
            <a:ext cx="2921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400">
                <a:solidFill>
                  <a:srgbClr val="D32F2F"/>
                </a:solidFill>
                <a:latin typeface="Segoe UI" panose="020B0502040204020203" pitchFamily="34" charset="0"/>
              </a:rPr>
              <a:t>Telegram  ·  sffs_bot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6772188-26EA-449D-4796-AE3B4C5CF981}"/>
              </a:ext>
            </a:extLst>
          </p:cNvPr>
          <p:cNvSpPr/>
          <p:nvPr/>
        </p:nvSpPr>
        <p:spPr>
          <a:xfrm>
            <a:off x="914400" y="5181600"/>
            <a:ext cx="2921000" cy="6096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0288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5488D8-6C38-9F5C-4B4A-864E440A9E1F}"/>
              </a:ext>
            </a:extLst>
          </p:cNvPr>
          <p:cNvSpPr txBox="1"/>
          <p:nvPr/>
        </p:nvSpPr>
        <p:spPr>
          <a:xfrm>
            <a:off x="914400" y="5257800"/>
            <a:ext cx="2921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400">
                <a:solidFill>
                  <a:srgbClr val="0288D1"/>
                </a:solidFill>
                <a:latin typeface="Segoe UI" panose="020B0502040204020203" pitchFamily="34" charset="0"/>
              </a:rPr>
              <a:t>Node-RED Control Room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0198C65-619C-A3B4-55D8-4B3BDF8159AA}"/>
              </a:ext>
            </a:extLst>
          </p:cNvPr>
          <p:cNvSpPr/>
          <p:nvPr/>
        </p:nvSpPr>
        <p:spPr>
          <a:xfrm>
            <a:off x="3327400" y="3759200"/>
            <a:ext cx="1905000" cy="330200"/>
          </a:xfrm>
          <a:prstGeom prst="rightArrow">
            <a:avLst/>
          </a:prstGeom>
          <a:solidFill>
            <a:srgbClr val="F57C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FF9E403-536F-1559-2326-8D13849A0595}"/>
              </a:ext>
            </a:extLst>
          </p:cNvPr>
          <p:cNvSpPr/>
          <p:nvPr/>
        </p:nvSpPr>
        <p:spPr>
          <a:xfrm>
            <a:off x="7086600" y="3759200"/>
            <a:ext cx="1905000" cy="330200"/>
          </a:xfrm>
          <a:prstGeom prst="rightArrow">
            <a:avLst/>
          </a:prstGeom>
          <a:solidFill>
            <a:srgbClr val="0288D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A891CA-61A5-2EB4-C59E-DD19C784322B}"/>
              </a:ext>
            </a:extLst>
          </p:cNvPr>
          <p:cNvSpPr txBox="1"/>
          <p:nvPr/>
        </p:nvSpPr>
        <p:spPr>
          <a:xfrm>
            <a:off x="3327400" y="3429000"/>
            <a:ext cx="1905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606060"/>
                </a:solidFill>
                <a:latin typeface="Segoe UI" panose="020B0502040204020203" pitchFamily="34" charset="0"/>
              </a:rPr>
              <a:t>telemetry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0205E7-C529-7B2E-92FA-F7D3E07286FC}"/>
              </a:ext>
            </a:extLst>
          </p:cNvPr>
          <p:cNvSpPr txBox="1"/>
          <p:nvPr/>
        </p:nvSpPr>
        <p:spPr>
          <a:xfrm>
            <a:off x="7086600" y="3429000"/>
            <a:ext cx="1905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606060"/>
                </a:solidFill>
                <a:latin typeface="Segoe UI" panose="020B0502040204020203" pitchFamily="34" charset="0"/>
              </a:rPr>
              <a:t>command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66F29C4-3B0D-D85D-21AE-F4E60593D222}"/>
              </a:ext>
            </a:extLst>
          </p:cNvPr>
          <p:cNvCxnSpPr/>
          <p:nvPr/>
        </p:nvCxnSpPr>
        <p:spPr>
          <a:xfrm>
            <a:off x="9817100" y="4724400"/>
            <a:ext cx="0" cy="431800"/>
          </a:xfrm>
          <a:prstGeom prst="line">
            <a:avLst/>
          </a:prstGeom>
          <a:ln w="38100">
            <a:solidFill>
              <a:srgbClr val="F57C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DC20922-B6E4-E9C4-B61D-7104B54F64FE}"/>
              </a:ext>
            </a:extLst>
          </p:cNvPr>
          <p:cNvSpPr txBox="1"/>
          <p:nvPr/>
        </p:nvSpPr>
        <p:spPr>
          <a:xfrm>
            <a:off x="6705600" y="4775200"/>
            <a:ext cx="3175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r"/>
            <a:r>
              <a:rPr lang="en-US" sz="1200" b="1">
                <a:solidFill>
                  <a:srgbClr val="F57C00"/>
                </a:solidFill>
                <a:latin typeface="Segoe UI" panose="020B0502040204020203" pitchFamily="34" charset="0"/>
              </a:rPr>
              <a:t>image payload + sensor metrics</a:t>
            </a:r>
          </a:p>
        </p:txBody>
      </p:sp>
    </p:spTree>
    <p:extLst>
      <p:ext uri="{BB962C8B-B14F-4D97-AF65-F5344CB8AC3E}">
        <p14:creationId xmlns:p14="http://schemas.microsoft.com/office/powerpoint/2010/main" val="268138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mph" presetSubtype="0" repeatCount="9999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90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6" grpId="1" animBg="1"/>
      <p:bldP spid="8" grpId="0" animBg="1"/>
      <p:bldP spid="14" grpId="0" animBg="1"/>
      <p:bldP spid="15" grpId="0" animBg="1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CA5215-5401-C9F2-9BA5-A2F97185FFC8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F57C00"/>
                </a:solidFill>
                <a:latin typeface="Segoe UI" panose="020B0502040204020203" pitchFamily="34" charset="0"/>
              </a:rPr>
              <a:t>CAPABILITY 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A26AC-DBA0-2EF1-DF0E-22D11B459B36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300" b="1">
                <a:solidFill>
                  <a:srgbClr val="1C1C1C"/>
                </a:solidFill>
                <a:latin typeface="Segoe UI" panose="020B0502040204020203" pitchFamily="34" charset="0"/>
              </a:rPr>
              <a:t>Four rooms, nine servos, four pumps — with occupancy-aware suppression that protects people first.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AF9783D-DE33-0526-06FB-0DA192977352}"/>
              </a:ext>
            </a:extLst>
          </p:cNvPr>
          <p:cNvSpPr/>
          <p:nvPr/>
        </p:nvSpPr>
        <p:spPr>
          <a:xfrm>
            <a:off x="914400" y="2540000"/>
            <a:ext cx="1397000" cy="13970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894395-89E0-C9BA-DCA5-15D7C3093D23}"/>
              </a:ext>
            </a:extLst>
          </p:cNvPr>
          <p:cNvSpPr txBox="1"/>
          <p:nvPr/>
        </p:nvSpPr>
        <p:spPr>
          <a:xfrm>
            <a:off x="914400" y="2667000"/>
            <a:ext cx="1397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4000" b="1">
                <a:solidFill>
                  <a:srgbClr val="0288D1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4E6ACD-4A63-F788-C5F2-BC445F499BE7}"/>
              </a:ext>
            </a:extLst>
          </p:cNvPr>
          <p:cNvSpPr txBox="1"/>
          <p:nvPr/>
        </p:nvSpPr>
        <p:spPr>
          <a:xfrm>
            <a:off x="914400" y="3403600"/>
            <a:ext cx="1397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400">
                <a:solidFill>
                  <a:srgbClr val="606060"/>
                </a:solidFill>
                <a:latin typeface="Segoe UI" panose="020B0502040204020203" pitchFamily="34" charset="0"/>
              </a:rPr>
              <a:t>Rooms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3F1032-541A-5EED-0840-E52EE2EBF102}"/>
              </a:ext>
            </a:extLst>
          </p:cNvPr>
          <p:cNvSpPr/>
          <p:nvPr/>
        </p:nvSpPr>
        <p:spPr>
          <a:xfrm>
            <a:off x="2514600" y="2540000"/>
            <a:ext cx="1397000" cy="13970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29F144-1550-8434-3F42-EB6C99C41FD3}"/>
              </a:ext>
            </a:extLst>
          </p:cNvPr>
          <p:cNvSpPr txBox="1"/>
          <p:nvPr/>
        </p:nvSpPr>
        <p:spPr>
          <a:xfrm>
            <a:off x="2514600" y="2667000"/>
            <a:ext cx="1397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4000" b="1">
                <a:solidFill>
                  <a:srgbClr val="D32F2F"/>
                </a:solidFill>
                <a:latin typeface="Segoe UI" panose="020B0502040204020203" pitchFamily="34" charset="0"/>
              </a:rPr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706FED-8625-F159-F663-2C4F0FD7BFD4}"/>
              </a:ext>
            </a:extLst>
          </p:cNvPr>
          <p:cNvSpPr txBox="1"/>
          <p:nvPr/>
        </p:nvSpPr>
        <p:spPr>
          <a:xfrm>
            <a:off x="2514600" y="3403600"/>
            <a:ext cx="1397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400">
                <a:solidFill>
                  <a:srgbClr val="606060"/>
                </a:solidFill>
                <a:latin typeface="Segoe UI" panose="020B0502040204020203" pitchFamily="34" charset="0"/>
              </a:rPr>
              <a:t>Servos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8AC77D3-0532-BB1E-989B-B1FF79409E79}"/>
              </a:ext>
            </a:extLst>
          </p:cNvPr>
          <p:cNvSpPr/>
          <p:nvPr/>
        </p:nvSpPr>
        <p:spPr>
          <a:xfrm>
            <a:off x="4114800" y="2540000"/>
            <a:ext cx="1397000" cy="13970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B77028-6B43-D544-225E-CE74049411FF}"/>
              </a:ext>
            </a:extLst>
          </p:cNvPr>
          <p:cNvSpPr txBox="1"/>
          <p:nvPr/>
        </p:nvSpPr>
        <p:spPr>
          <a:xfrm>
            <a:off x="4114800" y="2667000"/>
            <a:ext cx="1397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4000" b="1">
                <a:solidFill>
                  <a:srgbClr val="0288D1"/>
                </a:solidFill>
                <a:latin typeface="Segoe UI" panose="020B0502040204020203" pitchFamily="34" charset="0"/>
              </a:rPr>
              <a:t>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FA7F29-2563-45AE-CC4E-A330F6C4FC91}"/>
              </a:ext>
            </a:extLst>
          </p:cNvPr>
          <p:cNvSpPr txBox="1"/>
          <p:nvPr/>
        </p:nvSpPr>
        <p:spPr>
          <a:xfrm>
            <a:off x="4114800" y="3403600"/>
            <a:ext cx="1397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400">
                <a:solidFill>
                  <a:srgbClr val="606060"/>
                </a:solidFill>
                <a:latin typeface="Segoe UI" panose="020B0502040204020203" pitchFamily="34" charset="0"/>
              </a:rPr>
              <a:t>Pumps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3326C66-95B5-DA42-508A-2DC8C6A6CACD}"/>
              </a:ext>
            </a:extLst>
          </p:cNvPr>
          <p:cNvSpPr/>
          <p:nvPr/>
        </p:nvSpPr>
        <p:spPr>
          <a:xfrm>
            <a:off x="914400" y="4216400"/>
            <a:ext cx="4597400" cy="1778000"/>
          </a:xfrm>
          <a:prstGeom prst="roundRect">
            <a:avLst/>
          </a:prstGeom>
          <a:noFill/>
          <a:ln w="19050" cap="flat" cmpd="sng" algn="ctr">
            <a:solidFill>
              <a:srgbClr val="969696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3E696F-628B-CB40-4ECF-670EA056205B}"/>
              </a:ext>
            </a:extLst>
          </p:cNvPr>
          <p:cNvSpPr txBox="1"/>
          <p:nvPr/>
        </p:nvSpPr>
        <p:spPr>
          <a:xfrm>
            <a:off x="914400" y="4826000"/>
            <a:ext cx="45974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400">
                <a:solidFill>
                  <a:srgbClr val="969696"/>
                </a:solidFill>
                <a:latin typeface="Segoe UI" panose="020B0502040204020203" pitchFamily="34" charset="0"/>
              </a:rPr>
              <a:t>[ 4-Room Layout — figure pending ]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3B15487-123A-5F15-8F38-15F6EB9187C3}"/>
              </a:ext>
            </a:extLst>
          </p:cNvPr>
          <p:cNvSpPr/>
          <p:nvPr/>
        </p:nvSpPr>
        <p:spPr>
          <a:xfrm>
            <a:off x="6223000" y="2540000"/>
            <a:ext cx="5054600" cy="9906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B43C12-7CDE-7909-3397-B98DDE85B87B}"/>
              </a:ext>
            </a:extLst>
          </p:cNvPr>
          <p:cNvSpPr/>
          <p:nvPr/>
        </p:nvSpPr>
        <p:spPr>
          <a:xfrm>
            <a:off x="6223000" y="2540000"/>
            <a:ext cx="101600" cy="990600"/>
          </a:xfrm>
          <a:prstGeom prst="rect">
            <a:avLst/>
          </a:prstGeom>
          <a:solidFill>
            <a:srgbClr val="F57C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4AA9C7-08F5-09FC-1535-FCACA29258B0}"/>
              </a:ext>
            </a:extLst>
          </p:cNvPr>
          <p:cNvSpPr txBox="1"/>
          <p:nvPr/>
        </p:nvSpPr>
        <p:spPr>
          <a:xfrm>
            <a:off x="6527800" y="2641600"/>
            <a:ext cx="3048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700" b="1">
                <a:solidFill>
                  <a:srgbClr val="1C1C1C"/>
                </a:solidFill>
                <a:latin typeface="Segoe UI" panose="020B0502040204020203" pitchFamily="34" charset="0"/>
              </a:rPr>
              <a:t>Instant Visual Alerting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842306-9754-8588-1307-149793A17198}"/>
              </a:ext>
            </a:extLst>
          </p:cNvPr>
          <p:cNvSpPr txBox="1"/>
          <p:nvPr/>
        </p:nvSpPr>
        <p:spPr>
          <a:xfrm>
            <a:off x="6527800" y="2997200"/>
            <a:ext cx="381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606060"/>
                </a:solidFill>
                <a:latin typeface="Segoe UI" panose="020B0502040204020203" pitchFamily="34" charset="0"/>
              </a:rPr>
              <a:t>real-time fire-zone image capture + metrics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C6771B-60C4-448D-79D6-CB0A9029AC3F}"/>
              </a:ext>
            </a:extLst>
          </p:cNvPr>
          <p:cNvSpPr txBox="1"/>
          <p:nvPr/>
        </p:nvSpPr>
        <p:spPr>
          <a:xfrm>
            <a:off x="9880600" y="2641600"/>
            <a:ext cx="127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r"/>
            <a:r>
              <a:rPr lang="en-US" sz="1100" b="1">
                <a:solidFill>
                  <a:srgbClr val="F57C00"/>
                </a:solidFill>
                <a:latin typeface="Segoe UI" panose="020B0502040204020203" pitchFamily="34" charset="0"/>
              </a:rPr>
              <a:t>DELIVERED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72F48C9-1975-1A95-F1B2-0D47AC81396B}"/>
              </a:ext>
            </a:extLst>
          </p:cNvPr>
          <p:cNvSpPr/>
          <p:nvPr/>
        </p:nvSpPr>
        <p:spPr>
          <a:xfrm>
            <a:off x="6223000" y="3683000"/>
            <a:ext cx="5054600" cy="9906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C94479-770A-CAE1-9346-2BAF51EF9877}"/>
              </a:ext>
            </a:extLst>
          </p:cNvPr>
          <p:cNvSpPr/>
          <p:nvPr/>
        </p:nvSpPr>
        <p:spPr>
          <a:xfrm>
            <a:off x="6223000" y="3683000"/>
            <a:ext cx="101600" cy="990600"/>
          </a:xfrm>
          <a:prstGeom prst="rect">
            <a:avLst/>
          </a:prstGeom>
          <a:solidFill>
            <a:srgbClr val="0288D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31E580-FA19-3F7D-2396-76E96B772F63}"/>
              </a:ext>
            </a:extLst>
          </p:cNvPr>
          <p:cNvSpPr txBox="1"/>
          <p:nvPr/>
        </p:nvSpPr>
        <p:spPr>
          <a:xfrm>
            <a:off x="6527800" y="3784600"/>
            <a:ext cx="3048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700" b="1">
                <a:solidFill>
                  <a:srgbClr val="1C1C1C"/>
                </a:solidFill>
                <a:latin typeface="Segoe UI" panose="020B0502040204020203" pitchFamily="34" charset="0"/>
              </a:rPr>
              <a:t>Occupancy-Aware Suppression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E7F439-D8A4-4B78-1CDE-EE739E0AF910}"/>
              </a:ext>
            </a:extLst>
          </p:cNvPr>
          <p:cNvSpPr txBox="1"/>
          <p:nvPr/>
        </p:nvSpPr>
        <p:spPr>
          <a:xfrm>
            <a:off x="6527800" y="4140200"/>
            <a:ext cx="381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606060"/>
                </a:solidFill>
                <a:latin typeface="Segoe UI" panose="020B0502040204020203" pitchFamily="34" charset="0"/>
              </a:rPr>
              <a:t>line-crossing head-count protects people first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5373C7-6CBE-E262-0CB3-DFADC565E0B6}"/>
              </a:ext>
            </a:extLst>
          </p:cNvPr>
          <p:cNvSpPr txBox="1"/>
          <p:nvPr/>
        </p:nvSpPr>
        <p:spPr>
          <a:xfrm>
            <a:off x="9880600" y="3784600"/>
            <a:ext cx="127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r"/>
            <a:r>
              <a:rPr lang="en-US" sz="1100" b="1">
                <a:solidFill>
                  <a:srgbClr val="0288D1"/>
                </a:solidFill>
                <a:latin typeface="Segoe UI" panose="020B0502040204020203" pitchFamily="34" charset="0"/>
              </a:rPr>
              <a:t>DELIVERED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C609791-724B-1C1E-741B-0D99CD0EB241}"/>
              </a:ext>
            </a:extLst>
          </p:cNvPr>
          <p:cNvSpPr/>
          <p:nvPr/>
        </p:nvSpPr>
        <p:spPr>
          <a:xfrm>
            <a:off x="6223000" y="4826000"/>
            <a:ext cx="5054600" cy="9906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9EA2CF-EDBB-56BE-6A59-29C70351293C}"/>
              </a:ext>
            </a:extLst>
          </p:cNvPr>
          <p:cNvSpPr/>
          <p:nvPr/>
        </p:nvSpPr>
        <p:spPr>
          <a:xfrm>
            <a:off x="6223000" y="4826000"/>
            <a:ext cx="101600" cy="990600"/>
          </a:xfrm>
          <a:prstGeom prst="rect">
            <a:avLst/>
          </a:prstGeom>
          <a:solidFill>
            <a:srgbClr val="D3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1EE51D-B338-B531-67A8-FEE1809EC21A}"/>
              </a:ext>
            </a:extLst>
          </p:cNvPr>
          <p:cNvSpPr txBox="1"/>
          <p:nvPr/>
        </p:nvSpPr>
        <p:spPr>
          <a:xfrm>
            <a:off x="6527800" y="4927600"/>
            <a:ext cx="3048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700" b="1">
                <a:solidFill>
                  <a:srgbClr val="1C1C1C"/>
                </a:solidFill>
                <a:latin typeface="Segoe UI" panose="020B0502040204020203" pitchFamily="34" charset="0"/>
              </a:rPr>
              <a:t>Face-Identity Rescue Tier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6176EF-D4D5-2242-00DD-9396A5A0DD6A}"/>
              </a:ext>
            </a:extLst>
          </p:cNvPr>
          <p:cNvSpPr txBox="1"/>
          <p:nvPr/>
        </p:nvSpPr>
        <p:spPr>
          <a:xfrm>
            <a:off x="6527800" y="5283200"/>
            <a:ext cx="381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606060"/>
                </a:solidFill>
                <a:latin typeface="Segoe UI" panose="020B0502040204020203" pitchFamily="34" charset="0"/>
              </a:rPr>
              <a:t>per-person identification for priority rescue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904FEA-E481-2F57-FCE0-9F9FCF3A5C4E}"/>
              </a:ext>
            </a:extLst>
          </p:cNvPr>
          <p:cNvSpPr txBox="1"/>
          <p:nvPr/>
        </p:nvSpPr>
        <p:spPr>
          <a:xfrm>
            <a:off x="9880600" y="4927600"/>
            <a:ext cx="127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r"/>
            <a:r>
              <a:rPr lang="en-US" sz="1100" b="1">
                <a:solidFill>
                  <a:srgbClr val="969696"/>
                </a:solidFill>
                <a:latin typeface="Segoe UI" panose="020B0502040204020203" pitchFamily="34" charset="0"/>
              </a:rPr>
              <a:t>ROADMAP</a:t>
            </a:r>
          </a:p>
        </p:txBody>
      </p:sp>
    </p:spTree>
    <p:extLst>
      <p:ext uri="{BB962C8B-B14F-4D97-AF65-F5344CB8AC3E}">
        <p14:creationId xmlns:p14="http://schemas.microsoft.com/office/powerpoint/2010/main" val="2485178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push dir="u"/>
      </p:transition>
    </mc:Choice>
    <mc:Fallback xmlns=""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6" presetClass="emph" presetSubtype="0" repeatCount="9999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900" fill="hold"/>
                                        <p:tgtEl>
                                          <p:spTgt spid="1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999400"/>
                            </p:stCondLst>
                            <p:childTnLst>
                              <p:par>
                                <p:cTn id="27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7999800"/>
                            </p:stCondLst>
                            <p:childTnLst>
                              <p:par>
                                <p:cTn id="32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3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5" grpId="0" animBg="1"/>
      <p:bldP spid="15" grpId="1" animBg="1"/>
      <p:bldP spid="20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28A79B-A5C9-E8E0-A29A-C882E6647C68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F57C00"/>
                </a:solidFill>
                <a:latin typeface="Segoe UI" panose="020B0502040204020203" pitchFamily="34" charset="0"/>
              </a:rPr>
              <a:t>THE PYRAMID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DDE2CA-F3D1-40CB-D1C2-5941D8A24F99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800" b="1">
                <a:solidFill>
                  <a:srgbClr val="1C1C1C"/>
                </a:solidFill>
                <a:latin typeface="Segoe UI" panose="020B0502040204020203" pitchFamily="34" charset="0"/>
              </a:rPr>
              <a:t>Everything that follows defends three claims.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A89C76B-8862-FA67-D4F0-FB79170E6BBF}"/>
              </a:ext>
            </a:extLst>
          </p:cNvPr>
          <p:cNvSpPr/>
          <p:nvPr/>
        </p:nvSpPr>
        <p:spPr>
          <a:xfrm>
            <a:off x="914400" y="2794000"/>
            <a:ext cx="3200400" cy="29210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EE99E3-BAA5-8562-C6F3-8F3DE908848E}"/>
              </a:ext>
            </a:extLst>
          </p:cNvPr>
          <p:cNvSpPr/>
          <p:nvPr/>
        </p:nvSpPr>
        <p:spPr>
          <a:xfrm>
            <a:off x="914400" y="2794000"/>
            <a:ext cx="3200400" cy="101600"/>
          </a:xfrm>
          <a:prstGeom prst="rect">
            <a:avLst/>
          </a:prstGeom>
          <a:solidFill>
            <a:srgbClr val="0288D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5DF7EB-A223-E5A3-0B85-E0C6D364AF23}"/>
              </a:ext>
            </a:extLst>
          </p:cNvPr>
          <p:cNvSpPr txBox="1"/>
          <p:nvPr/>
        </p:nvSpPr>
        <p:spPr>
          <a:xfrm>
            <a:off x="1143000" y="3048000"/>
            <a:ext cx="274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3000" b="1">
                <a:solidFill>
                  <a:srgbClr val="0288D1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D3C46A-7767-8E46-D81B-8675574D3C3D}"/>
              </a:ext>
            </a:extLst>
          </p:cNvPr>
          <p:cNvSpPr txBox="1"/>
          <p:nvPr/>
        </p:nvSpPr>
        <p:spPr>
          <a:xfrm>
            <a:off x="1143000" y="3759200"/>
            <a:ext cx="274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900" b="1">
                <a:solidFill>
                  <a:srgbClr val="1C1C1C"/>
                </a:solidFill>
                <a:latin typeface="Segoe UI" panose="020B0502040204020203" pitchFamily="34" charset="0"/>
              </a:rPr>
              <a:t>Zonal Autonomy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9C2D25-88A9-12E9-F481-449D6AAFA220}"/>
              </a:ext>
            </a:extLst>
          </p:cNvPr>
          <p:cNvSpPr txBox="1"/>
          <p:nvPr/>
        </p:nvSpPr>
        <p:spPr>
          <a:xfrm>
            <a:off x="1143000" y="4572000"/>
            <a:ext cx="274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>
                <a:solidFill>
                  <a:srgbClr val="606060"/>
                </a:solidFill>
                <a:latin typeface="Segoe UI" panose="020B0502040204020203" pitchFamily="34" charset="0"/>
              </a:rPr>
              <a:t>Per-room detection + isolation, independent of the broker.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E9B432C-20A8-61B9-0FD1-5AB63A479635}"/>
              </a:ext>
            </a:extLst>
          </p:cNvPr>
          <p:cNvSpPr/>
          <p:nvPr/>
        </p:nvSpPr>
        <p:spPr>
          <a:xfrm>
            <a:off x="4495800" y="2794000"/>
            <a:ext cx="3200400" cy="29210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AB9B38-6178-7DCC-5EC0-8BE04091B85D}"/>
              </a:ext>
            </a:extLst>
          </p:cNvPr>
          <p:cNvSpPr/>
          <p:nvPr/>
        </p:nvSpPr>
        <p:spPr>
          <a:xfrm>
            <a:off x="4495800" y="2794000"/>
            <a:ext cx="3200400" cy="101600"/>
          </a:xfrm>
          <a:prstGeom prst="rect">
            <a:avLst/>
          </a:prstGeom>
          <a:solidFill>
            <a:srgbClr val="F57C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0F87E1-8EBF-6DBF-EC6F-15731679C585}"/>
              </a:ext>
            </a:extLst>
          </p:cNvPr>
          <p:cNvSpPr txBox="1"/>
          <p:nvPr/>
        </p:nvSpPr>
        <p:spPr>
          <a:xfrm>
            <a:off x="4724400" y="3048000"/>
            <a:ext cx="274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3000" b="1">
                <a:solidFill>
                  <a:srgbClr val="F57C00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24EEE7-F7D1-1944-80E9-490ED856CE1B}"/>
              </a:ext>
            </a:extLst>
          </p:cNvPr>
          <p:cNvSpPr txBox="1"/>
          <p:nvPr/>
        </p:nvSpPr>
        <p:spPr>
          <a:xfrm>
            <a:off x="4724400" y="3759200"/>
            <a:ext cx="274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900" b="1">
                <a:solidFill>
                  <a:srgbClr val="1C1C1C"/>
                </a:solidFill>
                <a:latin typeface="Segoe UI" panose="020B0502040204020203" pitchFamily="34" charset="0"/>
              </a:rPr>
              <a:t>AI-Confirmed Perception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00135-1D06-BFE4-353D-92404525AAF2}"/>
              </a:ext>
            </a:extLst>
          </p:cNvPr>
          <p:cNvSpPr txBox="1"/>
          <p:nvPr/>
        </p:nvSpPr>
        <p:spPr>
          <a:xfrm>
            <a:off x="4724400" y="4572000"/>
            <a:ext cx="274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>
                <a:solidFill>
                  <a:srgbClr val="606060"/>
                </a:solidFill>
                <a:latin typeface="Segoe UI" panose="020B0502040204020203" pitchFamily="34" charset="0"/>
              </a:rPr>
              <a:t>Vision + multi-sensor fusion cuts false alarms and misses.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1EF9B77-19E9-93C5-9333-821451765F11}"/>
              </a:ext>
            </a:extLst>
          </p:cNvPr>
          <p:cNvSpPr/>
          <p:nvPr/>
        </p:nvSpPr>
        <p:spPr>
          <a:xfrm>
            <a:off x="8077200" y="2794000"/>
            <a:ext cx="3200400" cy="29210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5E9D5-0D01-FD11-579D-722B5DF24C4D}"/>
              </a:ext>
            </a:extLst>
          </p:cNvPr>
          <p:cNvSpPr/>
          <p:nvPr/>
        </p:nvSpPr>
        <p:spPr>
          <a:xfrm>
            <a:off x="8077200" y="2794000"/>
            <a:ext cx="3200400" cy="101600"/>
          </a:xfrm>
          <a:prstGeom prst="rect">
            <a:avLst/>
          </a:prstGeom>
          <a:solidFill>
            <a:srgbClr val="D3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02144B-4834-1853-FA4D-9D9CB8FA99C4}"/>
              </a:ext>
            </a:extLst>
          </p:cNvPr>
          <p:cNvSpPr txBox="1"/>
          <p:nvPr/>
        </p:nvSpPr>
        <p:spPr>
          <a:xfrm>
            <a:off x="8305800" y="3048000"/>
            <a:ext cx="274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3000" b="1">
                <a:solidFill>
                  <a:srgbClr val="D32F2F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5067AD-1CFB-872F-A726-1FCD21D2C12A}"/>
              </a:ext>
            </a:extLst>
          </p:cNvPr>
          <p:cNvSpPr txBox="1"/>
          <p:nvPr/>
        </p:nvSpPr>
        <p:spPr>
          <a:xfrm>
            <a:off x="8305800" y="3759200"/>
            <a:ext cx="274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900" b="1">
                <a:solidFill>
                  <a:srgbClr val="1C1C1C"/>
                </a:solidFill>
                <a:latin typeface="Segoe UI" panose="020B0502040204020203" pitchFamily="34" charset="0"/>
              </a:rPr>
              <a:t>Engineered Reliability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00423F-BC65-69D8-0B14-C024F2893F6D}"/>
              </a:ext>
            </a:extLst>
          </p:cNvPr>
          <p:cNvSpPr txBox="1"/>
          <p:nvPr/>
        </p:nvSpPr>
        <p:spPr>
          <a:xfrm>
            <a:off x="8305800" y="4572000"/>
            <a:ext cx="274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>
                <a:solidFill>
                  <a:srgbClr val="606060"/>
                </a:solidFill>
                <a:latin typeface="Segoe UI" panose="020B0502040204020203" pitchFamily="34" charset="0"/>
              </a:rPr>
              <a:t>Fail-operational, power-budgeted, edge-cached actuation.</a:t>
            </a:r>
          </a:p>
        </p:txBody>
      </p:sp>
    </p:spTree>
    <p:extLst>
      <p:ext uri="{BB962C8B-B14F-4D97-AF65-F5344CB8AC3E}">
        <p14:creationId xmlns:p14="http://schemas.microsoft.com/office/powerpoint/2010/main" val="3963179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/>
      </p:transition>
    </mc:Choice>
    <mc:Fallback xmlns="">
      <p:transition spd="med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900" fill="hold"/>
                                        <p:tgtEl>
                                          <p:spTgt spid="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99820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90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996399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900" fill="hold"/>
                                        <p:tgtEl>
                                          <p:spTgt spid="1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9" grpId="0" animBg="1"/>
      <p:bldP spid="12" grpId="0"/>
      <p:bldP spid="14" grpId="0" animBg="1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475986-B0B5-596D-5AE2-7E491C050DEC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F57C00"/>
                </a:solidFill>
                <a:latin typeface="Segoe UI" panose="020B0502040204020203" pitchFamily="34" charset="0"/>
              </a:rPr>
              <a:t>THE NUMBERS WE'LL PROVE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245CC4-B0DA-3AFF-126F-9F4AD9EE6070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400" b="1">
                <a:solidFill>
                  <a:srgbClr val="1C1C1C"/>
                </a:solidFill>
                <a:latin typeface="Segoe UI" panose="020B0502040204020203" pitchFamily="34" charset="0"/>
              </a:rPr>
              <a:t>Hero metrics — measured on the deployment rig.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E5E899-0AD8-3241-1A98-C419FDD2CA9B}"/>
              </a:ext>
            </a:extLst>
          </p:cNvPr>
          <p:cNvSpPr/>
          <p:nvPr/>
        </p:nvSpPr>
        <p:spPr>
          <a:xfrm>
            <a:off x="914400" y="2667000"/>
            <a:ext cx="3217333" cy="15748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119E57-CA6A-1116-46F0-F26298538D8A}"/>
              </a:ext>
            </a:extLst>
          </p:cNvPr>
          <p:cNvSpPr txBox="1"/>
          <p:nvPr/>
        </p:nvSpPr>
        <p:spPr>
          <a:xfrm>
            <a:off x="1041400" y="2844800"/>
            <a:ext cx="2963333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3000" b="1">
                <a:solidFill>
                  <a:srgbClr val="F57C00"/>
                </a:solidFill>
                <a:latin typeface="Segoe UI" panose="020B0502040204020203" pitchFamily="34" charset="0"/>
              </a:rPr>
              <a:t>23 / 7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0AC136B-A589-D046-6BD3-90750F03CAB8}"/>
              </a:ext>
            </a:extLst>
          </p:cNvPr>
          <p:cNvCxnSpPr/>
          <p:nvPr/>
        </p:nvCxnSpPr>
        <p:spPr>
          <a:xfrm>
            <a:off x="2294467" y="3683000"/>
            <a:ext cx="457200" cy="0"/>
          </a:xfrm>
          <a:prstGeom prst="line">
            <a:avLst/>
          </a:prstGeom>
          <a:ln w="254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538425B-9CBD-0E6C-4434-B599DE82E62B}"/>
              </a:ext>
            </a:extLst>
          </p:cNvPr>
          <p:cNvSpPr txBox="1"/>
          <p:nvPr/>
        </p:nvSpPr>
        <p:spPr>
          <a:xfrm>
            <a:off x="1041400" y="3784600"/>
            <a:ext cx="2963333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>
                <a:solidFill>
                  <a:srgbClr val="606060"/>
                </a:solidFill>
                <a:latin typeface="Segoe UI" panose="020B0502040204020203" pitchFamily="34" charset="0"/>
              </a:rPr>
              <a:t>FPS  GPU(RTX 3050) / CPU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E8CBA37-BD0B-893B-E540-7E29873B1130}"/>
              </a:ext>
            </a:extLst>
          </p:cNvPr>
          <p:cNvSpPr/>
          <p:nvPr/>
        </p:nvSpPr>
        <p:spPr>
          <a:xfrm>
            <a:off x="4487333" y="2667000"/>
            <a:ext cx="3217334" cy="15748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909127-59B5-B91E-F8B2-7058385A43DB}"/>
              </a:ext>
            </a:extLst>
          </p:cNvPr>
          <p:cNvSpPr txBox="1"/>
          <p:nvPr/>
        </p:nvSpPr>
        <p:spPr>
          <a:xfrm>
            <a:off x="4614333" y="2844800"/>
            <a:ext cx="2963333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3000" b="1">
                <a:solidFill>
                  <a:srgbClr val="0288D1"/>
                </a:solidFill>
                <a:latin typeface="Segoe UI" panose="020B0502040204020203" pitchFamily="34" charset="0"/>
              </a:rPr>
              <a:t>4 / 9 / 4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36B553-B291-8397-3C2B-C4D9D0F705E1}"/>
              </a:ext>
            </a:extLst>
          </p:cNvPr>
          <p:cNvCxnSpPr/>
          <p:nvPr/>
        </p:nvCxnSpPr>
        <p:spPr>
          <a:xfrm>
            <a:off x="5867400" y="3683000"/>
            <a:ext cx="457200" cy="0"/>
          </a:xfrm>
          <a:prstGeom prst="line">
            <a:avLst/>
          </a:prstGeom>
          <a:ln w="25400">
            <a:solidFill>
              <a:srgbClr val="0288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F62460F-4909-4B7C-670B-3C7B4861C361}"/>
              </a:ext>
            </a:extLst>
          </p:cNvPr>
          <p:cNvSpPr txBox="1"/>
          <p:nvPr/>
        </p:nvSpPr>
        <p:spPr>
          <a:xfrm>
            <a:off x="4614333" y="3784600"/>
            <a:ext cx="2963333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>
                <a:solidFill>
                  <a:srgbClr val="606060"/>
                </a:solidFill>
                <a:latin typeface="Segoe UI" panose="020B0502040204020203" pitchFamily="34" charset="0"/>
              </a:rPr>
              <a:t>Rooms / Servos / Pumps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495D565-6BB1-A87D-0B01-20364C71BF05}"/>
              </a:ext>
            </a:extLst>
          </p:cNvPr>
          <p:cNvSpPr/>
          <p:nvPr/>
        </p:nvSpPr>
        <p:spPr>
          <a:xfrm>
            <a:off x="8060267" y="2667000"/>
            <a:ext cx="3217333" cy="15748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ECC6D4-96EB-5675-1E0B-A8EC1A6D240C}"/>
              </a:ext>
            </a:extLst>
          </p:cNvPr>
          <p:cNvSpPr txBox="1"/>
          <p:nvPr/>
        </p:nvSpPr>
        <p:spPr>
          <a:xfrm>
            <a:off x="8187267" y="2844800"/>
            <a:ext cx="2963333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3000" b="1">
                <a:solidFill>
                  <a:srgbClr val="0288D1"/>
                </a:solidFill>
                <a:latin typeface="Segoe UI" panose="020B0502040204020203" pitchFamily="34" charset="0"/>
              </a:rPr>
              <a:t>~4.1 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A1A2716-613A-56A5-4A69-21828A87409A}"/>
              </a:ext>
            </a:extLst>
          </p:cNvPr>
          <p:cNvCxnSpPr/>
          <p:nvPr/>
        </p:nvCxnSpPr>
        <p:spPr>
          <a:xfrm>
            <a:off x="9440333" y="3683000"/>
            <a:ext cx="457200" cy="0"/>
          </a:xfrm>
          <a:prstGeom prst="line">
            <a:avLst/>
          </a:prstGeom>
          <a:ln w="25400">
            <a:solidFill>
              <a:srgbClr val="0288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F91306E-4E2E-98ED-654E-66A1F482BB20}"/>
              </a:ext>
            </a:extLst>
          </p:cNvPr>
          <p:cNvSpPr txBox="1"/>
          <p:nvPr/>
        </p:nvSpPr>
        <p:spPr>
          <a:xfrm>
            <a:off x="8187267" y="3784600"/>
            <a:ext cx="2963333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>
                <a:solidFill>
                  <a:srgbClr val="606060"/>
                </a:solidFill>
                <a:latin typeface="Segoe UI" panose="020B0502040204020203" pitchFamily="34" charset="0"/>
              </a:rPr>
              <a:t>peak on 5V·5A  (20% margin)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8D04F15-47C4-0270-1963-A1B3C20E5DD0}"/>
              </a:ext>
            </a:extLst>
          </p:cNvPr>
          <p:cNvSpPr/>
          <p:nvPr/>
        </p:nvSpPr>
        <p:spPr>
          <a:xfrm>
            <a:off x="914400" y="4546600"/>
            <a:ext cx="3217333" cy="15748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84A6DA-F1D6-CB56-08E9-39E4B9CD1C4F}"/>
              </a:ext>
            </a:extLst>
          </p:cNvPr>
          <p:cNvSpPr txBox="1"/>
          <p:nvPr/>
        </p:nvSpPr>
        <p:spPr>
          <a:xfrm>
            <a:off x="1041400" y="4724400"/>
            <a:ext cx="2963333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3000" b="1">
                <a:solidFill>
                  <a:srgbClr val="D32F2F"/>
                </a:solidFill>
                <a:latin typeface="Segoe UI" panose="020B0502040204020203" pitchFamily="34" charset="0"/>
              </a:rPr>
              <a:t>1 cycle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7032E3C-5FFA-9291-3E42-5DEBC343F101}"/>
              </a:ext>
            </a:extLst>
          </p:cNvPr>
          <p:cNvCxnSpPr/>
          <p:nvPr/>
        </p:nvCxnSpPr>
        <p:spPr>
          <a:xfrm>
            <a:off x="2294467" y="5562600"/>
            <a:ext cx="457200" cy="0"/>
          </a:xfrm>
          <a:prstGeom prst="line">
            <a:avLst/>
          </a:prstGeom>
          <a:ln w="2540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1B13B61-DBAD-CC90-6382-AD04740C1E49}"/>
              </a:ext>
            </a:extLst>
          </p:cNvPr>
          <p:cNvSpPr txBox="1"/>
          <p:nvPr/>
        </p:nvSpPr>
        <p:spPr>
          <a:xfrm>
            <a:off x="1041400" y="5664200"/>
            <a:ext cx="2963333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>
                <a:solidFill>
                  <a:srgbClr val="606060"/>
                </a:solidFill>
                <a:latin typeface="Segoe UI" panose="020B0502040204020203" pitchFamily="34" charset="0"/>
              </a:rPr>
              <a:t>edge isolation latency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165B8F7-3A35-30C6-437F-0D154765AADC}"/>
              </a:ext>
            </a:extLst>
          </p:cNvPr>
          <p:cNvSpPr/>
          <p:nvPr/>
        </p:nvSpPr>
        <p:spPr>
          <a:xfrm>
            <a:off x="4487333" y="4546600"/>
            <a:ext cx="3217334" cy="15748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4C1436-F858-373C-E3FE-21412D638A66}"/>
              </a:ext>
            </a:extLst>
          </p:cNvPr>
          <p:cNvSpPr txBox="1"/>
          <p:nvPr/>
        </p:nvSpPr>
        <p:spPr>
          <a:xfrm>
            <a:off x="4614333" y="4724400"/>
            <a:ext cx="2963333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3000" b="1">
                <a:solidFill>
                  <a:srgbClr val="F57C00"/>
                </a:solidFill>
                <a:latin typeface="Segoe UI" panose="020B0502040204020203" pitchFamily="34" charset="0"/>
              </a:rPr>
              <a:t>Visual
ground-truth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B0591A7-9663-9B49-2E87-A6F612B9B9A7}"/>
              </a:ext>
            </a:extLst>
          </p:cNvPr>
          <p:cNvCxnSpPr/>
          <p:nvPr/>
        </p:nvCxnSpPr>
        <p:spPr>
          <a:xfrm>
            <a:off x="5867400" y="5562600"/>
            <a:ext cx="457200" cy="0"/>
          </a:xfrm>
          <a:prstGeom prst="line">
            <a:avLst/>
          </a:prstGeom>
          <a:ln w="254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AD6401F-CF2B-EC24-6C56-427D9E114084}"/>
              </a:ext>
            </a:extLst>
          </p:cNvPr>
          <p:cNvSpPr txBox="1"/>
          <p:nvPr/>
        </p:nvSpPr>
        <p:spPr>
          <a:xfrm>
            <a:off x="4614333" y="5664200"/>
            <a:ext cx="2963333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fr-FR" sz="1200">
                <a:solidFill>
                  <a:srgbClr val="606060"/>
                </a:solidFill>
                <a:latin typeface="Segoe UI" panose="020B0502040204020203" pitchFamily="34" charset="0"/>
              </a:rPr>
              <a:t>image + metrics ≤ 1 alert cycle</a:t>
            </a:r>
            <a:endParaRPr lang="en-US" sz="1200">
              <a:solidFill>
                <a:srgbClr val="606060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54A9F7B-58FD-56FC-EDCB-597E3B0642B2}"/>
              </a:ext>
            </a:extLst>
          </p:cNvPr>
          <p:cNvSpPr/>
          <p:nvPr/>
        </p:nvSpPr>
        <p:spPr>
          <a:xfrm>
            <a:off x="8060267" y="4546600"/>
            <a:ext cx="3217333" cy="15748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6FF6FC-699E-3957-6B67-E9B64245AB26}"/>
              </a:ext>
            </a:extLst>
          </p:cNvPr>
          <p:cNvSpPr txBox="1"/>
          <p:nvPr/>
        </p:nvSpPr>
        <p:spPr>
          <a:xfrm>
            <a:off x="8187267" y="4724400"/>
            <a:ext cx="2963333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3000" b="1">
                <a:solidFill>
                  <a:srgbClr val="606060"/>
                </a:solidFill>
                <a:latin typeface="Segoe UI" panose="020B0502040204020203" pitchFamily="34" charset="0"/>
              </a:rPr>
              <a:t>ADC 2000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F4EB1CA-0B5F-1078-433E-4EFEDDD648DA}"/>
              </a:ext>
            </a:extLst>
          </p:cNvPr>
          <p:cNvCxnSpPr/>
          <p:nvPr/>
        </p:nvCxnSpPr>
        <p:spPr>
          <a:xfrm>
            <a:off x="9440333" y="5562600"/>
            <a:ext cx="457200" cy="0"/>
          </a:xfrm>
          <a:prstGeom prst="line">
            <a:avLst/>
          </a:prstGeom>
          <a:ln w="25400">
            <a:solidFill>
              <a:srgbClr val="606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EBEE8C3-A827-32F1-2EB1-C00D0830A3D8}"/>
              </a:ext>
            </a:extLst>
          </p:cNvPr>
          <p:cNvSpPr txBox="1"/>
          <p:nvPr/>
        </p:nvSpPr>
        <p:spPr>
          <a:xfrm>
            <a:off x="8187267" y="5664200"/>
            <a:ext cx="2963333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>
                <a:solidFill>
                  <a:srgbClr val="606060"/>
                </a:solidFill>
                <a:latin typeface="Segoe UI" panose="020B0502040204020203" pitchFamily="34" charset="0"/>
              </a:rPr>
              <a:t>gas threshold (mid of 0–4095)</a:t>
            </a:r>
          </a:p>
        </p:txBody>
      </p:sp>
    </p:spTree>
    <p:extLst>
      <p:ext uri="{BB962C8B-B14F-4D97-AF65-F5344CB8AC3E}">
        <p14:creationId xmlns:p14="http://schemas.microsoft.com/office/powerpoint/2010/main" val="1003515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repeatCount="9999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9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998200"/>
                            </p:stCondLst>
                            <p:childTnLst>
                              <p:par>
                                <p:cTn id="12" presetID="23" presetClass="entr" presetSubtype="16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998600"/>
                            </p:stCondLst>
                            <p:childTnLst>
                              <p:par>
                                <p:cTn id="17" presetID="23" presetClass="entr" presetSubtype="16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999000"/>
                            </p:stCondLst>
                            <p:childTnLst>
                              <p:par>
                                <p:cTn id="22" presetID="23" presetClass="entr" presetSubtype="16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999400"/>
                            </p:stCondLst>
                            <p:childTnLst>
                              <p:par>
                                <p:cTn id="27" presetID="23" presetClass="entr" presetSubtype="16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6" presetClass="emph" presetSubtype="0" repeatCount="9999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900" fill="hold"/>
                                        <p:tgtEl>
                                          <p:spTgt spid="2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997599"/>
                            </p:stCondLst>
                            <p:childTnLst>
                              <p:par>
                                <p:cTn id="34" presetID="23" presetClass="entr" presetSubtype="16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8" grpId="0" animBg="1"/>
      <p:bldP spid="12" grpId="0" animBg="1"/>
      <p:bldP spid="16" grpId="0" animBg="1"/>
      <p:bldP spid="20" grpId="0" animBg="1"/>
      <p:bldP spid="20" grpId="1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A34A6E-4058-DFA3-20DA-F5EBDB5C5430}"/>
              </a:ext>
            </a:extLst>
          </p:cNvPr>
          <p:cNvSpPr txBox="1"/>
          <p:nvPr/>
        </p:nvSpPr>
        <p:spPr>
          <a:xfrm>
            <a:off x="838200" y="1905000"/>
            <a:ext cx="457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0000" b="1">
                <a:solidFill>
                  <a:srgbClr val="EDEDED"/>
                </a:solidFill>
                <a:latin typeface="Segoe UI" panose="020B0502040204020203" pitchFamily="34" charset="0"/>
              </a:rPr>
              <a:t>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BD7548-01FA-4242-20CD-E7F71F8ABAB2}"/>
              </a:ext>
            </a:extLst>
          </p:cNvPr>
          <p:cNvSpPr txBox="1"/>
          <p:nvPr/>
        </p:nvSpPr>
        <p:spPr>
          <a:xfrm>
            <a:off x="914400" y="21590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0288D1"/>
                </a:solidFill>
                <a:latin typeface="Segoe UI" panose="020B0502040204020203" pitchFamily="34" charset="0"/>
              </a:rPr>
              <a:t>PILLAR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C6AA64-78CB-7D8D-5C2F-A11785852631}"/>
              </a:ext>
            </a:extLst>
          </p:cNvPr>
          <p:cNvSpPr txBox="1"/>
          <p:nvPr/>
        </p:nvSpPr>
        <p:spPr>
          <a:xfrm>
            <a:off x="914400" y="2489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5200" b="1">
                <a:solidFill>
                  <a:srgbClr val="1C1C1C"/>
                </a:solidFill>
                <a:latin typeface="Segoe UI" panose="020B0502040204020203" pitchFamily="34" charset="0"/>
              </a:rPr>
              <a:t>Zonal Autonomy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ECF620-27E4-DD39-6591-8D6DABFF2D4E}"/>
              </a:ext>
            </a:extLst>
          </p:cNvPr>
          <p:cNvCxnSpPr/>
          <p:nvPr/>
        </p:nvCxnSpPr>
        <p:spPr>
          <a:xfrm>
            <a:off x="914400" y="3556000"/>
            <a:ext cx="1524000" cy="0"/>
          </a:xfrm>
          <a:prstGeom prst="line">
            <a:avLst/>
          </a:prstGeom>
          <a:ln w="38100">
            <a:solidFill>
              <a:srgbClr val="0288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2A42A1A-5859-468E-8E82-15014248B5FD}"/>
              </a:ext>
            </a:extLst>
          </p:cNvPr>
          <p:cNvSpPr txBox="1"/>
          <p:nvPr/>
        </p:nvSpPr>
        <p:spPr>
          <a:xfrm>
            <a:off x="914400" y="3810000"/>
            <a:ext cx="965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000">
                <a:solidFill>
                  <a:srgbClr val="606060"/>
                </a:solidFill>
                <a:latin typeface="Segoe UI" panose="020B0502040204020203" pitchFamily="34" charset="0"/>
              </a:rPr>
              <a:t>Each room detects and suppresses for itself — independent of the network.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5F23B9A-6681-9C27-E40B-4F49D3DD087D}"/>
              </a:ext>
            </a:extLst>
          </p:cNvPr>
          <p:cNvSpPr/>
          <p:nvPr/>
        </p:nvSpPr>
        <p:spPr>
          <a:xfrm>
            <a:off x="10287000" y="1143000"/>
            <a:ext cx="685800" cy="685800"/>
          </a:xfrm>
          <a:prstGeom prst="ellipse">
            <a:avLst/>
          </a:prstGeom>
          <a:noFill/>
          <a:ln w="31750" cap="flat" cmpd="sng" algn="ctr">
            <a:solidFill>
              <a:srgbClr val="0288D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97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push dir="u"/>
      </p:transition>
    </mc:Choice>
    <mc:Fallback xmlns=""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900" fill="hold"/>
                                        <p:tgtEl>
                                          <p:spTgt spid="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5F5B20-1C50-029A-3E8C-86AA0749AB6D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0288D1"/>
                </a:solidFill>
                <a:latin typeface="Segoe UI" panose="020B0502040204020203" pitchFamily="34" charset="0"/>
              </a:rPr>
              <a:t>SYSTEM AT A GLANCE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6EB602-3C50-DE11-4A9D-9C9B7FBF7CE9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300" b="1">
                <a:solidFill>
                  <a:srgbClr val="1C1C1C"/>
                </a:solidFill>
                <a:latin typeface="Segoe UI" panose="020B0502040204020203" pitchFamily="34" charset="0"/>
              </a:rPr>
              <a:t>The architecture in one view: two decoupled tiers, one broker.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06DB136-B690-C9ED-A7DF-ECF042567506}"/>
              </a:ext>
            </a:extLst>
          </p:cNvPr>
          <p:cNvSpPr/>
          <p:nvPr/>
        </p:nvSpPr>
        <p:spPr>
          <a:xfrm>
            <a:off x="914400" y="2667000"/>
            <a:ext cx="3175000" cy="1905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0288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17C249-0DE1-48F5-889C-ACB8B1B32AD4}"/>
              </a:ext>
            </a:extLst>
          </p:cNvPr>
          <p:cNvSpPr txBox="1"/>
          <p:nvPr/>
        </p:nvSpPr>
        <p:spPr>
          <a:xfrm>
            <a:off x="1092200" y="2794000"/>
            <a:ext cx="28194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500" b="1">
                <a:solidFill>
                  <a:srgbClr val="0288D1"/>
                </a:solidFill>
                <a:latin typeface="Segoe UI" panose="020B0502040204020203" pitchFamily="34" charset="0"/>
              </a:rPr>
              <a:t>EDGE CONTROL TIER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55FDEB-879C-EB38-F678-C3D4E5A29BBD}"/>
              </a:ext>
            </a:extLst>
          </p:cNvPr>
          <p:cNvSpPr txBox="1"/>
          <p:nvPr/>
        </p:nvSpPr>
        <p:spPr>
          <a:xfrm>
            <a:off x="1092200" y="3149600"/>
            <a:ext cx="28194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ESP32-WROOM-32DA
Level-driven loop
9 servos · 4 pumps
Local fire predicate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3044D5-BCF9-F319-FB0D-FEF65727C0D7}"/>
              </a:ext>
            </a:extLst>
          </p:cNvPr>
          <p:cNvSpPr/>
          <p:nvPr/>
        </p:nvSpPr>
        <p:spPr>
          <a:xfrm>
            <a:off x="5080000" y="3175000"/>
            <a:ext cx="2032000" cy="10922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606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BFB521-8215-2018-663F-D6825C27A43F}"/>
              </a:ext>
            </a:extLst>
          </p:cNvPr>
          <p:cNvSpPr txBox="1"/>
          <p:nvPr/>
        </p:nvSpPr>
        <p:spPr>
          <a:xfrm>
            <a:off x="5080000" y="3327400"/>
            <a:ext cx="2032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400">
                <a:solidFill>
                  <a:srgbClr val="606060"/>
                </a:solidFill>
                <a:latin typeface="Segoe UI" panose="020B0502040204020203" pitchFamily="34" charset="0"/>
              </a:rPr>
              <a:t>Mosquitto
MQTT 1883
v3.1.1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4C34DB4-EC93-19D5-9382-5A0AC4484CAB}"/>
              </a:ext>
            </a:extLst>
          </p:cNvPr>
          <p:cNvSpPr/>
          <p:nvPr/>
        </p:nvSpPr>
        <p:spPr>
          <a:xfrm>
            <a:off x="8102600" y="2667000"/>
            <a:ext cx="3175000" cy="1905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F57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C7DF3C-2AFD-1660-517F-3126EDC7C6CC}"/>
              </a:ext>
            </a:extLst>
          </p:cNvPr>
          <p:cNvSpPr txBox="1"/>
          <p:nvPr/>
        </p:nvSpPr>
        <p:spPr>
          <a:xfrm>
            <a:off x="8280400" y="2794000"/>
            <a:ext cx="28194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500" b="1">
                <a:solidFill>
                  <a:srgbClr val="F57C00"/>
                </a:solidFill>
                <a:latin typeface="Segoe UI" panose="020B0502040204020203" pitchFamily="34" charset="0"/>
              </a:rPr>
              <a:t>AI PERCEPTION TIER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94EBA9-5BEC-D922-6E02-625AB7A98A37}"/>
              </a:ext>
            </a:extLst>
          </p:cNvPr>
          <p:cNvSpPr txBox="1"/>
          <p:nvPr/>
        </p:nvSpPr>
        <p:spPr>
          <a:xfrm>
            <a:off x="8280400" y="3149600"/>
            <a:ext cx="28194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YOLOv11 · CUDA FP16
Sensor/vision fusion
Occupancy tracking
Telegram alerting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4882D9E-40FB-46D3-4101-4D2F1D631259}"/>
              </a:ext>
            </a:extLst>
          </p:cNvPr>
          <p:cNvSpPr/>
          <p:nvPr/>
        </p:nvSpPr>
        <p:spPr>
          <a:xfrm>
            <a:off x="914400" y="5080000"/>
            <a:ext cx="3175000" cy="635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0288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7528D5-501B-FFE5-5554-2512D26C8F0D}"/>
              </a:ext>
            </a:extLst>
          </p:cNvPr>
          <p:cNvSpPr txBox="1"/>
          <p:nvPr/>
        </p:nvSpPr>
        <p:spPr>
          <a:xfrm>
            <a:off x="914400" y="5181600"/>
            <a:ext cx="3175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400">
                <a:solidFill>
                  <a:srgbClr val="0288D1"/>
                </a:solidFill>
                <a:latin typeface="Segoe UI" panose="020B0502040204020203" pitchFamily="34" charset="0"/>
              </a:rPr>
              <a:t>Node-RED Control Room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6CDB8DE-A1D2-CB43-9829-B58E149F52DD}"/>
              </a:ext>
            </a:extLst>
          </p:cNvPr>
          <p:cNvSpPr/>
          <p:nvPr/>
        </p:nvSpPr>
        <p:spPr>
          <a:xfrm>
            <a:off x="8102600" y="5080000"/>
            <a:ext cx="3175000" cy="635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D32F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15E0EF-8E47-1C8E-34C0-4C5F2BFFBF2A}"/>
              </a:ext>
            </a:extLst>
          </p:cNvPr>
          <p:cNvSpPr txBox="1"/>
          <p:nvPr/>
        </p:nvSpPr>
        <p:spPr>
          <a:xfrm>
            <a:off x="8102600" y="5181600"/>
            <a:ext cx="3175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400">
                <a:solidFill>
                  <a:srgbClr val="D32F2F"/>
                </a:solidFill>
                <a:latin typeface="Segoe UI" panose="020B0502040204020203" pitchFamily="34" charset="0"/>
              </a:rPr>
              <a:t>Telegram · sffs_bot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3522A4C-C50A-7C99-F5C2-290C5F5F1CE8}"/>
              </a:ext>
            </a:extLst>
          </p:cNvPr>
          <p:cNvSpPr/>
          <p:nvPr/>
        </p:nvSpPr>
        <p:spPr>
          <a:xfrm>
            <a:off x="3581400" y="3632200"/>
            <a:ext cx="1905000" cy="279400"/>
          </a:xfrm>
          <a:prstGeom prst="rightArrow">
            <a:avLst/>
          </a:prstGeom>
          <a:solidFill>
            <a:srgbClr val="0288D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3F07013-3884-B619-5BE6-15332B5CF1C8}"/>
              </a:ext>
            </a:extLst>
          </p:cNvPr>
          <p:cNvSpPr/>
          <p:nvPr/>
        </p:nvSpPr>
        <p:spPr>
          <a:xfrm>
            <a:off x="7162800" y="3632200"/>
            <a:ext cx="1905000" cy="279400"/>
          </a:xfrm>
          <a:prstGeom prst="rightArrow">
            <a:avLst/>
          </a:prstGeom>
          <a:solidFill>
            <a:srgbClr val="F57C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EF598D-927F-0926-AD23-DF060CF40844}"/>
              </a:ext>
            </a:extLst>
          </p:cNvPr>
          <p:cNvSpPr txBox="1"/>
          <p:nvPr/>
        </p:nvSpPr>
        <p:spPr>
          <a:xfrm>
            <a:off x="3581400" y="3327400"/>
            <a:ext cx="1905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000">
                <a:solidFill>
                  <a:srgbClr val="606060"/>
                </a:solidFill>
                <a:latin typeface="Segoe UI" panose="020B0502040204020203" pitchFamily="34" charset="0"/>
              </a:rPr>
              <a:t>telemetry (2s)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12A3EC-419A-F1C3-D4AA-6AEACF8900E3}"/>
              </a:ext>
            </a:extLst>
          </p:cNvPr>
          <p:cNvSpPr txBox="1"/>
          <p:nvPr/>
        </p:nvSpPr>
        <p:spPr>
          <a:xfrm>
            <a:off x="7162800" y="3327400"/>
            <a:ext cx="1905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000">
                <a:solidFill>
                  <a:srgbClr val="606060"/>
                </a:solidFill>
                <a:latin typeface="Segoe UI" panose="020B0502040204020203" pitchFamily="34" charset="0"/>
              </a:rPr>
              <a:t>command (retain)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DC9AFB7-FBC7-7B24-C4F4-7A950F53E45E}"/>
              </a:ext>
            </a:extLst>
          </p:cNvPr>
          <p:cNvCxnSpPr/>
          <p:nvPr/>
        </p:nvCxnSpPr>
        <p:spPr>
          <a:xfrm>
            <a:off x="9690100" y="4572000"/>
            <a:ext cx="0" cy="482600"/>
          </a:xfrm>
          <a:prstGeom prst="line">
            <a:avLst/>
          </a:prstGeom>
          <a:ln w="38100">
            <a:solidFill>
              <a:srgbClr val="F57C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385932A-D82E-F5B4-E588-4A26F9EE0CAA}"/>
              </a:ext>
            </a:extLst>
          </p:cNvPr>
          <p:cNvSpPr txBox="1"/>
          <p:nvPr/>
        </p:nvSpPr>
        <p:spPr>
          <a:xfrm>
            <a:off x="6705600" y="4648200"/>
            <a:ext cx="29464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r"/>
            <a:r>
              <a:rPr lang="en-US" sz="1100" b="1">
                <a:solidFill>
                  <a:srgbClr val="F57C00"/>
                </a:solidFill>
                <a:latin typeface="Segoe UI" panose="020B0502040204020203" pitchFamily="34" charset="0"/>
              </a:rPr>
              <a:t>image payload + metrics</a:t>
            </a:r>
          </a:p>
        </p:txBody>
      </p:sp>
    </p:spTree>
    <p:extLst>
      <p:ext uri="{BB962C8B-B14F-4D97-AF65-F5344CB8AC3E}">
        <p14:creationId xmlns:p14="http://schemas.microsoft.com/office/powerpoint/2010/main" val="99228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3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mph" presetSubtype="0" repeatCount="9999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" dur="900" fill="hold"/>
                                        <p:tgtEl>
                                          <p:spTgt spid="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7" grpId="1" animBg="1"/>
      <p:bldP spid="9" grpId="0" animBg="1"/>
      <p:bldP spid="12" grpId="0" animBg="1"/>
      <p:bldP spid="14" grpId="0" animBg="1"/>
      <p:bldP spid="16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0033B3-B9EA-FF76-5E06-078CA60D82E1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0288D1"/>
                </a:solidFill>
                <a:latin typeface="Segoe UI" panose="020B0502040204020203" pitchFamily="34" charset="0"/>
              </a:rPr>
              <a:t>EDGE TIER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B530F0-DE40-D06A-DEB6-25DFF593A6D7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400" b="1">
                <a:solidFill>
                  <a:srgbClr val="1C1C1C"/>
                </a:solidFill>
                <a:latin typeface="Segoe UI" panose="020B0502040204020203" pitchFamily="34" charset="0"/>
              </a:rPr>
              <a:t>The edge tier is a real-time deterministic controller.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B27867-0BDA-C259-5FF4-FE412E3AB029}"/>
              </a:ext>
            </a:extLst>
          </p:cNvPr>
          <p:cNvSpPr/>
          <p:nvPr/>
        </p:nvSpPr>
        <p:spPr>
          <a:xfrm>
            <a:off x="4699000" y="3175000"/>
            <a:ext cx="2794000" cy="1143000"/>
          </a:xfrm>
          <a:prstGeom prst="roundRect">
            <a:avLst/>
          </a:prstGeom>
          <a:solidFill>
            <a:srgbClr val="EDEDED"/>
          </a:solidFill>
          <a:ln w="31750">
            <a:solidFill>
              <a:srgbClr val="0288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EDD0B1-2FB1-CC2D-01E5-5FCA9B7604AF}"/>
              </a:ext>
            </a:extLst>
          </p:cNvPr>
          <p:cNvSpPr txBox="1"/>
          <p:nvPr/>
        </p:nvSpPr>
        <p:spPr>
          <a:xfrm>
            <a:off x="4699000" y="3327400"/>
            <a:ext cx="2794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500">
                <a:solidFill>
                  <a:srgbClr val="1C1C1C"/>
                </a:solidFill>
                <a:latin typeface="Segoe UI" panose="020B0502040204020203" pitchFamily="34" charset="0"/>
              </a:rPr>
              <a:t>ESP32 CONTROL CORE
non-blocking loop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B498620-B0B5-C458-B327-7093E0FD1B8D}"/>
              </a:ext>
            </a:extLst>
          </p:cNvPr>
          <p:cNvSpPr/>
          <p:nvPr/>
        </p:nvSpPr>
        <p:spPr>
          <a:xfrm>
            <a:off x="914400" y="2540000"/>
            <a:ext cx="2921000" cy="711200"/>
          </a:xfrm>
          <a:prstGeom prst="roundRect">
            <a:avLst/>
          </a:prstGeom>
          <a:solidFill>
            <a:srgbClr val="EDEDED"/>
          </a:solidFill>
          <a:ln w="19050">
            <a:solidFill>
              <a:srgbClr val="0288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05497B-B949-D988-FDAE-20A379D05D46}"/>
              </a:ext>
            </a:extLst>
          </p:cNvPr>
          <p:cNvSpPr txBox="1"/>
          <p:nvPr/>
        </p:nvSpPr>
        <p:spPr>
          <a:xfrm>
            <a:off x="1066800" y="2641600"/>
            <a:ext cx="2616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500" b="1">
                <a:solidFill>
                  <a:srgbClr val="0288D1"/>
                </a:solidFill>
                <a:latin typeface="Consolas" panose="020B0609020204030204" pitchFamily="49" charset="0"/>
              </a:rPr>
              <a:t>wifi_manager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D927FD-2EBA-A743-6576-108F9CFBFB0E}"/>
              </a:ext>
            </a:extLst>
          </p:cNvPr>
          <p:cNvSpPr txBox="1"/>
          <p:nvPr/>
        </p:nvSpPr>
        <p:spPr>
          <a:xfrm>
            <a:off x="1066800" y="2946400"/>
            <a:ext cx="2616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606060"/>
                </a:solidFill>
                <a:latin typeface="Segoe UI" panose="020B0502040204020203" pitchFamily="34" charset="0"/>
              </a:rPr>
              <a:t>auto-reconnect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723D89-1E19-0ED0-1A4A-093CB9E8E1E3}"/>
              </a:ext>
            </a:extLst>
          </p:cNvPr>
          <p:cNvSpPr/>
          <p:nvPr/>
        </p:nvSpPr>
        <p:spPr>
          <a:xfrm>
            <a:off x="914400" y="4572000"/>
            <a:ext cx="2921000" cy="711200"/>
          </a:xfrm>
          <a:prstGeom prst="roundRect">
            <a:avLst/>
          </a:prstGeom>
          <a:solidFill>
            <a:srgbClr val="EDEDED"/>
          </a:solidFill>
          <a:ln w="19050">
            <a:solidFill>
              <a:srgbClr val="F57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23A2C0-7A4A-FAB4-04BC-35F5A48B2313}"/>
              </a:ext>
            </a:extLst>
          </p:cNvPr>
          <p:cNvSpPr txBox="1"/>
          <p:nvPr/>
        </p:nvSpPr>
        <p:spPr>
          <a:xfrm>
            <a:off x="1066800" y="4673600"/>
            <a:ext cx="2616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500" b="1">
                <a:solidFill>
                  <a:srgbClr val="F57C00"/>
                </a:solidFill>
                <a:latin typeface="Consolas" panose="020B0609020204030204" pitchFamily="49" charset="0"/>
              </a:rPr>
              <a:t>sensors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A27FD2-D745-B027-A737-FF6C8B80FE20}"/>
              </a:ext>
            </a:extLst>
          </p:cNvPr>
          <p:cNvSpPr txBox="1"/>
          <p:nvPr/>
        </p:nvSpPr>
        <p:spPr>
          <a:xfrm>
            <a:off x="1066800" y="4978400"/>
            <a:ext cx="2616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606060"/>
                </a:solidFill>
                <a:latin typeface="Segoe UI" panose="020B0502040204020203" pitchFamily="34" charset="0"/>
              </a:rPr>
              <a:t>ADC1 · EMA · DHT · SR04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68C0AFA-8819-29FF-5D66-AF8FA141A174}"/>
              </a:ext>
            </a:extLst>
          </p:cNvPr>
          <p:cNvSpPr/>
          <p:nvPr/>
        </p:nvSpPr>
        <p:spPr>
          <a:xfrm>
            <a:off x="8356600" y="2540000"/>
            <a:ext cx="2921000" cy="711200"/>
          </a:xfrm>
          <a:prstGeom prst="roundRect">
            <a:avLst/>
          </a:prstGeom>
          <a:solidFill>
            <a:srgbClr val="EDEDED"/>
          </a:solidFill>
          <a:ln w="19050">
            <a:solidFill>
              <a:srgbClr val="F57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584EC7-D886-8A5A-EFD0-CD3DFE68FE21}"/>
              </a:ext>
            </a:extLst>
          </p:cNvPr>
          <p:cNvSpPr txBox="1"/>
          <p:nvPr/>
        </p:nvSpPr>
        <p:spPr>
          <a:xfrm>
            <a:off x="8509000" y="2641600"/>
            <a:ext cx="2616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500" b="1">
                <a:solidFill>
                  <a:srgbClr val="F57C00"/>
                </a:solidFill>
                <a:latin typeface="Consolas" panose="020B0609020204030204" pitchFamily="49" charset="0"/>
              </a:rPr>
              <a:t>mqtt_handler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D850D6-23A0-49B7-FF89-A4292DA81849}"/>
              </a:ext>
            </a:extLst>
          </p:cNvPr>
          <p:cNvSpPr txBox="1"/>
          <p:nvPr/>
        </p:nvSpPr>
        <p:spPr>
          <a:xfrm>
            <a:off x="8509000" y="2946400"/>
            <a:ext cx="2616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606060"/>
                </a:solidFill>
                <a:latin typeface="Segoe UI" panose="020B0502040204020203" pitchFamily="34" charset="0"/>
              </a:rPr>
              <a:t>LWT · backoff · JSON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C7A7400-49EE-5A23-EA7F-78F740555EC4}"/>
              </a:ext>
            </a:extLst>
          </p:cNvPr>
          <p:cNvSpPr/>
          <p:nvPr/>
        </p:nvSpPr>
        <p:spPr>
          <a:xfrm>
            <a:off x="8356600" y="4572000"/>
            <a:ext cx="2921000" cy="711200"/>
          </a:xfrm>
          <a:prstGeom prst="roundRect">
            <a:avLst/>
          </a:prstGeom>
          <a:solidFill>
            <a:srgbClr val="EDEDED"/>
          </a:solidFill>
          <a:ln w="19050">
            <a:solidFill>
              <a:srgbClr val="D32F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AAA678-8F1F-A59A-5A23-37C07C406443}"/>
              </a:ext>
            </a:extLst>
          </p:cNvPr>
          <p:cNvSpPr txBox="1"/>
          <p:nvPr/>
        </p:nvSpPr>
        <p:spPr>
          <a:xfrm>
            <a:off x="8509000" y="4673600"/>
            <a:ext cx="2616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500" b="1">
                <a:solidFill>
                  <a:srgbClr val="D32F2F"/>
                </a:solidFill>
                <a:latin typeface="Consolas" panose="020B0609020204030204" pitchFamily="49" charset="0"/>
              </a:rPr>
              <a:t>actuators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704614-8126-6077-7509-5BEAC92D82F7}"/>
              </a:ext>
            </a:extLst>
          </p:cNvPr>
          <p:cNvSpPr txBox="1"/>
          <p:nvPr/>
        </p:nvSpPr>
        <p:spPr>
          <a:xfrm>
            <a:off x="8509000" y="4978400"/>
            <a:ext cx="2616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606060"/>
                </a:solidFill>
                <a:latin typeface="Segoe UI" panose="020B0502040204020203" pitchFamily="34" charset="0"/>
              </a:rPr>
              <a:t>PCA9685 · relays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71B5457-A3B7-D29A-C92C-7FC36B1499CB}"/>
              </a:ext>
            </a:extLst>
          </p:cNvPr>
          <p:cNvSpPr/>
          <p:nvPr/>
        </p:nvSpPr>
        <p:spPr>
          <a:xfrm>
            <a:off x="4635500" y="5207000"/>
            <a:ext cx="2921000" cy="711200"/>
          </a:xfrm>
          <a:prstGeom prst="roundRect">
            <a:avLst/>
          </a:prstGeom>
          <a:solidFill>
            <a:srgbClr val="EDEDED"/>
          </a:solidFill>
          <a:ln w="19050">
            <a:solidFill>
              <a:srgbClr val="606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FDE86A-B0CD-E79C-BA84-73F79D8ED936}"/>
              </a:ext>
            </a:extLst>
          </p:cNvPr>
          <p:cNvSpPr txBox="1"/>
          <p:nvPr/>
        </p:nvSpPr>
        <p:spPr>
          <a:xfrm>
            <a:off x="4787900" y="5308600"/>
            <a:ext cx="2616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500" b="1">
                <a:solidFill>
                  <a:srgbClr val="606060"/>
                </a:solidFill>
                <a:latin typeface="Consolas" panose="020B0609020204030204" pitchFamily="49" charset="0"/>
              </a:rPr>
              <a:t>failsafe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4E4577-1495-CFE2-0A63-5F3374E93CEF}"/>
              </a:ext>
            </a:extLst>
          </p:cNvPr>
          <p:cNvSpPr txBox="1"/>
          <p:nvPr/>
        </p:nvSpPr>
        <p:spPr>
          <a:xfrm>
            <a:off x="4787900" y="5613400"/>
            <a:ext cx="2616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606060"/>
                </a:solidFill>
                <a:latin typeface="Segoe UI" panose="020B0502040204020203" pitchFamily="34" charset="0"/>
              </a:rPr>
              <a:t>connectivity FSM</a:t>
            </a:r>
          </a:p>
        </p:txBody>
      </p:sp>
    </p:spTree>
    <p:extLst>
      <p:ext uri="{BB962C8B-B14F-4D97-AF65-F5344CB8AC3E}">
        <p14:creationId xmlns:p14="http://schemas.microsoft.com/office/powerpoint/2010/main" val="30927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/>
      </p:transition>
    </mc:Choice>
    <mc:Fallback xmlns="">
      <p:transition spd="med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5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750"/>
                            </p:stCondLst>
                            <p:childTnLst>
                              <p:par>
                                <p:cTn id="3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  <p:bldP spid="12" grpId="0" animBg="1"/>
      <p:bldP spid="15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A9CEBF-7596-6A3D-19B0-E4DE94BACB69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0288D1"/>
                </a:solidFill>
                <a:latin typeface="Segoe UI" panose="020B0502040204020203" pitchFamily="34" charset="0"/>
              </a:rPr>
              <a:t>PHYSICAL LAYER · ISOMETRIC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0EA908-FFA0-D6F2-9E50-2DD1F21DD80B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200" b="1">
                <a:solidFill>
                  <a:srgbClr val="1C1C1C"/>
                </a:solidFill>
                <a:latin typeface="Segoe UI" panose="020B0502040204020203" pitchFamily="34" charset="0"/>
              </a:rPr>
              <a:t>Nine servos, four pumps, four rooms — an isometric cutaway of the plant.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637581-736D-C7FA-43BF-820C4B0444C9}"/>
              </a:ext>
            </a:extLst>
          </p:cNvPr>
          <p:cNvSpPr/>
          <p:nvPr/>
        </p:nvSpPr>
        <p:spPr>
          <a:xfrm>
            <a:off x="3810000" y="3175000"/>
            <a:ext cx="4572000" cy="2540000"/>
          </a:xfrm>
          <a:prstGeom prst="rect">
            <a:avLst/>
          </a:prstGeom>
          <a:solidFill>
            <a:srgbClr val="EDEDED"/>
          </a:solidFill>
          <a:ln w="12700">
            <a:solidFill>
              <a:srgbClr val="606060"/>
            </a:solidFill>
          </a:ln>
          <a:scene3d>
            <a:camera prst="legacyObliqueFront">
              <a:rot lat="2700000" lon="19484160" rev="0"/>
            </a:camera>
            <a:lightRig rig="threePt" dir="t"/>
          </a:scene3d>
          <a:sp3d extrusionH="254000">
            <a:extrusionClr>
              <a:srgbClr val="DCDCDC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FFC5EE-E257-24E9-F7D1-9F575280EEA9}"/>
              </a:ext>
            </a:extLst>
          </p:cNvPr>
          <p:cNvSpPr/>
          <p:nvPr/>
        </p:nvSpPr>
        <p:spPr>
          <a:xfrm>
            <a:off x="4572000" y="3175000"/>
            <a:ext cx="1524000" cy="101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1C1C"/>
            </a:solidFill>
          </a:ln>
          <a:scene3d>
            <a:camera prst="legacyObliqueFront">
              <a:rot lat="2700000" lon="19484160" rev="0"/>
            </a:camera>
            <a:lightRig rig="threePt" dir="t"/>
          </a:scene3d>
          <a:sp3d extrusionH="533400">
            <a:extrusionClr>
              <a:srgbClr val="0288D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26B6CF-08D0-1825-CABD-CE638C7583CC}"/>
              </a:ext>
            </a:extLst>
          </p:cNvPr>
          <p:cNvSpPr txBox="1"/>
          <p:nvPr/>
        </p:nvSpPr>
        <p:spPr>
          <a:xfrm>
            <a:off x="4775200" y="3479800"/>
            <a:ext cx="889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600" b="1">
                <a:solidFill>
                  <a:srgbClr val="1C1C1C"/>
                </a:solidFill>
                <a:latin typeface="Segoe UI" panose="020B0502040204020203" pitchFamily="34" charset="0"/>
              </a:rPr>
              <a:t>R1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C86688-AF0C-2FFD-14B8-470C49A231A9}"/>
              </a:ext>
            </a:extLst>
          </p:cNvPr>
          <p:cNvSpPr/>
          <p:nvPr/>
        </p:nvSpPr>
        <p:spPr>
          <a:xfrm>
            <a:off x="6604000" y="3175000"/>
            <a:ext cx="1524000" cy="101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1C1C"/>
            </a:solidFill>
          </a:ln>
          <a:scene3d>
            <a:camera prst="legacyObliqueFront">
              <a:rot lat="2700000" lon="19484160" rev="0"/>
            </a:camera>
            <a:lightRig rig="threePt" dir="t"/>
          </a:scene3d>
          <a:sp3d extrusionH="533400">
            <a:extrusionClr>
              <a:srgbClr val="0288D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8520D3-8A46-F77E-19F4-277380D341B8}"/>
              </a:ext>
            </a:extLst>
          </p:cNvPr>
          <p:cNvSpPr txBox="1"/>
          <p:nvPr/>
        </p:nvSpPr>
        <p:spPr>
          <a:xfrm>
            <a:off x="6807200" y="3479800"/>
            <a:ext cx="889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600" b="1">
                <a:solidFill>
                  <a:srgbClr val="1C1C1C"/>
                </a:solidFill>
                <a:latin typeface="Segoe UI" panose="020B0502040204020203" pitchFamily="34" charset="0"/>
              </a:rPr>
              <a:t>R2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9EB3DF-B232-995C-CEFD-61ECA43D181C}"/>
              </a:ext>
            </a:extLst>
          </p:cNvPr>
          <p:cNvSpPr/>
          <p:nvPr/>
        </p:nvSpPr>
        <p:spPr>
          <a:xfrm>
            <a:off x="4572000" y="4445000"/>
            <a:ext cx="1524000" cy="101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1C1C"/>
            </a:solidFill>
          </a:ln>
          <a:scene3d>
            <a:camera prst="legacyObliqueFront">
              <a:rot lat="2700000" lon="19484160" rev="0"/>
            </a:camera>
            <a:lightRig rig="threePt" dir="t"/>
          </a:scene3d>
          <a:sp3d extrusionH="533400">
            <a:extrusionClr>
              <a:srgbClr val="D32F2F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271FD4-889A-8DDB-C802-3438BE2AA21F}"/>
              </a:ext>
            </a:extLst>
          </p:cNvPr>
          <p:cNvSpPr txBox="1"/>
          <p:nvPr/>
        </p:nvSpPr>
        <p:spPr>
          <a:xfrm>
            <a:off x="4775200" y="4749800"/>
            <a:ext cx="889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600" b="1">
                <a:solidFill>
                  <a:srgbClr val="1C1C1C"/>
                </a:solidFill>
                <a:latin typeface="Segoe UI" panose="020B0502040204020203" pitchFamily="34" charset="0"/>
              </a:rPr>
              <a:t>R3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DE7597-1971-7765-08DA-101C719271B9}"/>
              </a:ext>
            </a:extLst>
          </p:cNvPr>
          <p:cNvSpPr/>
          <p:nvPr/>
        </p:nvSpPr>
        <p:spPr>
          <a:xfrm>
            <a:off x="6604000" y="4445000"/>
            <a:ext cx="1524000" cy="101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1C1C"/>
            </a:solidFill>
          </a:ln>
          <a:scene3d>
            <a:camera prst="legacyObliqueFront">
              <a:rot lat="2700000" lon="19484160" rev="0"/>
            </a:camera>
            <a:lightRig rig="threePt" dir="t"/>
          </a:scene3d>
          <a:sp3d extrusionH="533400">
            <a:extrusionClr>
              <a:srgbClr val="D32F2F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19EE25-280E-071E-687B-689EB146E23C}"/>
              </a:ext>
            </a:extLst>
          </p:cNvPr>
          <p:cNvSpPr txBox="1"/>
          <p:nvPr/>
        </p:nvSpPr>
        <p:spPr>
          <a:xfrm>
            <a:off x="6807200" y="4749800"/>
            <a:ext cx="889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600" b="1">
                <a:solidFill>
                  <a:srgbClr val="1C1C1C"/>
                </a:solidFill>
                <a:latin typeface="Segoe UI" panose="020B0502040204020203" pitchFamily="34" charset="0"/>
              </a:rPr>
              <a:t>R4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0401E4-CB5B-F74E-A26D-1482C0CA248D}"/>
              </a:ext>
            </a:extLst>
          </p:cNvPr>
          <p:cNvSpPr/>
          <p:nvPr/>
        </p:nvSpPr>
        <p:spPr>
          <a:xfrm>
            <a:off x="914400" y="2540000"/>
            <a:ext cx="177800" cy="177800"/>
          </a:xfrm>
          <a:prstGeom prst="rect">
            <a:avLst/>
          </a:prstGeom>
          <a:solidFill>
            <a:srgbClr val="D3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766AE9-023E-BAED-B3A8-08F49367E2EF}"/>
              </a:ext>
            </a:extLst>
          </p:cNvPr>
          <p:cNvSpPr txBox="1"/>
          <p:nvPr/>
        </p:nvSpPr>
        <p:spPr>
          <a:xfrm>
            <a:off x="1193800" y="2489200"/>
            <a:ext cx="254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>
                <a:solidFill>
                  <a:srgbClr val="1C1C1C"/>
                </a:solidFill>
                <a:latin typeface="Segoe UI" panose="020B0502040204020203" pitchFamily="34" charset="0"/>
              </a:rPr>
              <a:t>Gas valve (trunk)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D17DE5-758C-07E4-22A8-DB0181505704}"/>
              </a:ext>
            </a:extLst>
          </p:cNvPr>
          <p:cNvSpPr/>
          <p:nvPr/>
        </p:nvSpPr>
        <p:spPr>
          <a:xfrm>
            <a:off x="914400" y="2921000"/>
            <a:ext cx="177800" cy="177800"/>
          </a:xfrm>
          <a:prstGeom prst="rect">
            <a:avLst/>
          </a:prstGeom>
          <a:solidFill>
            <a:srgbClr val="0288D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6617E8-2B93-47D6-BD52-38EBD6F803DB}"/>
              </a:ext>
            </a:extLst>
          </p:cNvPr>
          <p:cNvSpPr txBox="1"/>
          <p:nvPr/>
        </p:nvSpPr>
        <p:spPr>
          <a:xfrm>
            <a:off x="1193800" y="2870200"/>
            <a:ext cx="254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>
                <a:solidFill>
                  <a:srgbClr val="1C1C1C"/>
                </a:solidFill>
                <a:latin typeface="Segoe UI" panose="020B0502040204020203" pitchFamily="34" charset="0"/>
              </a:rPr>
              <a:t>Door servos ×4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ED88FD-3EBC-7601-3E3D-0AD8E5C3EB62}"/>
              </a:ext>
            </a:extLst>
          </p:cNvPr>
          <p:cNvSpPr/>
          <p:nvPr/>
        </p:nvSpPr>
        <p:spPr>
          <a:xfrm>
            <a:off x="914400" y="3302000"/>
            <a:ext cx="177800" cy="177800"/>
          </a:xfrm>
          <a:prstGeom prst="rect">
            <a:avLst/>
          </a:prstGeom>
          <a:solidFill>
            <a:srgbClr val="F57C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CD481E-F9DB-D56E-D869-285BA0495B18}"/>
              </a:ext>
            </a:extLst>
          </p:cNvPr>
          <p:cNvSpPr txBox="1"/>
          <p:nvPr/>
        </p:nvSpPr>
        <p:spPr>
          <a:xfrm>
            <a:off x="1193800" y="3251200"/>
            <a:ext cx="254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>
                <a:solidFill>
                  <a:srgbClr val="1C1C1C"/>
                </a:solidFill>
                <a:latin typeface="Segoe UI" panose="020B0502040204020203" pitchFamily="34" charset="0"/>
              </a:rPr>
              <a:t>Corridor barriers ×2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DD0696-BC2D-D194-3FAE-519742A87DB8}"/>
              </a:ext>
            </a:extLst>
          </p:cNvPr>
          <p:cNvSpPr/>
          <p:nvPr/>
        </p:nvSpPr>
        <p:spPr>
          <a:xfrm>
            <a:off x="914400" y="3683000"/>
            <a:ext cx="177800" cy="177800"/>
          </a:xfrm>
          <a:prstGeom prst="rect">
            <a:avLst/>
          </a:prstGeom>
          <a:solidFill>
            <a:srgbClr val="0288D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DA11F9-C2EF-E83A-00F3-E6E79F387DA7}"/>
              </a:ext>
            </a:extLst>
          </p:cNvPr>
          <p:cNvSpPr txBox="1"/>
          <p:nvPr/>
        </p:nvSpPr>
        <p:spPr>
          <a:xfrm>
            <a:off x="1193800" y="3632200"/>
            <a:ext cx="254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pt-BR" sz="1200">
                <a:solidFill>
                  <a:srgbClr val="1C1C1C"/>
                </a:solidFill>
                <a:latin typeface="Segoe UI" panose="020B0502040204020203" pitchFamily="34" charset="0"/>
              </a:rPr>
              <a:t>Window servos ×2 (R3/R4)</a:t>
            </a:r>
            <a:endParaRPr lang="en-US" sz="1200">
              <a:solidFill>
                <a:srgbClr val="1C1C1C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D1557B-03CB-F89D-256D-E047F7527B00}"/>
              </a:ext>
            </a:extLst>
          </p:cNvPr>
          <p:cNvSpPr/>
          <p:nvPr/>
        </p:nvSpPr>
        <p:spPr>
          <a:xfrm>
            <a:off x="914400" y="4064000"/>
            <a:ext cx="177800" cy="177800"/>
          </a:xfrm>
          <a:prstGeom prst="rect">
            <a:avLst/>
          </a:prstGeom>
          <a:solidFill>
            <a:srgbClr val="0288D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DC755A-0111-45E8-063C-6AB228F38A67}"/>
              </a:ext>
            </a:extLst>
          </p:cNvPr>
          <p:cNvSpPr txBox="1"/>
          <p:nvPr/>
        </p:nvSpPr>
        <p:spPr>
          <a:xfrm>
            <a:off x="1193800" y="4013200"/>
            <a:ext cx="254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>
                <a:solidFill>
                  <a:srgbClr val="1C1C1C"/>
                </a:solidFill>
                <a:latin typeface="Segoe UI" panose="020B0502040204020203" pitchFamily="34" charset="0"/>
              </a:rPr>
              <a:t>Room pumps ×4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5373ED-E220-2D8B-E70F-9D5A5BE256DD}"/>
              </a:ext>
            </a:extLst>
          </p:cNvPr>
          <p:cNvSpPr txBox="1"/>
          <p:nvPr/>
        </p:nvSpPr>
        <p:spPr>
          <a:xfrm>
            <a:off x="3810000" y="5969000"/>
            <a:ext cx="457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000">
                <a:solidFill>
                  <a:srgbClr val="969696"/>
                </a:solidFill>
                <a:latin typeface="Segoe UI" panose="020B0502040204020203" pitchFamily="34" charset="0"/>
              </a:rPr>
              <a:t>Isometric extrusion via Shape.ThreeD (editable native shapes).</a:t>
            </a:r>
          </a:p>
        </p:txBody>
      </p:sp>
    </p:spTree>
    <p:extLst>
      <p:ext uri="{BB962C8B-B14F-4D97-AF65-F5344CB8AC3E}">
        <p14:creationId xmlns:p14="http://schemas.microsoft.com/office/powerpoint/2010/main" val="1791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6" presetClass="emph" presetSubtype="0" repeatCount="9999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9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9990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3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9" grpId="1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401E7B-375E-1777-D22B-73BD47F030AF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0288D1"/>
                </a:solidFill>
                <a:latin typeface="Segoe UI" panose="020B0502040204020203" pitchFamily="34" charset="0"/>
              </a:rPr>
              <a:t>CONTROL STACK · ISOMETRIC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C5CD28-807C-587B-A888-AD3870CF61B1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400" b="1">
                <a:solidFill>
                  <a:srgbClr val="1C1C1C"/>
                </a:solidFill>
                <a:latin typeface="Segoe UI" panose="020B0502040204020203" pitchFamily="34" charset="0"/>
              </a:rPr>
              <a:t>Exploded view: how the control stack physically layers.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9F85F0-E3B0-825E-F441-CB2C38BED1AB}"/>
              </a:ext>
            </a:extLst>
          </p:cNvPr>
          <p:cNvSpPr/>
          <p:nvPr/>
        </p:nvSpPr>
        <p:spPr>
          <a:xfrm>
            <a:off x="5334000" y="2159000"/>
            <a:ext cx="2540000" cy="508000"/>
          </a:xfrm>
          <a:prstGeom prst="rect">
            <a:avLst/>
          </a:prstGeom>
          <a:solidFill>
            <a:srgbClr val="EDEDED"/>
          </a:solidFill>
          <a:ln w="19050">
            <a:solidFill>
              <a:srgbClr val="D32F2F"/>
            </a:solidFill>
          </a:ln>
          <a:scene3d>
            <a:camera prst="legacyObliqueFront">
              <a:rot lat="2700000" lon="19484160" rev="0"/>
            </a:camera>
            <a:lightRig rig="threePt" dir="t"/>
          </a:scene3d>
          <a:sp3d extrusionH="203200">
            <a:extrusionClr>
              <a:srgbClr val="D32F2F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EE35D5-0D5D-0F72-76C0-1D692622FB59}"/>
              </a:ext>
            </a:extLst>
          </p:cNvPr>
          <p:cNvSpPr txBox="1"/>
          <p:nvPr/>
        </p:nvSpPr>
        <p:spPr>
          <a:xfrm>
            <a:off x="2159000" y="2209800"/>
            <a:ext cx="3048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r"/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Actuators — 9 servos / 4 pumps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4F05158-B4AF-2F7F-04AD-D0265DD4EBAA}"/>
              </a:ext>
            </a:extLst>
          </p:cNvPr>
          <p:cNvCxnSpPr/>
          <p:nvPr/>
        </p:nvCxnSpPr>
        <p:spPr>
          <a:xfrm flipH="1">
            <a:off x="5232400" y="2413000"/>
            <a:ext cx="101600" cy="0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6F78814-0DDE-4B3B-D85A-365C98065B46}"/>
              </a:ext>
            </a:extLst>
          </p:cNvPr>
          <p:cNvSpPr/>
          <p:nvPr/>
        </p:nvSpPr>
        <p:spPr>
          <a:xfrm>
            <a:off x="5003800" y="2971800"/>
            <a:ext cx="2540000" cy="508000"/>
          </a:xfrm>
          <a:prstGeom prst="rect">
            <a:avLst/>
          </a:prstGeom>
          <a:solidFill>
            <a:srgbClr val="EDEDED"/>
          </a:solidFill>
          <a:ln w="19050">
            <a:solidFill>
              <a:srgbClr val="D32F2F"/>
            </a:solidFill>
          </a:ln>
          <a:scene3d>
            <a:camera prst="legacyObliqueFront">
              <a:rot lat="2700000" lon="19484160" rev="0"/>
            </a:camera>
            <a:lightRig rig="threePt" dir="t"/>
          </a:scene3d>
          <a:sp3d extrusionH="203200">
            <a:extrusionClr>
              <a:srgbClr val="D32F2F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B91F29-681D-9135-47C5-05396B815CF9}"/>
              </a:ext>
            </a:extLst>
          </p:cNvPr>
          <p:cNvSpPr txBox="1"/>
          <p:nvPr/>
        </p:nvSpPr>
        <p:spPr>
          <a:xfrm>
            <a:off x="1828800" y="3022600"/>
            <a:ext cx="3048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r"/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4-channel relay bank (opto-isolated)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CD7E09-CADB-DE9C-3377-9263AFA6FD58}"/>
              </a:ext>
            </a:extLst>
          </p:cNvPr>
          <p:cNvCxnSpPr/>
          <p:nvPr/>
        </p:nvCxnSpPr>
        <p:spPr>
          <a:xfrm flipH="1">
            <a:off x="4902200" y="3225800"/>
            <a:ext cx="101600" cy="0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31B82B7-DEB9-F4BD-3CB6-C7138600A5C5}"/>
              </a:ext>
            </a:extLst>
          </p:cNvPr>
          <p:cNvSpPr/>
          <p:nvPr/>
        </p:nvSpPr>
        <p:spPr>
          <a:xfrm>
            <a:off x="4673600" y="3784600"/>
            <a:ext cx="2540000" cy="508000"/>
          </a:xfrm>
          <a:prstGeom prst="rect">
            <a:avLst/>
          </a:prstGeom>
          <a:solidFill>
            <a:srgbClr val="EDEDED"/>
          </a:solidFill>
          <a:ln w="19050">
            <a:solidFill>
              <a:srgbClr val="F57C00"/>
            </a:solidFill>
          </a:ln>
          <a:scene3d>
            <a:camera prst="legacyObliqueFront">
              <a:rot lat="2700000" lon="19484160" rev="0"/>
            </a:camera>
            <a:lightRig rig="threePt" dir="t"/>
          </a:scene3d>
          <a:sp3d extrusionH="203200">
            <a:extrusionClr>
              <a:srgbClr val="F57C00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DAE3FE-6145-5A06-2892-EF48CF9BF2CF}"/>
              </a:ext>
            </a:extLst>
          </p:cNvPr>
          <p:cNvSpPr txBox="1"/>
          <p:nvPr/>
        </p:nvSpPr>
        <p:spPr>
          <a:xfrm>
            <a:off x="1498600" y="3835400"/>
            <a:ext cx="3048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r"/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PCA9685 PWM driver @0x40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C4159D-8A65-0C4A-3D81-370BCB355576}"/>
              </a:ext>
            </a:extLst>
          </p:cNvPr>
          <p:cNvCxnSpPr/>
          <p:nvPr/>
        </p:nvCxnSpPr>
        <p:spPr>
          <a:xfrm flipH="1">
            <a:off x="4572000" y="4038600"/>
            <a:ext cx="101600" cy="0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EFC2F78-65D8-11F8-25D6-AFAEC90760BA}"/>
              </a:ext>
            </a:extLst>
          </p:cNvPr>
          <p:cNvSpPr/>
          <p:nvPr/>
        </p:nvSpPr>
        <p:spPr>
          <a:xfrm>
            <a:off x="4343400" y="4597400"/>
            <a:ext cx="2540000" cy="508000"/>
          </a:xfrm>
          <a:prstGeom prst="rect">
            <a:avLst/>
          </a:prstGeom>
          <a:solidFill>
            <a:srgbClr val="EDEDED"/>
          </a:solidFill>
          <a:ln w="19050">
            <a:solidFill>
              <a:srgbClr val="0288D1"/>
            </a:solidFill>
          </a:ln>
          <a:scene3d>
            <a:camera prst="legacyObliqueFront">
              <a:rot lat="2700000" lon="19484160" rev="0"/>
            </a:camera>
            <a:lightRig rig="threePt" dir="t"/>
          </a:scene3d>
          <a:sp3d extrusionH="203200">
            <a:extrusionClr>
              <a:srgbClr val="0288D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8F64F6-3977-D2F9-76F0-D1E02617D7D4}"/>
              </a:ext>
            </a:extLst>
          </p:cNvPr>
          <p:cNvSpPr txBox="1"/>
          <p:nvPr/>
        </p:nvSpPr>
        <p:spPr>
          <a:xfrm>
            <a:off x="1168400" y="4648200"/>
            <a:ext cx="3048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r"/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ESP32-WROOM-32DA controller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7121839-0673-0007-0810-E3682FC6D46E}"/>
              </a:ext>
            </a:extLst>
          </p:cNvPr>
          <p:cNvCxnSpPr/>
          <p:nvPr/>
        </p:nvCxnSpPr>
        <p:spPr>
          <a:xfrm flipH="1">
            <a:off x="4241800" y="4851400"/>
            <a:ext cx="101600" cy="0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5A40469-ECB8-D67B-4700-3C0F73D0310F}"/>
              </a:ext>
            </a:extLst>
          </p:cNvPr>
          <p:cNvSpPr/>
          <p:nvPr/>
        </p:nvSpPr>
        <p:spPr>
          <a:xfrm>
            <a:off x="4013200" y="5410200"/>
            <a:ext cx="2540000" cy="508000"/>
          </a:xfrm>
          <a:prstGeom prst="rect">
            <a:avLst/>
          </a:prstGeom>
          <a:solidFill>
            <a:srgbClr val="EDEDED"/>
          </a:solidFill>
          <a:ln w="19050">
            <a:solidFill>
              <a:srgbClr val="0288D1"/>
            </a:solidFill>
          </a:ln>
          <a:scene3d>
            <a:camera prst="legacyObliqueFront">
              <a:rot lat="2700000" lon="19484160" rev="0"/>
            </a:camera>
            <a:lightRig rig="threePt" dir="t"/>
          </a:scene3d>
          <a:sp3d extrusionH="203200">
            <a:extrusionClr>
              <a:srgbClr val="0288D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8552A9-503E-2FC8-5762-44D619995F0E}"/>
              </a:ext>
            </a:extLst>
          </p:cNvPr>
          <p:cNvSpPr txBox="1"/>
          <p:nvPr/>
        </p:nvSpPr>
        <p:spPr>
          <a:xfrm>
            <a:off x="838200" y="5461000"/>
            <a:ext cx="3048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r"/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5V / 5A power rail (20% margin)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9A24083-153B-7F19-18B9-4FAF463ABA51}"/>
              </a:ext>
            </a:extLst>
          </p:cNvPr>
          <p:cNvCxnSpPr/>
          <p:nvPr/>
        </p:nvCxnSpPr>
        <p:spPr>
          <a:xfrm flipH="1">
            <a:off x="3911600" y="5664200"/>
            <a:ext cx="101600" cy="0"/>
          </a:xfrm>
          <a:prstGeom prst="line">
            <a:avLst/>
          </a:prstGeom>
          <a:ln w="127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08516D1-7B8B-175D-A89E-61452029F8EB}"/>
              </a:ext>
            </a:extLst>
          </p:cNvPr>
          <p:cNvSpPr txBox="1"/>
          <p:nvPr/>
        </p:nvSpPr>
        <p:spPr>
          <a:xfrm>
            <a:off x="914400" y="59690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000">
                <a:solidFill>
                  <a:srgbClr val="969696"/>
                </a:solidFill>
                <a:latin typeface="Segoe UI" panose="020B0502040204020203" pitchFamily="34" charset="0"/>
              </a:rPr>
              <a:t>Each plate is an independent, recolourable native shape (Shape.ThreeD extrusion).</a:t>
            </a:r>
          </a:p>
        </p:txBody>
      </p:sp>
    </p:spTree>
    <p:extLst>
      <p:ext uri="{BB962C8B-B14F-4D97-AF65-F5344CB8AC3E}">
        <p14:creationId xmlns:p14="http://schemas.microsoft.com/office/powerpoint/2010/main" val="4279437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push dir="u"/>
      </p:transition>
    </mc:Choice>
    <mc:Fallback xmlns=""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1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2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3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4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3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5B5086-8013-A97D-2678-36CC9FDC037C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F57C00"/>
                </a:solidFill>
                <a:latin typeface="Segoe UI" panose="020B0502040204020203" pitchFamily="34" charset="0"/>
              </a:rPr>
              <a:t>ACTUATION BUS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3AAF2E-D6F3-CFFB-A494-6B04E50BEE54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400" b="1">
                <a:solidFill>
                  <a:srgbClr val="1C1C1C"/>
                </a:solidFill>
                <a:latin typeface="Segoe UI" panose="020B0502040204020203" pitchFamily="34" charset="0"/>
              </a:rPr>
              <a:t>One PCA9685 bus orchestrates all nine actuators.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EBED2A-B401-E9CF-A5C3-8DD7780243E6}"/>
              </a:ext>
            </a:extLst>
          </p:cNvPr>
          <p:cNvSpPr/>
          <p:nvPr/>
        </p:nvSpPr>
        <p:spPr>
          <a:xfrm>
            <a:off x="914400" y="3175000"/>
            <a:ext cx="1905000" cy="889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0288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74DBE-7D28-EA97-6869-E94433516509}"/>
              </a:ext>
            </a:extLst>
          </p:cNvPr>
          <p:cNvSpPr txBox="1"/>
          <p:nvPr/>
        </p:nvSpPr>
        <p:spPr>
          <a:xfrm>
            <a:off x="914400" y="3327400"/>
            <a:ext cx="1905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600">
                <a:solidFill>
                  <a:srgbClr val="0288D1"/>
                </a:solidFill>
                <a:latin typeface="Segoe UI" panose="020B0502040204020203" pitchFamily="34" charset="0"/>
              </a:rPr>
              <a:t>ESP32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70039A8-273D-98A1-7723-756A99C03190}"/>
              </a:ext>
            </a:extLst>
          </p:cNvPr>
          <p:cNvSpPr/>
          <p:nvPr/>
        </p:nvSpPr>
        <p:spPr>
          <a:xfrm>
            <a:off x="3708400" y="3175000"/>
            <a:ext cx="2159000" cy="889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F57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C0B20B-8373-FA6D-55F6-26491E129315}"/>
              </a:ext>
            </a:extLst>
          </p:cNvPr>
          <p:cNvSpPr txBox="1"/>
          <p:nvPr/>
        </p:nvSpPr>
        <p:spPr>
          <a:xfrm>
            <a:off x="3708400" y="3276600"/>
            <a:ext cx="2159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pl-PL" sz="1400">
                <a:solidFill>
                  <a:srgbClr val="F57C00"/>
                </a:solidFill>
                <a:latin typeface="Segoe UI" panose="020B0502040204020203" pitchFamily="34" charset="0"/>
              </a:rPr>
              <a:t>PCA9685
I²C 0x40 · 50 Hz</a:t>
            </a:r>
            <a:endParaRPr lang="en-US" sz="1400">
              <a:solidFill>
                <a:srgbClr val="F57C00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3B96227-4424-9E21-8566-C1F4571CD8C3}"/>
              </a:ext>
            </a:extLst>
          </p:cNvPr>
          <p:cNvSpPr/>
          <p:nvPr/>
        </p:nvSpPr>
        <p:spPr>
          <a:xfrm>
            <a:off x="2844800" y="3479800"/>
            <a:ext cx="838200" cy="279400"/>
          </a:xfrm>
          <a:prstGeom prst="rightArrow">
            <a:avLst/>
          </a:prstGeom>
          <a:solidFill>
            <a:srgbClr val="F57C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F87DE8-8B52-F4B9-EEBC-66CFA3415161}"/>
              </a:ext>
            </a:extLst>
          </p:cNvPr>
          <p:cNvSpPr txBox="1"/>
          <p:nvPr/>
        </p:nvSpPr>
        <p:spPr>
          <a:xfrm>
            <a:off x="2819400" y="3175000"/>
            <a:ext cx="889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000">
                <a:solidFill>
                  <a:srgbClr val="606060"/>
                </a:solidFill>
                <a:latin typeface="Segoe UI" panose="020B0502040204020203" pitchFamily="34" charset="0"/>
              </a:rPr>
              <a:t>400 kHz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7D8DC46-8B4C-4777-A2D3-E8C5B596574E}"/>
              </a:ext>
            </a:extLst>
          </p:cNvPr>
          <p:cNvSpPr/>
          <p:nvPr/>
        </p:nvSpPr>
        <p:spPr>
          <a:xfrm>
            <a:off x="6375400" y="2667000"/>
            <a:ext cx="4064000" cy="5080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57089A-A559-8098-15F4-E6EF53DB40C1}"/>
              </a:ext>
            </a:extLst>
          </p:cNvPr>
          <p:cNvSpPr/>
          <p:nvPr/>
        </p:nvSpPr>
        <p:spPr>
          <a:xfrm>
            <a:off x="6375400" y="2667000"/>
            <a:ext cx="101600" cy="508000"/>
          </a:xfrm>
          <a:prstGeom prst="rect">
            <a:avLst/>
          </a:prstGeom>
          <a:solidFill>
            <a:srgbClr val="D3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45A75A-6CCB-6405-F76B-543A246DC75F}"/>
              </a:ext>
            </a:extLst>
          </p:cNvPr>
          <p:cNvSpPr txBox="1"/>
          <p:nvPr/>
        </p:nvSpPr>
        <p:spPr>
          <a:xfrm>
            <a:off x="6629400" y="2768600"/>
            <a:ext cx="1016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 b="1">
                <a:solidFill>
                  <a:srgbClr val="D32F2F"/>
                </a:solidFill>
                <a:latin typeface="Consolas" panose="020B0609020204030204" pitchFamily="49" charset="0"/>
              </a:rPr>
              <a:t>ch0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9D5DCC-6F33-E831-73EE-7F50934E8495}"/>
              </a:ext>
            </a:extLst>
          </p:cNvPr>
          <p:cNvSpPr txBox="1"/>
          <p:nvPr/>
        </p:nvSpPr>
        <p:spPr>
          <a:xfrm>
            <a:off x="7772400" y="2768600"/>
            <a:ext cx="254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Gas valve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F215E0E-F705-5827-05FE-CE2FAD4CA48B}"/>
              </a:ext>
            </a:extLst>
          </p:cNvPr>
          <p:cNvSpPr/>
          <p:nvPr/>
        </p:nvSpPr>
        <p:spPr>
          <a:xfrm>
            <a:off x="6375400" y="3302000"/>
            <a:ext cx="4064000" cy="5080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01B54B-E7C0-AEBF-F53A-6DBBDE0FC5CC}"/>
              </a:ext>
            </a:extLst>
          </p:cNvPr>
          <p:cNvSpPr/>
          <p:nvPr/>
        </p:nvSpPr>
        <p:spPr>
          <a:xfrm>
            <a:off x="6375400" y="3302000"/>
            <a:ext cx="101600" cy="508000"/>
          </a:xfrm>
          <a:prstGeom prst="rect">
            <a:avLst/>
          </a:prstGeom>
          <a:solidFill>
            <a:srgbClr val="0288D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055E23-C669-0147-3189-82B65B069797}"/>
              </a:ext>
            </a:extLst>
          </p:cNvPr>
          <p:cNvSpPr txBox="1"/>
          <p:nvPr/>
        </p:nvSpPr>
        <p:spPr>
          <a:xfrm>
            <a:off x="6629400" y="3403600"/>
            <a:ext cx="1016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 b="1">
                <a:solidFill>
                  <a:srgbClr val="0288D1"/>
                </a:solidFill>
                <a:latin typeface="Consolas" panose="020B0609020204030204" pitchFamily="49" charset="0"/>
              </a:rPr>
              <a:t>ch1-4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864C2B-F351-4565-D954-8904544216ED}"/>
              </a:ext>
            </a:extLst>
          </p:cNvPr>
          <p:cNvSpPr txBox="1"/>
          <p:nvPr/>
        </p:nvSpPr>
        <p:spPr>
          <a:xfrm>
            <a:off x="7772400" y="3403600"/>
            <a:ext cx="254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Room doors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B388933-3D96-2393-648E-916729F1F473}"/>
              </a:ext>
            </a:extLst>
          </p:cNvPr>
          <p:cNvSpPr/>
          <p:nvPr/>
        </p:nvSpPr>
        <p:spPr>
          <a:xfrm>
            <a:off x="6375400" y="3937000"/>
            <a:ext cx="4064000" cy="5080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D0E892-A249-4EE6-7A05-B861A01FE441}"/>
              </a:ext>
            </a:extLst>
          </p:cNvPr>
          <p:cNvSpPr/>
          <p:nvPr/>
        </p:nvSpPr>
        <p:spPr>
          <a:xfrm>
            <a:off x="6375400" y="3937000"/>
            <a:ext cx="101600" cy="508000"/>
          </a:xfrm>
          <a:prstGeom prst="rect">
            <a:avLst/>
          </a:prstGeom>
          <a:solidFill>
            <a:srgbClr val="F57C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C8AC52-24A4-0207-7421-1AA7836D09EE}"/>
              </a:ext>
            </a:extLst>
          </p:cNvPr>
          <p:cNvSpPr txBox="1"/>
          <p:nvPr/>
        </p:nvSpPr>
        <p:spPr>
          <a:xfrm>
            <a:off x="6629400" y="4038600"/>
            <a:ext cx="1016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 b="1">
                <a:solidFill>
                  <a:srgbClr val="F57C00"/>
                </a:solidFill>
                <a:latin typeface="Consolas" panose="020B0609020204030204" pitchFamily="49" charset="0"/>
              </a:rPr>
              <a:t>ch5-6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AA514B-AB78-AC02-A3E8-69E85294C43B}"/>
              </a:ext>
            </a:extLst>
          </p:cNvPr>
          <p:cNvSpPr txBox="1"/>
          <p:nvPr/>
        </p:nvSpPr>
        <p:spPr>
          <a:xfrm>
            <a:off x="7772400" y="4038600"/>
            <a:ext cx="254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Corridors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58A77E0-3249-32AE-69FE-B1A4B734EC7C}"/>
              </a:ext>
            </a:extLst>
          </p:cNvPr>
          <p:cNvSpPr/>
          <p:nvPr/>
        </p:nvSpPr>
        <p:spPr>
          <a:xfrm>
            <a:off x="6375400" y="4572000"/>
            <a:ext cx="4064000" cy="5080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84A00DB-4FE0-F59E-AC61-F4CC78B755EC}"/>
              </a:ext>
            </a:extLst>
          </p:cNvPr>
          <p:cNvSpPr/>
          <p:nvPr/>
        </p:nvSpPr>
        <p:spPr>
          <a:xfrm>
            <a:off x="6375400" y="4572000"/>
            <a:ext cx="101600" cy="508000"/>
          </a:xfrm>
          <a:prstGeom prst="rect">
            <a:avLst/>
          </a:prstGeom>
          <a:solidFill>
            <a:srgbClr val="0288D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202E61-E28F-484C-92B0-EB4841771E42}"/>
              </a:ext>
            </a:extLst>
          </p:cNvPr>
          <p:cNvSpPr txBox="1"/>
          <p:nvPr/>
        </p:nvSpPr>
        <p:spPr>
          <a:xfrm>
            <a:off x="6629400" y="4673600"/>
            <a:ext cx="1016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 b="1">
                <a:solidFill>
                  <a:srgbClr val="0288D1"/>
                </a:solidFill>
                <a:latin typeface="Consolas" panose="020B0609020204030204" pitchFamily="49" charset="0"/>
              </a:rPr>
              <a:t>ch7-8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84198F-74E3-7DF4-3092-95D22EAA4B31}"/>
              </a:ext>
            </a:extLst>
          </p:cNvPr>
          <p:cNvSpPr txBox="1"/>
          <p:nvPr/>
        </p:nvSpPr>
        <p:spPr>
          <a:xfrm>
            <a:off x="7772400" y="4673600"/>
            <a:ext cx="254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Windows R3/R4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5F9B0A-7EF3-1DF9-F795-AA162EC3FC0C}"/>
              </a:ext>
            </a:extLst>
          </p:cNvPr>
          <p:cNvSpPr txBox="1"/>
          <p:nvPr/>
        </p:nvSpPr>
        <p:spPr>
          <a:xfrm>
            <a:off x="914400" y="4572000"/>
            <a:ext cx="457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1C1C1C"/>
                </a:solidFill>
                <a:latin typeface="Consolas" panose="020B0609020204030204" pitchFamily="49" charset="0"/>
              </a:rPr>
              <a:t>PWM math
  tick = 20 ms / 4096 ≈ 4.88 µs
  0°→180°  =  count 102 → 491</a:t>
            </a:r>
          </a:p>
        </p:txBody>
      </p:sp>
    </p:spTree>
    <p:extLst>
      <p:ext uri="{BB962C8B-B14F-4D97-AF65-F5344CB8AC3E}">
        <p14:creationId xmlns:p14="http://schemas.microsoft.com/office/powerpoint/2010/main" val="2561599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8" grpId="0" animBg="1"/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FF7405-7743-F8B7-CD45-FB8FAB23D638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0288D1"/>
                </a:solidFill>
                <a:latin typeface="Segoe UI" panose="020B0502040204020203" pitchFamily="34" charset="0"/>
              </a:rPr>
              <a:t>CONTROL LAW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2804F5-6355-B863-5B6C-DD1EF7684B77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200" b="1">
                <a:solidFill>
                  <a:srgbClr val="1C1C1C"/>
                </a:solidFill>
                <a:latin typeface="Segoe UI" panose="020B0502040204020203" pitchFamily="34" charset="0"/>
              </a:rPr>
              <a:t>Control is level-driven: outputs are a pure function of the present state.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3EFDC4F-D1DD-E3BE-7086-B20E63244D43}"/>
              </a:ext>
            </a:extLst>
          </p:cNvPr>
          <p:cNvSpPr/>
          <p:nvPr/>
        </p:nvSpPr>
        <p:spPr>
          <a:xfrm>
            <a:off x="914400" y="3556000"/>
            <a:ext cx="1905000" cy="762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0288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3C60D5-5620-C132-589F-F52D052F2226}"/>
              </a:ext>
            </a:extLst>
          </p:cNvPr>
          <p:cNvSpPr txBox="1"/>
          <p:nvPr/>
        </p:nvSpPr>
        <p:spPr>
          <a:xfrm>
            <a:off x="914400" y="3632200"/>
            <a:ext cx="1905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1C1C1C"/>
                </a:solidFill>
                <a:latin typeface="Segoe UI" panose="020B0502040204020203" pitchFamily="34" charset="0"/>
              </a:rPr>
              <a:t>Read sensors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4ADC655-89AC-5D4A-4C31-A7B9A913B29F}"/>
              </a:ext>
            </a:extLst>
          </p:cNvPr>
          <p:cNvSpPr/>
          <p:nvPr/>
        </p:nvSpPr>
        <p:spPr>
          <a:xfrm>
            <a:off x="3175000" y="3556000"/>
            <a:ext cx="1905000" cy="762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F57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E70725-70F9-A6E9-FE30-A7D25B4BED4A}"/>
              </a:ext>
            </a:extLst>
          </p:cNvPr>
          <p:cNvSpPr txBox="1"/>
          <p:nvPr/>
        </p:nvSpPr>
        <p:spPr>
          <a:xfrm>
            <a:off x="3175000" y="3632200"/>
            <a:ext cx="1905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1C1C1C"/>
                </a:solidFill>
                <a:latin typeface="Consolas" panose="020B0609020204030204" pitchFamily="49" charset="0"/>
              </a:rPr>
              <a:t>evaluateZones()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6ED9981-CFB7-7996-3846-6B4258E464C4}"/>
              </a:ext>
            </a:extLst>
          </p:cNvPr>
          <p:cNvSpPr/>
          <p:nvPr/>
        </p:nvSpPr>
        <p:spPr>
          <a:xfrm>
            <a:off x="2819400" y="3835400"/>
            <a:ext cx="330200" cy="203200"/>
          </a:xfrm>
          <a:prstGeom prst="rightArrow">
            <a:avLst/>
          </a:prstGeom>
          <a:solidFill>
            <a:srgbClr val="606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6D5FC0-3BB8-6470-EB58-43CB5FCBA338}"/>
              </a:ext>
            </a:extLst>
          </p:cNvPr>
          <p:cNvSpPr/>
          <p:nvPr/>
        </p:nvSpPr>
        <p:spPr>
          <a:xfrm>
            <a:off x="5435600" y="3556000"/>
            <a:ext cx="1905000" cy="762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F57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16F6DC-82F5-BF55-A91B-AB5C4817F7FC}"/>
              </a:ext>
            </a:extLst>
          </p:cNvPr>
          <p:cNvSpPr txBox="1"/>
          <p:nvPr/>
        </p:nvSpPr>
        <p:spPr>
          <a:xfrm>
            <a:off x="5435600" y="3632200"/>
            <a:ext cx="1905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1C1C1C"/>
                </a:solidFill>
                <a:latin typeface="Segoe UI" panose="020B0502040204020203" pitchFamily="34" charset="0"/>
              </a:rPr>
              <a:t>ZoneCommand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7477DCB-C590-2B15-A971-41D814648D24}"/>
              </a:ext>
            </a:extLst>
          </p:cNvPr>
          <p:cNvSpPr/>
          <p:nvPr/>
        </p:nvSpPr>
        <p:spPr>
          <a:xfrm>
            <a:off x="5080000" y="3835400"/>
            <a:ext cx="330200" cy="203200"/>
          </a:xfrm>
          <a:prstGeom prst="rightArrow">
            <a:avLst/>
          </a:prstGeom>
          <a:solidFill>
            <a:srgbClr val="606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92DE6C-2EE1-23DC-9E15-979813F5BDAE}"/>
              </a:ext>
            </a:extLst>
          </p:cNvPr>
          <p:cNvSpPr/>
          <p:nvPr/>
        </p:nvSpPr>
        <p:spPr>
          <a:xfrm>
            <a:off x="7696200" y="3556000"/>
            <a:ext cx="1905000" cy="762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D32F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7706DE-E5C8-354F-EC28-4DDAC8464119}"/>
              </a:ext>
            </a:extLst>
          </p:cNvPr>
          <p:cNvSpPr txBox="1"/>
          <p:nvPr/>
        </p:nvSpPr>
        <p:spPr>
          <a:xfrm>
            <a:off x="7696200" y="3632200"/>
            <a:ext cx="1905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1C1C1C"/>
                </a:solidFill>
                <a:latin typeface="Consolas" panose="020B0609020204030204" pitchFamily="49" charset="0"/>
              </a:rPr>
              <a:t>memcmp gate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87BDA84-981D-16D8-9608-1521F6D036D8}"/>
              </a:ext>
            </a:extLst>
          </p:cNvPr>
          <p:cNvSpPr/>
          <p:nvPr/>
        </p:nvSpPr>
        <p:spPr>
          <a:xfrm>
            <a:off x="7340600" y="3835400"/>
            <a:ext cx="330200" cy="203200"/>
          </a:xfrm>
          <a:prstGeom prst="rightArrow">
            <a:avLst/>
          </a:prstGeom>
          <a:solidFill>
            <a:srgbClr val="606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645A7A3-FD39-0042-CEAA-E32AC667B7BF}"/>
              </a:ext>
            </a:extLst>
          </p:cNvPr>
          <p:cNvSpPr/>
          <p:nvPr/>
        </p:nvSpPr>
        <p:spPr>
          <a:xfrm>
            <a:off x="9956800" y="3556000"/>
            <a:ext cx="1905000" cy="762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0288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F1656F-A98D-AC1D-0B64-FA7D5AABD03A}"/>
              </a:ext>
            </a:extLst>
          </p:cNvPr>
          <p:cNvSpPr txBox="1"/>
          <p:nvPr/>
        </p:nvSpPr>
        <p:spPr>
          <a:xfrm>
            <a:off x="9956800" y="3632200"/>
            <a:ext cx="1905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1C1C1C"/>
                </a:solidFill>
                <a:latin typeface="Consolas" panose="020B0609020204030204" pitchFamily="49" charset="0"/>
              </a:rPr>
              <a:t>apply / skip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53A8C008-D5FE-D2E1-FE89-1DCC523AE647}"/>
              </a:ext>
            </a:extLst>
          </p:cNvPr>
          <p:cNvSpPr/>
          <p:nvPr/>
        </p:nvSpPr>
        <p:spPr>
          <a:xfrm>
            <a:off x="9601200" y="3835400"/>
            <a:ext cx="330200" cy="203200"/>
          </a:xfrm>
          <a:prstGeom prst="rightArrow">
            <a:avLst/>
          </a:prstGeom>
          <a:solidFill>
            <a:srgbClr val="606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ACC9D5-B4A7-4275-F1E5-8731B55FFDD4}"/>
              </a:ext>
            </a:extLst>
          </p:cNvPr>
          <p:cNvSpPr txBox="1"/>
          <p:nvPr/>
        </p:nvSpPr>
        <p:spPr>
          <a:xfrm>
            <a:off x="914400" y="4572000"/>
            <a:ext cx="103632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606060"/>
                </a:solidFill>
                <a:latin typeface="Segoe UI" panose="020B0502040204020203" pitchFamily="34" charset="0"/>
              </a:rPr>
              <a:t>Hardware is written only when the recomputed command differs from the last applied command.</a:t>
            </a:r>
          </a:p>
        </p:txBody>
      </p:sp>
    </p:spTree>
    <p:extLst>
      <p:ext uri="{BB962C8B-B14F-4D97-AF65-F5344CB8AC3E}">
        <p14:creationId xmlns:p14="http://schemas.microsoft.com/office/powerpoint/2010/main" val="1619959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  <p:bldP spid="12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AC6249-156A-042D-774E-02795825FC40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0288D1"/>
                </a:solidFill>
                <a:latin typeface="Segoe UI" panose="020B0502040204020203" pitchFamily="34" charset="0"/>
              </a:rPr>
              <a:t>ZONAL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D52D29-08B8-BF30-872C-6AFAE6ACCBEC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300" b="1">
                <a:solidFill>
                  <a:srgbClr val="1C1C1C"/>
                </a:solidFill>
                <a:latin typeface="Segoe UI" panose="020B0502040204020203" pitchFamily="34" charset="0"/>
              </a:rPr>
              <a:t>Each room decides for itself: the zonal evaluation matrix.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12E016-A044-AEFA-0A9B-399B7BF230F7}"/>
              </a:ext>
            </a:extLst>
          </p:cNvPr>
          <p:cNvSpPr txBox="1"/>
          <p:nvPr/>
        </p:nvSpPr>
        <p:spPr>
          <a:xfrm>
            <a:off x="914400" y="2235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600" b="1">
                <a:solidFill>
                  <a:srgbClr val="1C1C1C"/>
                </a:solidFill>
                <a:latin typeface="Consolas" panose="020B0609020204030204" pitchFamily="49" charset="0"/>
              </a:rPr>
              <a:t>Fireᵣ  =  Buttonᵣ   ∨   ( gasᵣ &gt; 2000  ∧  warm 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8E833B-F7AF-B335-AA41-2BEA4E2E3A49}"/>
              </a:ext>
            </a:extLst>
          </p:cNvPr>
          <p:cNvSpPr/>
          <p:nvPr/>
        </p:nvSpPr>
        <p:spPr>
          <a:xfrm>
            <a:off x="914400" y="2794000"/>
            <a:ext cx="1905000" cy="558800"/>
          </a:xfrm>
          <a:prstGeom prst="rect">
            <a:avLst/>
          </a:prstGeom>
          <a:solidFill>
            <a:srgbClr val="1C1C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CE89C-47A6-B58E-BD2B-A1762C25A51D}"/>
              </a:ext>
            </a:extLst>
          </p:cNvPr>
          <p:cNvSpPr txBox="1"/>
          <p:nvPr/>
        </p:nvSpPr>
        <p:spPr>
          <a:xfrm>
            <a:off x="914400" y="2870200"/>
            <a:ext cx="1905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Room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593A3A-731A-DAD3-54F6-E932D90EE1F1}"/>
              </a:ext>
            </a:extLst>
          </p:cNvPr>
          <p:cNvSpPr/>
          <p:nvPr/>
        </p:nvSpPr>
        <p:spPr>
          <a:xfrm>
            <a:off x="2819400" y="2794000"/>
            <a:ext cx="1905000" cy="558800"/>
          </a:xfrm>
          <a:prstGeom prst="rect">
            <a:avLst/>
          </a:prstGeom>
          <a:solidFill>
            <a:srgbClr val="1C1C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EA4809-4EA3-794F-1615-927D161FA86B}"/>
              </a:ext>
            </a:extLst>
          </p:cNvPr>
          <p:cNvSpPr txBox="1"/>
          <p:nvPr/>
        </p:nvSpPr>
        <p:spPr>
          <a:xfrm>
            <a:off x="2819400" y="2870200"/>
            <a:ext cx="1905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Button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D5543E-D5E2-E9A2-40D8-0C34B5948191}"/>
              </a:ext>
            </a:extLst>
          </p:cNvPr>
          <p:cNvSpPr/>
          <p:nvPr/>
        </p:nvSpPr>
        <p:spPr>
          <a:xfrm>
            <a:off x="4724400" y="2794000"/>
            <a:ext cx="2540000" cy="558800"/>
          </a:xfrm>
          <a:prstGeom prst="rect">
            <a:avLst/>
          </a:prstGeom>
          <a:solidFill>
            <a:srgbClr val="1C1C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31766D-167D-2752-D88F-AE6A98618054}"/>
              </a:ext>
            </a:extLst>
          </p:cNvPr>
          <p:cNvSpPr txBox="1"/>
          <p:nvPr/>
        </p:nvSpPr>
        <p:spPr>
          <a:xfrm>
            <a:off x="4724400" y="2870200"/>
            <a:ext cx="2540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Gas &gt; 2000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A8BFED-4EE3-5B9C-942F-B2B9D969D652}"/>
              </a:ext>
            </a:extLst>
          </p:cNvPr>
          <p:cNvSpPr/>
          <p:nvPr/>
        </p:nvSpPr>
        <p:spPr>
          <a:xfrm>
            <a:off x="7264400" y="2794000"/>
            <a:ext cx="1905000" cy="558800"/>
          </a:xfrm>
          <a:prstGeom prst="rect">
            <a:avLst/>
          </a:prstGeom>
          <a:solidFill>
            <a:srgbClr val="0288D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E8A569-15CD-B264-86C0-069A591ACD57}"/>
              </a:ext>
            </a:extLst>
          </p:cNvPr>
          <p:cNvSpPr txBox="1"/>
          <p:nvPr/>
        </p:nvSpPr>
        <p:spPr>
          <a:xfrm>
            <a:off x="7264400" y="2870200"/>
            <a:ext cx="1905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⇒ Fire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5CCC8E-4C0F-1BB5-D2F0-4B92C01A01B1}"/>
              </a:ext>
            </a:extLst>
          </p:cNvPr>
          <p:cNvSpPr/>
          <p:nvPr/>
        </p:nvSpPr>
        <p:spPr>
          <a:xfrm>
            <a:off x="914400" y="3352800"/>
            <a:ext cx="1905000" cy="5588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E3009D-0289-BA42-542A-828537C21724}"/>
              </a:ext>
            </a:extLst>
          </p:cNvPr>
          <p:cNvSpPr txBox="1"/>
          <p:nvPr/>
        </p:nvSpPr>
        <p:spPr>
          <a:xfrm>
            <a:off x="914400" y="3429000"/>
            <a:ext cx="1905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>
                <a:solidFill>
                  <a:srgbClr val="1C1C1C"/>
                </a:solidFill>
                <a:latin typeface="Consolas" panose="020B0609020204030204" pitchFamily="49" charset="0"/>
              </a:rPr>
              <a:t>Room 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4A8F8E-7A64-5B55-32E5-892F19216A25}"/>
              </a:ext>
            </a:extLst>
          </p:cNvPr>
          <p:cNvSpPr/>
          <p:nvPr/>
        </p:nvSpPr>
        <p:spPr>
          <a:xfrm>
            <a:off x="2819400" y="3352800"/>
            <a:ext cx="1905000" cy="5588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BA2769-AE6E-5778-1257-D493F31E7D09}"/>
              </a:ext>
            </a:extLst>
          </p:cNvPr>
          <p:cNvSpPr txBox="1"/>
          <p:nvPr/>
        </p:nvSpPr>
        <p:spPr>
          <a:xfrm>
            <a:off x="2819400" y="3429000"/>
            <a:ext cx="1905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>
                <a:solidFill>
                  <a:srgbClr val="1C1C1C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3B685F-6B92-1D42-AAD9-1A17A8B8F3BE}"/>
              </a:ext>
            </a:extLst>
          </p:cNvPr>
          <p:cNvSpPr/>
          <p:nvPr/>
        </p:nvSpPr>
        <p:spPr>
          <a:xfrm>
            <a:off x="4724400" y="3352800"/>
            <a:ext cx="2540000" cy="5588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9BC8A7-FF60-DB8E-C17A-58C20F18C69A}"/>
              </a:ext>
            </a:extLst>
          </p:cNvPr>
          <p:cNvSpPr txBox="1"/>
          <p:nvPr/>
        </p:nvSpPr>
        <p:spPr>
          <a:xfrm>
            <a:off x="4724400" y="3429000"/>
            <a:ext cx="2540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>
                <a:solidFill>
                  <a:srgbClr val="1C1C1C"/>
                </a:solidFill>
                <a:latin typeface="Consolas" panose="020B0609020204030204" pitchFamily="49" charset="0"/>
              </a:rPr>
              <a:t>512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86FBEED-543B-B364-5DDD-3CD2AA564931}"/>
              </a:ext>
            </a:extLst>
          </p:cNvPr>
          <p:cNvSpPr/>
          <p:nvPr/>
        </p:nvSpPr>
        <p:spPr>
          <a:xfrm>
            <a:off x="7264400" y="3352800"/>
            <a:ext cx="1905000" cy="5588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C29CB8-9373-4B16-EA81-FB0AC4DA840E}"/>
              </a:ext>
            </a:extLst>
          </p:cNvPr>
          <p:cNvSpPr txBox="1"/>
          <p:nvPr/>
        </p:nvSpPr>
        <p:spPr>
          <a:xfrm>
            <a:off x="7264400" y="3429000"/>
            <a:ext cx="1905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>
                <a:solidFill>
                  <a:srgbClr val="1C1C1C"/>
                </a:solidFill>
                <a:latin typeface="Consolas" panose="020B0609020204030204" pitchFamily="49" charset="0"/>
              </a:rPr>
              <a:t>—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17B447-EE97-A774-0A51-D788804A3415}"/>
              </a:ext>
            </a:extLst>
          </p:cNvPr>
          <p:cNvSpPr/>
          <p:nvPr/>
        </p:nvSpPr>
        <p:spPr>
          <a:xfrm>
            <a:off x="914400" y="3911600"/>
            <a:ext cx="1905000" cy="5588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A42851-0224-786D-9C87-286A4B667551}"/>
              </a:ext>
            </a:extLst>
          </p:cNvPr>
          <p:cNvSpPr txBox="1"/>
          <p:nvPr/>
        </p:nvSpPr>
        <p:spPr>
          <a:xfrm>
            <a:off x="914400" y="3987800"/>
            <a:ext cx="1905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>
                <a:solidFill>
                  <a:srgbClr val="1C1C1C"/>
                </a:solidFill>
                <a:latin typeface="Consolas" panose="020B0609020204030204" pitchFamily="49" charset="0"/>
              </a:rPr>
              <a:t>Room 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39AC92-B030-0C5C-D7B1-6DE3C35702B0}"/>
              </a:ext>
            </a:extLst>
          </p:cNvPr>
          <p:cNvSpPr/>
          <p:nvPr/>
        </p:nvSpPr>
        <p:spPr>
          <a:xfrm>
            <a:off x="2819400" y="3911600"/>
            <a:ext cx="1905000" cy="5588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508A21-F37C-D7DE-45A2-35DC0603EEDB}"/>
              </a:ext>
            </a:extLst>
          </p:cNvPr>
          <p:cNvSpPr txBox="1"/>
          <p:nvPr/>
        </p:nvSpPr>
        <p:spPr>
          <a:xfrm>
            <a:off x="2819400" y="3987800"/>
            <a:ext cx="1905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>
                <a:solidFill>
                  <a:srgbClr val="1C1C1C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EAC14D-FE1B-780B-E546-47C1EB6FAEC4}"/>
              </a:ext>
            </a:extLst>
          </p:cNvPr>
          <p:cNvSpPr/>
          <p:nvPr/>
        </p:nvSpPr>
        <p:spPr>
          <a:xfrm>
            <a:off x="4724400" y="3911600"/>
            <a:ext cx="2540000" cy="5588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480204-EA0F-2317-CC92-75FA787E7450}"/>
              </a:ext>
            </a:extLst>
          </p:cNvPr>
          <p:cNvSpPr txBox="1"/>
          <p:nvPr/>
        </p:nvSpPr>
        <p:spPr>
          <a:xfrm>
            <a:off x="4724400" y="3987800"/>
            <a:ext cx="2540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>
                <a:solidFill>
                  <a:srgbClr val="1C1C1C"/>
                </a:solidFill>
                <a:latin typeface="Consolas" panose="020B0609020204030204" pitchFamily="49" charset="0"/>
              </a:rPr>
              <a:t>480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6E9E8D-5C95-C086-599F-C44620281F18}"/>
              </a:ext>
            </a:extLst>
          </p:cNvPr>
          <p:cNvSpPr/>
          <p:nvPr/>
        </p:nvSpPr>
        <p:spPr>
          <a:xfrm>
            <a:off x="7264400" y="3911600"/>
            <a:ext cx="1905000" cy="5588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F1EE8D-CE45-793C-099B-E85045A2008D}"/>
              </a:ext>
            </a:extLst>
          </p:cNvPr>
          <p:cNvSpPr txBox="1"/>
          <p:nvPr/>
        </p:nvSpPr>
        <p:spPr>
          <a:xfrm>
            <a:off x="7264400" y="3987800"/>
            <a:ext cx="1905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>
                <a:solidFill>
                  <a:srgbClr val="1C1C1C"/>
                </a:solidFill>
                <a:latin typeface="Consolas" panose="020B0609020204030204" pitchFamily="49" charset="0"/>
              </a:rPr>
              <a:t>—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4F6692-492C-D107-72AE-AC389C626381}"/>
              </a:ext>
            </a:extLst>
          </p:cNvPr>
          <p:cNvSpPr/>
          <p:nvPr/>
        </p:nvSpPr>
        <p:spPr>
          <a:xfrm>
            <a:off x="914400" y="4470400"/>
            <a:ext cx="1905000" cy="5588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169F7F-1247-3D9B-4E9B-1497834ABE2D}"/>
              </a:ext>
            </a:extLst>
          </p:cNvPr>
          <p:cNvSpPr txBox="1"/>
          <p:nvPr/>
        </p:nvSpPr>
        <p:spPr>
          <a:xfrm>
            <a:off x="914400" y="4546600"/>
            <a:ext cx="1905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>
                <a:solidFill>
                  <a:srgbClr val="1C1C1C"/>
                </a:solidFill>
                <a:latin typeface="Consolas" panose="020B0609020204030204" pitchFamily="49" charset="0"/>
              </a:rPr>
              <a:t>Room 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CCDF96E-2128-C713-90C4-CCCD5C559E1E}"/>
              </a:ext>
            </a:extLst>
          </p:cNvPr>
          <p:cNvSpPr/>
          <p:nvPr/>
        </p:nvSpPr>
        <p:spPr>
          <a:xfrm>
            <a:off x="2819400" y="4470400"/>
            <a:ext cx="1905000" cy="5588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3FC47E-3F9A-16D0-1767-02A33896A10C}"/>
              </a:ext>
            </a:extLst>
          </p:cNvPr>
          <p:cNvSpPr txBox="1"/>
          <p:nvPr/>
        </p:nvSpPr>
        <p:spPr>
          <a:xfrm>
            <a:off x="2819400" y="4546600"/>
            <a:ext cx="1905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>
                <a:solidFill>
                  <a:srgbClr val="1C1C1C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E97A35B-07E4-54C9-6A95-AE09F5FCD8AB}"/>
              </a:ext>
            </a:extLst>
          </p:cNvPr>
          <p:cNvSpPr/>
          <p:nvPr/>
        </p:nvSpPr>
        <p:spPr>
          <a:xfrm>
            <a:off x="4724400" y="4470400"/>
            <a:ext cx="2540000" cy="5588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CE0A8F-04BC-22B2-7C6C-2F65D10A56C1}"/>
              </a:ext>
            </a:extLst>
          </p:cNvPr>
          <p:cNvSpPr txBox="1"/>
          <p:nvPr/>
        </p:nvSpPr>
        <p:spPr>
          <a:xfrm>
            <a:off x="4724400" y="4546600"/>
            <a:ext cx="2540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>
                <a:solidFill>
                  <a:srgbClr val="1C1C1C"/>
                </a:solidFill>
                <a:latin typeface="Consolas" panose="020B0609020204030204" pitchFamily="49" charset="0"/>
              </a:rPr>
              <a:t>2150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29A992-7ED3-138D-E88E-F9421CED7205}"/>
              </a:ext>
            </a:extLst>
          </p:cNvPr>
          <p:cNvSpPr/>
          <p:nvPr/>
        </p:nvSpPr>
        <p:spPr>
          <a:xfrm>
            <a:off x="7264400" y="4470400"/>
            <a:ext cx="1905000" cy="5588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951C8B-E6CD-FFC4-A5E9-A8CD577C0898}"/>
              </a:ext>
            </a:extLst>
          </p:cNvPr>
          <p:cNvSpPr txBox="1"/>
          <p:nvPr/>
        </p:nvSpPr>
        <p:spPr>
          <a:xfrm>
            <a:off x="7264400" y="4546600"/>
            <a:ext cx="1905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D32F2F"/>
                </a:solidFill>
                <a:latin typeface="Consolas" panose="020B0609020204030204" pitchFamily="49" charset="0"/>
              </a:rPr>
              <a:t>FIRE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1939018-F1CA-116A-F037-63F83DDD78A3}"/>
              </a:ext>
            </a:extLst>
          </p:cNvPr>
          <p:cNvSpPr/>
          <p:nvPr/>
        </p:nvSpPr>
        <p:spPr>
          <a:xfrm>
            <a:off x="914400" y="5029200"/>
            <a:ext cx="1905000" cy="5588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88FE40-1E30-373E-1617-232FEC38A589}"/>
              </a:ext>
            </a:extLst>
          </p:cNvPr>
          <p:cNvSpPr txBox="1"/>
          <p:nvPr/>
        </p:nvSpPr>
        <p:spPr>
          <a:xfrm>
            <a:off x="914400" y="5105400"/>
            <a:ext cx="1905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>
                <a:solidFill>
                  <a:srgbClr val="1C1C1C"/>
                </a:solidFill>
                <a:latin typeface="Consolas" panose="020B0609020204030204" pitchFamily="49" charset="0"/>
              </a:rPr>
              <a:t>Room 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C4DC04-AB83-A674-0C1C-E9419DD7377C}"/>
              </a:ext>
            </a:extLst>
          </p:cNvPr>
          <p:cNvSpPr/>
          <p:nvPr/>
        </p:nvSpPr>
        <p:spPr>
          <a:xfrm>
            <a:off x="2819400" y="5029200"/>
            <a:ext cx="1905000" cy="5588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6BC01C-514D-73CF-C3B4-40DC721FE380}"/>
              </a:ext>
            </a:extLst>
          </p:cNvPr>
          <p:cNvSpPr txBox="1"/>
          <p:nvPr/>
        </p:nvSpPr>
        <p:spPr>
          <a:xfrm>
            <a:off x="2819400" y="5105400"/>
            <a:ext cx="1905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>
                <a:solidFill>
                  <a:srgbClr val="1C1C1C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22E6353-EE08-2BF7-E3A4-69303EC320FA}"/>
              </a:ext>
            </a:extLst>
          </p:cNvPr>
          <p:cNvSpPr/>
          <p:nvPr/>
        </p:nvSpPr>
        <p:spPr>
          <a:xfrm>
            <a:off x="4724400" y="5029200"/>
            <a:ext cx="2540000" cy="5588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1155A6-66A0-78E4-3F78-12E50C28BBC1}"/>
              </a:ext>
            </a:extLst>
          </p:cNvPr>
          <p:cNvSpPr txBox="1"/>
          <p:nvPr/>
        </p:nvSpPr>
        <p:spPr>
          <a:xfrm>
            <a:off x="4724400" y="5105400"/>
            <a:ext cx="2540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>
                <a:solidFill>
                  <a:srgbClr val="1C1C1C"/>
                </a:solidFill>
                <a:latin typeface="Consolas" panose="020B0609020204030204" pitchFamily="49" charset="0"/>
              </a:rPr>
              <a:t>470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7E30F99-6B96-F64C-0604-DC9257A021ED}"/>
              </a:ext>
            </a:extLst>
          </p:cNvPr>
          <p:cNvSpPr/>
          <p:nvPr/>
        </p:nvSpPr>
        <p:spPr>
          <a:xfrm>
            <a:off x="7264400" y="5029200"/>
            <a:ext cx="1905000" cy="5588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DA4B5E-C8F9-D2F8-396D-4A96343BF055}"/>
              </a:ext>
            </a:extLst>
          </p:cNvPr>
          <p:cNvSpPr txBox="1"/>
          <p:nvPr/>
        </p:nvSpPr>
        <p:spPr>
          <a:xfrm>
            <a:off x="7264400" y="5105400"/>
            <a:ext cx="1905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D32F2F"/>
                </a:solidFill>
                <a:latin typeface="Consolas" panose="020B0609020204030204" pitchFamily="49" charset="0"/>
              </a:rPr>
              <a:t>FIRE</a:t>
            </a:r>
          </a:p>
        </p:txBody>
      </p:sp>
    </p:spTree>
    <p:extLst>
      <p:ext uri="{BB962C8B-B14F-4D97-AF65-F5344CB8AC3E}">
        <p14:creationId xmlns:p14="http://schemas.microsoft.com/office/powerpoint/2010/main" val="3240344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/>
      </p:transition>
    </mc:Choice>
    <mc:Fallback xmlns="">
      <p:transition spd="med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900" fill="hold"/>
                                        <p:tgtEl>
                                          <p:spTgt spid="3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900" fill="hold"/>
                                        <p:tgtEl>
                                          <p:spTgt spid="4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440209-0B0C-3A1B-9740-88F9389A1B1E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D32F2F"/>
                </a:solidFill>
                <a:latin typeface="Segoe UI" panose="020B0502040204020203" pitchFamily="34" charset="0"/>
              </a:rPr>
              <a:t>GLOBAL OVERRIDES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771BD2-586E-930C-4CDD-4AC7E2F98E5F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300" b="1">
                <a:solidFill>
                  <a:srgbClr val="1C1C1C"/>
                </a:solidFill>
                <a:latin typeface="Segoe UI" panose="020B0502040204020203" pitchFamily="34" charset="0"/>
              </a:rPr>
              <a:t>Two global overrides escalate the whole structure instantly.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C0090F-BC68-85AF-0035-B6BC9FBCEB89}"/>
              </a:ext>
            </a:extLst>
          </p:cNvPr>
          <p:cNvSpPr/>
          <p:nvPr/>
        </p:nvSpPr>
        <p:spPr>
          <a:xfrm>
            <a:off x="914400" y="2794000"/>
            <a:ext cx="2921000" cy="762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D32F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C0779-D6F6-DE6A-1A55-D77338AF67BA}"/>
              </a:ext>
            </a:extLst>
          </p:cNvPr>
          <p:cNvSpPr txBox="1"/>
          <p:nvPr/>
        </p:nvSpPr>
        <p:spPr>
          <a:xfrm>
            <a:off x="914400" y="2946400"/>
            <a:ext cx="2921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400">
                <a:solidFill>
                  <a:srgbClr val="D32F2F"/>
                </a:solidFill>
                <a:latin typeface="Segoe UI" panose="020B0502040204020203" pitchFamily="34" charset="0"/>
              </a:rPr>
              <a:t>IR flame  (active-LOW)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47D92BF-D33C-AB78-4861-0BCF845E5A96}"/>
              </a:ext>
            </a:extLst>
          </p:cNvPr>
          <p:cNvSpPr/>
          <p:nvPr/>
        </p:nvSpPr>
        <p:spPr>
          <a:xfrm>
            <a:off x="914400" y="3810000"/>
            <a:ext cx="2921000" cy="762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D32F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313B3D-FA64-1145-F40F-23F6DCEC1342}"/>
              </a:ext>
            </a:extLst>
          </p:cNvPr>
          <p:cNvSpPr txBox="1"/>
          <p:nvPr/>
        </p:nvSpPr>
        <p:spPr>
          <a:xfrm>
            <a:off x="914400" y="3962400"/>
            <a:ext cx="2921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400">
                <a:solidFill>
                  <a:srgbClr val="D32F2F"/>
                </a:solidFill>
                <a:latin typeface="Consolas" panose="020B0609020204030204" pitchFamily="49" charset="0"/>
              </a:rPr>
              <a:t>MQTT  state = "FIRE"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2C2C7C5-5BC5-9723-6405-CB79DE62E26E}"/>
              </a:ext>
            </a:extLst>
          </p:cNvPr>
          <p:cNvSpPr/>
          <p:nvPr/>
        </p:nvSpPr>
        <p:spPr>
          <a:xfrm>
            <a:off x="4572000" y="3175000"/>
            <a:ext cx="1143000" cy="1143000"/>
          </a:xfrm>
          <a:prstGeom prst="ellipse">
            <a:avLst/>
          </a:prstGeom>
          <a:solidFill>
            <a:srgbClr val="EDEDED"/>
          </a:solidFill>
          <a:ln w="25400">
            <a:solidFill>
              <a:srgbClr val="1C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691C7-E0AD-8B1E-49C4-065E3EB474B2}"/>
              </a:ext>
            </a:extLst>
          </p:cNvPr>
          <p:cNvSpPr txBox="1"/>
          <p:nvPr/>
        </p:nvSpPr>
        <p:spPr>
          <a:xfrm>
            <a:off x="4572000" y="3556000"/>
            <a:ext cx="1143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2000" b="1">
                <a:solidFill>
                  <a:srgbClr val="1C1C1C"/>
                </a:solidFill>
                <a:latin typeface="Segoe UI" panose="020B0502040204020203" pitchFamily="34" charset="0"/>
              </a:rPr>
              <a:t>OR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78220D4-74DD-41FF-C9A8-687C65429568}"/>
              </a:ext>
            </a:extLst>
          </p:cNvPr>
          <p:cNvSpPr/>
          <p:nvPr/>
        </p:nvSpPr>
        <p:spPr>
          <a:xfrm>
            <a:off x="3429000" y="3048000"/>
            <a:ext cx="1066800" cy="254000"/>
          </a:xfrm>
          <a:prstGeom prst="rightArrow">
            <a:avLst/>
          </a:prstGeom>
          <a:solidFill>
            <a:srgbClr val="606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0C2D225-ABE8-B6F5-1C7E-BB2580C6A014}"/>
              </a:ext>
            </a:extLst>
          </p:cNvPr>
          <p:cNvSpPr/>
          <p:nvPr/>
        </p:nvSpPr>
        <p:spPr>
          <a:xfrm>
            <a:off x="3429000" y="4064000"/>
            <a:ext cx="1066800" cy="254000"/>
          </a:xfrm>
          <a:prstGeom prst="rightArrow">
            <a:avLst/>
          </a:prstGeom>
          <a:solidFill>
            <a:srgbClr val="606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88872394-85D4-875F-43F3-988770173AD1}"/>
              </a:ext>
            </a:extLst>
          </p:cNvPr>
          <p:cNvSpPr/>
          <p:nvPr/>
        </p:nvSpPr>
        <p:spPr>
          <a:xfrm>
            <a:off x="5740400" y="3632200"/>
            <a:ext cx="762000" cy="254000"/>
          </a:xfrm>
          <a:prstGeom prst="rightArrow">
            <a:avLst/>
          </a:prstGeom>
          <a:solidFill>
            <a:srgbClr val="D3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AE25523-C48C-51BC-6D14-66ED9C375DA7}"/>
              </a:ext>
            </a:extLst>
          </p:cNvPr>
          <p:cNvSpPr/>
          <p:nvPr/>
        </p:nvSpPr>
        <p:spPr>
          <a:xfrm>
            <a:off x="6858000" y="3175000"/>
            <a:ext cx="1498600" cy="6096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D32F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CE13C8-0BD0-3716-DF59-597C8B211F05}"/>
              </a:ext>
            </a:extLst>
          </p:cNvPr>
          <p:cNvSpPr txBox="1"/>
          <p:nvPr/>
        </p:nvSpPr>
        <p:spPr>
          <a:xfrm>
            <a:off x="6858000" y="3327400"/>
            <a:ext cx="1498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>
                <a:solidFill>
                  <a:srgbClr val="D32F2F"/>
                </a:solidFill>
                <a:latin typeface="Segoe UI" panose="020B0502040204020203" pitchFamily="34" charset="0"/>
              </a:rPr>
              <a:t>Room 1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364F0DB-B8A7-1695-D5BC-A2E435C53C2A}"/>
              </a:ext>
            </a:extLst>
          </p:cNvPr>
          <p:cNvSpPr/>
          <p:nvPr/>
        </p:nvSpPr>
        <p:spPr>
          <a:xfrm>
            <a:off x="8509000" y="3175000"/>
            <a:ext cx="1498600" cy="6096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D32F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30105E-78FF-F003-1D87-7A67EB44299F}"/>
              </a:ext>
            </a:extLst>
          </p:cNvPr>
          <p:cNvSpPr txBox="1"/>
          <p:nvPr/>
        </p:nvSpPr>
        <p:spPr>
          <a:xfrm>
            <a:off x="8509000" y="3327400"/>
            <a:ext cx="1498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>
                <a:solidFill>
                  <a:srgbClr val="D32F2F"/>
                </a:solidFill>
                <a:latin typeface="Segoe UI" panose="020B0502040204020203" pitchFamily="34" charset="0"/>
              </a:rPr>
              <a:t>Room 2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1363251-7796-5D57-1726-35BE8F628CBA}"/>
              </a:ext>
            </a:extLst>
          </p:cNvPr>
          <p:cNvSpPr/>
          <p:nvPr/>
        </p:nvSpPr>
        <p:spPr>
          <a:xfrm>
            <a:off x="6858000" y="3937000"/>
            <a:ext cx="1498600" cy="6096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D32F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CFB346-29BD-2517-3026-1EC9E3FFA51D}"/>
              </a:ext>
            </a:extLst>
          </p:cNvPr>
          <p:cNvSpPr txBox="1"/>
          <p:nvPr/>
        </p:nvSpPr>
        <p:spPr>
          <a:xfrm>
            <a:off x="6858000" y="4089400"/>
            <a:ext cx="1498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>
                <a:solidFill>
                  <a:srgbClr val="D32F2F"/>
                </a:solidFill>
                <a:latin typeface="Segoe UI" panose="020B0502040204020203" pitchFamily="34" charset="0"/>
              </a:rPr>
              <a:t>Room 3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2472847-8130-5C59-292D-A5FA31A86BEF}"/>
              </a:ext>
            </a:extLst>
          </p:cNvPr>
          <p:cNvSpPr/>
          <p:nvPr/>
        </p:nvSpPr>
        <p:spPr>
          <a:xfrm>
            <a:off x="8509000" y="3937000"/>
            <a:ext cx="1498600" cy="6096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D32F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D81561-F8BD-37CD-1234-488698AA0164}"/>
              </a:ext>
            </a:extLst>
          </p:cNvPr>
          <p:cNvSpPr txBox="1"/>
          <p:nvPr/>
        </p:nvSpPr>
        <p:spPr>
          <a:xfrm>
            <a:off x="8509000" y="4089400"/>
            <a:ext cx="1498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>
                <a:solidFill>
                  <a:srgbClr val="D32F2F"/>
                </a:solidFill>
                <a:latin typeface="Segoe UI" panose="020B0502040204020203" pitchFamily="34" charset="0"/>
              </a:rPr>
              <a:t>Room 4</a:t>
            </a:r>
          </a:p>
        </p:txBody>
      </p:sp>
    </p:spTree>
    <p:extLst>
      <p:ext uri="{BB962C8B-B14F-4D97-AF65-F5344CB8AC3E}">
        <p14:creationId xmlns:p14="http://schemas.microsoft.com/office/powerpoint/2010/main" val="1685619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900" fill="hold"/>
                                        <p:tgtEl>
                                          <p:spTgt spid="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900" fill="hold"/>
                                        <p:tgtEl>
                                          <p:spTgt spid="1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900" fill="hold"/>
                                        <p:tgtEl>
                                          <p:spTgt spid="1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900" fill="hold"/>
                                        <p:tgtEl>
                                          <p:spTgt spid="1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79982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9985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9989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3" grpId="0" animBg="1"/>
      <p:bldP spid="15" grpId="0" animBg="1"/>
      <p:bldP spid="17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C6BC9F-EDC9-D6A3-F281-45FFC45FDB82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F57C00"/>
                </a:solidFill>
                <a:latin typeface="Segoe UI" panose="020B0502040204020203" pitchFamily="34" charset="0"/>
              </a:rPr>
              <a:t>EDGE-CACHING · COMPOUND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74A6C1-D62A-FA00-0BAC-A5898A3EF1FB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200" b="1">
                <a:solidFill>
                  <a:srgbClr val="1C1C1C"/>
                </a:solidFill>
                <a:latin typeface="Segoe UI" panose="020B0502040204020203" pitchFamily="34" charset="0"/>
              </a:rPr>
              <a:t>Edge-caching: we write hardware only when the world actually changes.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6B0EA97-1800-D3BC-F510-D853ED96384E}"/>
              </a:ext>
            </a:extLst>
          </p:cNvPr>
          <p:cNvSpPr/>
          <p:nvPr/>
        </p:nvSpPr>
        <p:spPr>
          <a:xfrm>
            <a:off x="914400" y="2921000"/>
            <a:ext cx="2540000" cy="11430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606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DE2001-1F0D-5407-1D13-4CAB8077C68C}"/>
              </a:ext>
            </a:extLst>
          </p:cNvPr>
          <p:cNvSpPr txBox="1"/>
          <p:nvPr/>
        </p:nvSpPr>
        <p:spPr>
          <a:xfrm>
            <a:off x="914400" y="3022600"/>
            <a:ext cx="2540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300">
                <a:solidFill>
                  <a:srgbClr val="1C1C1C"/>
                </a:solidFill>
                <a:latin typeface="Consolas" panose="020B0609020204030204" pitchFamily="49" charset="0"/>
              </a:rPr>
              <a:t>ZoneCommand[t-1]
[0,1,0,0,...]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11084A-9851-FE56-DCFC-6E436303A91E}"/>
              </a:ext>
            </a:extLst>
          </p:cNvPr>
          <p:cNvSpPr/>
          <p:nvPr/>
        </p:nvSpPr>
        <p:spPr>
          <a:xfrm>
            <a:off x="3962400" y="2921000"/>
            <a:ext cx="2540000" cy="1143000"/>
          </a:xfrm>
          <a:prstGeom prst="roundRect">
            <a:avLst/>
          </a:prstGeom>
          <a:solidFill>
            <a:srgbClr val="EDEDED"/>
          </a:solidFill>
          <a:ln w="12700">
            <a:solidFill>
              <a:srgbClr val="F57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1C9F01-3E39-3E27-EE75-190F527BEC3E}"/>
              </a:ext>
            </a:extLst>
          </p:cNvPr>
          <p:cNvSpPr txBox="1"/>
          <p:nvPr/>
        </p:nvSpPr>
        <p:spPr>
          <a:xfrm>
            <a:off x="3962400" y="3022600"/>
            <a:ext cx="2540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300">
                <a:solidFill>
                  <a:srgbClr val="1C1C1C"/>
                </a:solidFill>
                <a:latin typeface="Consolas" panose="020B0609020204030204" pitchFamily="49" charset="0"/>
              </a:rPr>
              <a:t>ZoneCommand[t]
[0,1,1,0,...]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962A935-AF8D-5912-001E-543F43160BC0}"/>
              </a:ext>
            </a:extLst>
          </p:cNvPr>
          <p:cNvSpPr/>
          <p:nvPr/>
        </p:nvSpPr>
        <p:spPr>
          <a:xfrm>
            <a:off x="6883400" y="3111500"/>
            <a:ext cx="1016000" cy="762000"/>
          </a:xfrm>
          <a:prstGeom prst="ellipse">
            <a:avLst/>
          </a:prstGeom>
          <a:solidFill>
            <a:srgbClr val="EDEDED"/>
          </a:solidFill>
          <a:ln w="25400">
            <a:solidFill>
              <a:srgbClr val="1C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E716D1-BBC4-3450-762B-C39571A19513}"/>
              </a:ext>
            </a:extLst>
          </p:cNvPr>
          <p:cNvSpPr txBox="1"/>
          <p:nvPr/>
        </p:nvSpPr>
        <p:spPr>
          <a:xfrm>
            <a:off x="6883400" y="3327400"/>
            <a:ext cx="1016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>
                <a:solidFill>
                  <a:srgbClr val="1C1C1C"/>
                </a:solidFill>
                <a:latin typeface="Consolas" panose="020B0609020204030204" pitchFamily="49" charset="0"/>
              </a:rPr>
              <a:t>memcmp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F32E54-42D6-D6E8-080F-E50AFC5D643C}"/>
              </a:ext>
            </a:extLst>
          </p:cNvPr>
          <p:cNvSpPr txBox="1"/>
          <p:nvPr/>
        </p:nvSpPr>
        <p:spPr>
          <a:xfrm>
            <a:off x="3962400" y="4089400"/>
            <a:ext cx="254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 b="1">
                <a:solidFill>
                  <a:srgbClr val="D32F2F"/>
                </a:solidFill>
                <a:latin typeface="Segoe UI" panose="020B0502040204020203" pitchFamily="34" charset="0"/>
              </a:rPr>
              <a:t>↑ bit changed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263D6A6-2090-EBB2-1ADE-60CA4F16CE22}"/>
              </a:ext>
            </a:extLst>
          </p:cNvPr>
          <p:cNvSpPr/>
          <p:nvPr/>
        </p:nvSpPr>
        <p:spPr>
          <a:xfrm>
            <a:off x="8534400" y="3048000"/>
            <a:ext cx="2286000" cy="889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D32F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D7FCA5-7E45-5CD8-1BDF-2BE84758F30D}"/>
              </a:ext>
            </a:extLst>
          </p:cNvPr>
          <p:cNvSpPr txBox="1"/>
          <p:nvPr/>
        </p:nvSpPr>
        <p:spPr>
          <a:xfrm>
            <a:off x="8534400" y="3175000"/>
            <a:ext cx="2286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200">
                <a:solidFill>
                  <a:srgbClr val="D32F2F"/>
                </a:solidFill>
                <a:latin typeface="Segoe UI" panose="020B0502040204020203" pitchFamily="34" charset="0"/>
              </a:rPr>
              <a:t>single I²C write
→ one servo moves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F6AA1E-48BE-AB11-86A0-4A62C14F73CB}"/>
              </a:ext>
            </a:extLst>
          </p:cNvPr>
          <p:cNvSpPr txBox="1"/>
          <p:nvPr/>
        </p:nvSpPr>
        <p:spPr>
          <a:xfrm>
            <a:off x="914400" y="4699000"/>
            <a:ext cx="103632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606060"/>
                </a:solidFill>
                <a:latin typeface="Segoe UI" panose="020B0502040204020203" pitchFamily="34" charset="0"/>
              </a:rPr>
              <a:t>Identical commands → no write (anti-chatter). Only the changed channel is actuated.</a:t>
            </a:r>
          </a:p>
        </p:txBody>
      </p:sp>
    </p:spTree>
    <p:extLst>
      <p:ext uri="{BB962C8B-B14F-4D97-AF65-F5344CB8AC3E}">
        <p14:creationId xmlns:p14="http://schemas.microsoft.com/office/powerpoint/2010/main" val="145853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9999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90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9991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/>
      <p:bldP spid="10" grpId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7528DC-9E3D-E894-860B-EAB156F934EB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D32F2F"/>
                </a:solidFill>
                <a:latin typeface="Segoe UI" panose="020B0502040204020203" pitchFamily="34" charset="0"/>
              </a:rPr>
              <a:t>THE CORE THESIS · COMPOUND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474532-D94B-35FA-C27E-F34E3EA827DE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200" b="1">
                <a:solidFill>
                  <a:srgbClr val="1C1C1C"/>
                </a:solidFill>
                <a:latin typeface="Segoe UI" panose="020B0502040204020203" pitchFamily="34" charset="0"/>
              </a:rPr>
              <a:t>Suppression completes before the network even hears about it.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C0B185-D856-D3F4-3291-D93E517B824D}"/>
              </a:ext>
            </a:extLst>
          </p:cNvPr>
          <p:cNvSpPr txBox="1"/>
          <p:nvPr/>
        </p:nvSpPr>
        <p:spPr>
          <a:xfrm>
            <a:off x="533400" y="2082800"/>
            <a:ext cx="152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 b="1">
                <a:solidFill>
                  <a:srgbClr val="1C1C1C"/>
                </a:solidFill>
                <a:latin typeface="Segoe UI" panose="020B0502040204020203" pitchFamily="34" charset="0"/>
              </a:rPr>
              <a:t>MQ-6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9BC417E-9367-79E1-D442-359E44D45C66}"/>
              </a:ext>
            </a:extLst>
          </p:cNvPr>
          <p:cNvCxnSpPr/>
          <p:nvPr/>
        </p:nvCxnSpPr>
        <p:spPr>
          <a:xfrm>
            <a:off x="1295400" y="2413000"/>
            <a:ext cx="0" cy="3302000"/>
          </a:xfrm>
          <a:prstGeom prst="line">
            <a:avLst/>
          </a:prstGeom>
          <a:ln w="12700">
            <a:solidFill>
              <a:srgbClr val="9696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6F262B1-6917-C0DE-F357-DCA9C9F125C9}"/>
              </a:ext>
            </a:extLst>
          </p:cNvPr>
          <p:cNvSpPr txBox="1"/>
          <p:nvPr/>
        </p:nvSpPr>
        <p:spPr>
          <a:xfrm>
            <a:off x="2438400" y="2082800"/>
            <a:ext cx="152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 b="1">
                <a:solidFill>
                  <a:srgbClr val="1C1C1C"/>
                </a:solidFill>
                <a:latin typeface="Segoe UI" panose="020B0502040204020203" pitchFamily="34" charset="0"/>
              </a:rPr>
              <a:t>ESP32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D5402C-EBD9-3033-01BE-DB869CF1084B}"/>
              </a:ext>
            </a:extLst>
          </p:cNvPr>
          <p:cNvCxnSpPr/>
          <p:nvPr/>
        </p:nvCxnSpPr>
        <p:spPr>
          <a:xfrm>
            <a:off x="3200400" y="2413000"/>
            <a:ext cx="0" cy="3302000"/>
          </a:xfrm>
          <a:prstGeom prst="line">
            <a:avLst/>
          </a:prstGeom>
          <a:ln w="12700">
            <a:solidFill>
              <a:srgbClr val="9696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918882E-4961-A0B6-DBCC-A6C82554E584}"/>
              </a:ext>
            </a:extLst>
          </p:cNvPr>
          <p:cNvSpPr txBox="1"/>
          <p:nvPr/>
        </p:nvSpPr>
        <p:spPr>
          <a:xfrm>
            <a:off x="4343400" y="2082800"/>
            <a:ext cx="152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 b="1">
                <a:solidFill>
                  <a:srgbClr val="1C1C1C"/>
                </a:solidFill>
                <a:latin typeface="Segoe UI" panose="020B0502040204020203" pitchFamily="34" charset="0"/>
              </a:rPr>
              <a:t>PCA/Relay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545DF6-5554-AA58-E03E-F528D7AA3053}"/>
              </a:ext>
            </a:extLst>
          </p:cNvPr>
          <p:cNvCxnSpPr/>
          <p:nvPr/>
        </p:nvCxnSpPr>
        <p:spPr>
          <a:xfrm>
            <a:off x="5105400" y="2413000"/>
            <a:ext cx="0" cy="3302000"/>
          </a:xfrm>
          <a:prstGeom prst="line">
            <a:avLst/>
          </a:prstGeom>
          <a:ln w="12700">
            <a:solidFill>
              <a:srgbClr val="9696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E28F6B6-3B8F-C8C6-02B2-D7A1A44A2F0D}"/>
              </a:ext>
            </a:extLst>
          </p:cNvPr>
          <p:cNvSpPr txBox="1"/>
          <p:nvPr/>
        </p:nvSpPr>
        <p:spPr>
          <a:xfrm>
            <a:off x="6502400" y="2082800"/>
            <a:ext cx="152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 b="1">
                <a:solidFill>
                  <a:srgbClr val="1C1C1C"/>
                </a:solidFill>
                <a:latin typeface="Segoe UI" panose="020B0502040204020203" pitchFamily="34" charset="0"/>
              </a:rPr>
              <a:t>Broker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4BCCD3B-E46B-D379-560D-12788658E74A}"/>
              </a:ext>
            </a:extLst>
          </p:cNvPr>
          <p:cNvCxnSpPr/>
          <p:nvPr/>
        </p:nvCxnSpPr>
        <p:spPr>
          <a:xfrm>
            <a:off x="7264400" y="2413000"/>
            <a:ext cx="0" cy="3302000"/>
          </a:xfrm>
          <a:prstGeom prst="line">
            <a:avLst/>
          </a:prstGeom>
          <a:ln w="12700">
            <a:solidFill>
              <a:srgbClr val="9696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575A728-4EDF-7E58-01B5-A7C9FF9EA00F}"/>
              </a:ext>
            </a:extLst>
          </p:cNvPr>
          <p:cNvSpPr txBox="1"/>
          <p:nvPr/>
        </p:nvSpPr>
        <p:spPr>
          <a:xfrm>
            <a:off x="8153400" y="2082800"/>
            <a:ext cx="152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 b="1">
                <a:solidFill>
                  <a:srgbClr val="1C1C1C"/>
                </a:solidFill>
                <a:latin typeface="Segoe UI" panose="020B0502040204020203" pitchFamily="34" charset="0"/>
              </a:rPr>
              <a:t>AI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CF12284-0CB2-5091-0DAF-960A4DCB5085}"/>
              </a:ext>
            </a:extLst>
          </p:cNvPr>
          <p:cNvCxnSpPr/>
          <p:nvPr/>
        </p:nvCxnSpPr>
        <p:spPr>
          <a:xfrm>
            <a:off x="8915400" y="2413000"/>
            <a:ext cx="0" cy="3302000"/>
          </a:xfrm>
          <a:prstGeom prst="line">
            <a:avLst/>
          </a:prstGeom>
          <a:ln w="12700">
            <a:solidFill>
              <a:srgbClr val="9696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531FBA5-FA8F-0883-1E69-7C234B936F39}"/>
              </a:ext>
            </a:extLst>
          </p:cNvPr>
          <p:cNvSpPr txBox="1"/>
          <p:nvPr/>
        </p:nvSpPr>
        <p:spPr>
          <a:xfrm>
            <a:off x="9804400" y="2082800"/>
            <a:ext cx="152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 b="1">
                <a:solidFill>
                  <a:srgbClr val="1C1C1C"/>
                </a:solidFill>
                <a:latin typeface="Segoe UI" panose="020B0502040204020203" pitchFamily="34" charset="0"/>
              </a:rPr>
              <a:t>Telegram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1B0F0D8-8A19-17AB-4BD3-FD713C68E8D4}"/>
              </a:ext>
            </a:extLst>
          </p:cNvPr>
          <p:cNvCxnSpPr/>
          <p:nvPr/>
        </p:nvCxnSpPr>
        <p:spPr>
          <a:xfrm>
            <a:off x="10566400" y="2413000"/>
            <a:ext cx="0" cy="3302000"/>
          </a:xfrm>
          <a:prstGeom prst="line">
            <a:avLst/>
          </a:prstGeom>
          <a:ln w="12700">
            <a:solidFill>
              <a:srgbClr val="9696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0319768-B22A-60CE-D4CA-F0906043CAEF}"/>
              </a:ext>
            </a:extLst>
          </p:cNvPr>
          <p:cNvCxnSpPr/>
          <p:nvPr/>
        </p:nvCxnSpPr>
        <p:spPr>
          <a:xfrm>
            <a:off x="1295400" y="2794000"/>
            <a:ext cx="1905000" cy="0"/>
          </a:xfrm>
          <a:prstGeom prst="line">
            <a:avLst/>
          </a:prstGeom>
          <a:ln w="31750">
            <a:solidFill>
              <a:srgbClr val="D32F2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8B442D0-6F61-378B-04B2-98F6BDEE2CF0}"/>
              </a:ext>
            </a:extLst>
          </p:cNvPr>
          <p:cNvSpPr txBox="1"/>
          <p:nvPr/>
        </p:nvSpPr>
        <p:spPr>
          <a:xfrm>
            <a:off x="1295400" y="2514600"/>
            <a:ext cx="1905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000">
                <a:solidFill>
                  <a:srgbClr val="D32F2F"/>
                </a:solidFill>
                <a:latin typeface="Segoe UI" panose="020B0502040204020203" pitchFamily="34" charset="0"/>
              </a:rPr>
              <a:t>gas &gt; 2000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DC69DC5-1571-1972-93F2-6D0B85DE5C33}"/>
              </a:ext>
            </a:extLst>
          </p:cNvPr>
          <p:cNvCxnSpPr/>
          <p:nvPr/>
        </p:nvCxnSpPr>
        <p:spPr>
          <a:xfrm>
            <a:off x="3200400" y="3175000"/>
            <a:ext cx="1905000" cy="0"/>
          </a:xfrm>
          <a:prstGeom prst="line">
            <a:avLst/>
          </a:prstGeom>
          <a:ln w="31750">
            <a:solidFill>
              <a:srgbClr val="D32F2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C9B5E43-6A26-1D09-4BF0-F2C7959220D2}"/>
              </a:ext>
            </a:extLst>
          </p:cNvPr>
          <p:cNvSpPr txBox="1"/>
          <p:nvPr/>
        </p:nvSpPr>
        <p:spPr>
          <a:xfrm>
            <a:off x="3200400" y="2895600"/>
            <a:ext cx="1905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000">
                <a:solidFill>
                  <a:srgbClr val="D32F2F"/>
                </a:solidFill>
                <a:latin typeface="Segoe UI" panose="020B0502040204020203" pitchFamily="34" charset="0"/>
              </a:rPr>
              <a:t>ZoneCommand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0456241-DEB4-3998-E3C1-0F0ED463A4ED}"/>
              </a:ext>
            </a:extLst>
          </p:cNvPr>
          <p:cNvCxnSpPr/>
          <p:nvPr/>
        </p:nvCxnSpPr>
        <p:spPr>
          <a:xfrm>
            <a:off x="5105400" y="3556000"/>
            <a:ext cx="889000" cy="0"/>
          </a:xfrm>
          <a:prstGeom prst="line">
            <a:avLst/>
          </a:prstGeom>
          <a:ln w="31750">
            <a:solidFill>
              <a:srgbClr val="D32F2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5A071D6-1DE5-464D-96E5-C2A41D2E4DC0}"/>
              </a:ext>
            </a:extLst>
          </p:cNvPr>
          <p:cNvSpPr txBox="1"/>
          <p:nvPr/>
        </p:nvSpPr>
        <p:spPr>
          <a:xfrm>
            <a:off x="5105400" y="3276600"/>
            <a:ext cx="889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000">
                <a:solidFill>
                  <a:srgbClr val="D32F2F"/>
                </a:solidFill>
                <a:latin typeface="Segoe UI" panose="020B0502040204020203" pitchFamily="34" charset="0"/>
              </a:rPr>
              <a:t>valve/door/pump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B22F626-A8F0-4C76-71F4-793A0892AA53}"/>
              </a:ext>
            </a:extLst>
          </p:cNvPr>
          <p:cNvSpPr/>
          <p:nvPr/>
        </p:nvSpPr>
        <p:spPr>
          <a:xfrm>
            <a:off x="4724400" y="3810000"/>
            <a:ext cx="1905000" cy="431800"/>
          </a:xfrm>
          <a:prstGeom prst="roundRect">
            <a:avLst/>
          </a:prstGeom>
          <a:solidFill>
            <a:srgbClr val="D3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99E60B-178B-CAE1-D689-E5B66908DD9B}"/>
              </a:ext>
            </a:extLst>
          </p:cNvPr>
          <p:cNvSpPr txBox="1"/>
          <p:nvPr/>
        </p:nvSpPr>
        <p:spPr>
          <a:xfrm>
            <a:off x="4724400" y="3886200"/>
            <a:ext cx="1905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1 control cycle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9B1E1E7-4BAB-7E08-90AF-1661FF19D636}"/>
              </a:ext>
            </a:extLst>
          </p:cNvPr>
          <p:cNvCxnSpPr/>
          <p:nvPr/>
        </p:nvCxnSpPr>
        <p:spPr>
          <a:xfrm>
            <a:off x="3200400" y="4572000"/>
            <a:ext cx="4064000" cy="0"/>
          </a:xfrm>
          <a:prstGeom prst="line">
            <a:avLst/>
          </a:prstGeom>
          <a:ln w="31750">
            <a:solidFill>
              <a:srgbClr val="60606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659C992-927C-1486-303D-542F98875C9C}"/>
              </a:ext>
            </a:extLst>
          </p:cNvPr>
          <p:cNvSpPr txBox="1"/>
          <p:nvPr/>
        </p:nvSpPr>
        <p:spPr>
          <a:xfrm>
            <a:off x="3200400" y="4292600"/>
            <a:ext cx="406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000">
                <a:solidFill>
                  <a:srgbClr val="606060"/>
                </a:solidFill>
                <a:latin typeface="Segoe UI" panose="020B0502040204020203" pitchFamily="34" charset="0"/>
              </a:rPr>
              <a:t>telemetry (≤2s)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B297A3E-80CE-B077-6179-09E78D976E1A}"/>
              </a:ext>
            </a:extLst>
          </p:cNvPr>
          <p:cNvCxnSpPr/>
          <p:nvPr/>
        </p:nvCxnSpPr>
        <p:spPr>
          <a:xfrm>
            <a:off x="7264400" y="4953000"/>
            <a:ext cx="1651000" cy="0"/>
          </a:xfrm>
          <a:prstGeom prst="line">
            <a:avLst/>
          </a:prstGeom>
          <a:ln w="31750">
            <a:solidFill>
              <a:srgbClr val="60606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FE81D86-48CF-C195-F288-CBC7F5BB097F}"/>
              </a:ext>
            </a:extLst>
          </p:cNvPr>
          <p:cNvSpPr txBox="1"/>
          <p:nvPr/>
        </p:nvSpPr>
        <p:spPr>
          <a:xfrm>
            <a:off x="7264400" y="4673600"/>
            <a:ext cx="1651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000">
                <a:solidFill>
                  <a:srgbClr val="606060"/>
                </a:solidFill>
                <a:latin typeface="Segoe UI" panose="020B0502040204020203" pitchFamily="34" charset="0"/>
              </a:rPr>
              <a:t>sensor_data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BC39401-B22E-C5C7-A5B2-CF2DD18D2755}"/>
              </a:ext>
            </a:extLst>
          </p:cNvPr>
          <p:cNvCxnSpPr/>
          <p:nvPr/>
        </p:nvCxnSpPr>
        <p:spPr>
          <a:xfrm>
            <a:off x="8915400" y="5334000"/>
            <a:ext cx="1651000" cy="0"/>
          </a:xfrm>
          <a:prstGeom prst="line">
            <a:avLst/>
          </a:prstGeom>
          <a:ln w="31750">
            <a:solidFill>
              <a:srgbClr val="60606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9E12A29-A967-B67C-F410-AC6638A77E48}"/>
              </a:ext>
            </a:extLst>
          </p:cNvPr>
          <p:cNvSpPr txBox="1"/>
          <p:nvPr/>
        </p:nvSpPr>
        <p:spPr>
          <a:xfrm>
            <a:off x="8915400" y="5054600"/>
            <a:ext cx="1651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000">
                <a:solidFill>
                  <a:srgbClr val="606060"/>
                </a:solidFill>
                <a:latin typeface="Segoe UI" panose="020B0502040204020203" pitchFamily="34" charset="0"/>
              </a:rPr>
              <a:t>alert + image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001698-258E-3676-0983-5089C13D3AD7}"/>
              </a:ext>
            </a:extLst>
          </p:cNvPr>
          <p:cNvSpPr txBox="1"/>
          <p:nvPr/>
        </p:nvSpPr>
        <p:spPr>
          <a:xfrm>
            <a:off x="914400" y="59690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606060"/>
                </a:solidFill>
                <a:latin typeface="Segoe UI" panose="020B0502040204020203" pitchFamily="34" charset="0"/>
              </a:rPr>
              <a:t>Local suppression (red) closes within one cycle; the network path (grey) only observes it afterwards.</a:t>
            </a:r>
          </a:p>
        </p:txBody>
      </p:sp>
    </p:spTree>
    <p:extLst>
      <p:ext uri="{BB962C8B-B14F-4D97-AF65-F5344CB8AC3E}">
        <p14:creationId xmlns:p14="http://schemas.microsoft.com/office/powerpoint/2010/main" val="3346231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par>
                                <p:cTn id="1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" presetClass="emph" presetSubtype="0" repeatCount="9999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900" fill="hold"/>
                                        <p:tgtEl>
                                          <p:spTgt spid="2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99925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99985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800035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603C6F-0936-130F-DC47-9E1D7BBBEDB0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0288D1"/>
                </a:solidFill>
                <a:latin typeface="Segoe UI" panose="020B0502040204020203" pitchFamily="34" charset="0"/>
              </a:rPr>
              <a:t>WATER SAFETY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C2238-4588-5057-C676-CC72E03067BD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400" b="1">
                <a:solidFill>
                  <a:srgbClr val="1C1C1C"/>
                </a:solidFill>
                <a:latin typeface="Segoe UI" panose="020B0502040204020203" pitchFamily="34" charset="0"/>
              </a:rPr>
              <a:t>Hysteresis keeps the pumps from ever running dry.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9E3B3D-1616-E2C9-2BAE-B0C9C088E2F0}"/>
              </a:ext>
            </a:extLst>
          </p:cNvPr>
          <p:cNvSpPr/>
          <p:nvPr/>
        </p:nvSpPr>
        <p:spPr>
          <a:xfrm>
            <a:off x="914400" y="2540000"/>
            <a:ext cx="1905000" cy="3175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D60534-BD54-B8F3-DC9E-208C5F9203C9}"/>
              </a:ext>
            </a:extLst>
          </p:cNvPr>
          <p:cNvSpPr/>
          <p:nvPr/>
        </p:nvSpPr>
        <p:spPr>
          <a:xfrm>
            <a:off x="965200" y="4064000"/>
            <a:ext cx="1803400" cy="1600200"/>
          </a:xfrm>
          <a:prstGeom prst="rect">
            <a:avLst/>
          </a:prstGeom>
          <a:solidFill>
            <a:srgbClr val="0288D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8AD7B8-EBAE-D690-EBE5-04ACDF107047}"/>
              </a:ext>
            </a:extLst>
          </p:cNvPr>
          <p:cNvCxnSpPr/>
          <p:nvPr/>
        </p:nvCxnSpPr>
        <p:spPr>
          <a:xfrm>
            <a:off x="787400" y="5334000"/>
            <a:ext cx="2286000" cy="0"/>
          </a:xfrm>
          <a:prstGeom prst="line">
            <a:avLst/>
          </a:prstGeom>
          <a:ln w="2540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1B9D381-34A2-7CED-4442-0BCF2B717D9C}"/>
              </a:ext>
            </a:extLst>
          </p:cNvPr>
          <p:cNvSpPr txBox="1"/>
          <p:nvPr/>
        </p:nvSpPr>
        <p:spPr>
          <a:xfrm>
            <a:off x="3200400" y="5207000"/>
            <a:ext cx="254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 b="1">
                <a:solidFill>
                  <a:srgbClr val="D32F2F"/>
                </a:solidFill>
                <a:latin typeface="Segoe UI" panose="020B0502040204020203" pitchFamily="34" charset="0"/>
              </a:rPr>
              <a:t>10% — cut pumps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8DE8C90-7D09-8FD5-E805-6538252E0878}"/>
              </a:ext>
            </a:extLst>
          </p:cNvPr>
          <p:cNvCxnSpPr/>
          <p:nvPr/>
        </p:nvCxnSpPr>
        <p:spPr>
          <a:xfrm>
            <a:off x="787400" y="4826000"/>
            <a:ext cx="2286000" cy="0"/>
          </a:xfrm>
          <a:prstGeom prst="line">
            <a:avLst/>
          </a:prstGeom>
          <a:ln w="254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1540BCD-D23C-0BD7-CE20-953D0047B13B}"/>
              </a:ext>
            </a:extLst>
          </p:cNvPr>
          <p:cNvSpPr txBox="1"/>
          <p:nvPr/>
        </p:nvSpPr>
        <p:spPr>
          <a:xfrm>
            <a:off x="3200400" y="4699000"/>
            <a:ext cx="279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 b="1">
                <a:solidFill>
                  <a:srgbClr val="F57C00"/>
                </a:solidFill>
                <a:latin typeface="Segoe UI" panose="020B0502040204020203" pitchFamily="34" charset="0"/>
              </a:rPr>
              <a:t>20% — resume pumps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3B5432-9F67-5558-A802-2313CB5120F7}"/>
              </a:ext>
            </a:extLst>
          </p:cNvPr>
          <p:cNvSpPr txBox="1"/>
          <p:nvPr/>
        </p:nvSpPr>
        <p:spPr>
          <a:xfrm>
            <a:off x="3200400" y="2794000"/>
            <a:ext cx="711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>
                <a:solidFill>
                  <a:srgbClr val="1C1C1C"/>
                </a:solidFill>
                <a:latin typeface="Segoe UI" panose="020B0502040204020203" pitchFamily="34" charset="0"/>
              </a:rPr>
              <a:t>Pumpᵣ = Fireᵣ  ∧  pumpsAllowed
Below 10%  →  pumps inhibited (dry-run guard)
At ≥ 20%   →  pumps re-enabled
The deadband prevents relay chatter near the threshold.</a:t>
            </a:r>
          </a:p>
        </p:txBody>
      </p:sp>
    </p:spTree>
    <p:extLst>
      <p:ext uri="{BB962C8B-B14F-4D97-AF65-F5344CB8AC3E}">
        <p14:creationId xmlns:p14="http://schemas.microsoft.com/office/powerpoint/2010/main" val="3598988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/>
      </p:transition>
    </mc:Choice>
    <mc:Fallback xmlns="">
      <p:transition spd="med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9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E745D4-A55C-3E0F-4A21-BEA45FA78882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0288D1"/>
                </a:solidFill>
                <a:latin typeface="Segoe UI" panose="020B0502040204020203" pitchFamily="34" charset="0"/>
              </a:rPr>
              <a:t>FAIL-OPERATIONAL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C722DA-3601-790D-4BC9-FB5683BC9FDE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300" b="1">
                <a:solidFill>
                  <a:srgbClr val="1C1C1C"/>
                </a:solidFill>
                <a:latin typeface="Segoe UI" panose="020B0502040204020203" pitchFamily="34" charset="0"/>
              </a:rPr>
              <a:t>When the network drops, the system doesn't: the failsafe FSM.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7F4B3D-843F-06C6-2A0A-C41FFAA9B939}"/>
              </a:ext>
            </a:extLst>
          </p:cNvPr>
          <p:cNvSpPr/>
          <p:nvPr/>
        </p:nvSpPr>
        <p:spPr>
          <a:xfrm>
            <a:off x="1422400" y="2921000"/>
            <a:ext cx="1905000" cy="1016000"/>
          </a:xfrm>
          <a:prstGeom prst="ellipse">
            <a:avLst/>
          </a:prstGeom>
          <a:solidFill>
            <a:srgbClr val="EDEDED"/>
          </a:solidFill>
          <a:ln w="31750">
            <a:solidFill>
              <a:srgbClr val="0288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3E57E-0A10-D9DA-34DB-16F89A9FB6C7}"/>
              </a:ext>
            </a:extLst>
          </p:cNvPr>
          <p:cNvSpPr txBox="1"/>
          <p:nvPr/>
        </p:nvSpPr>
        <p:spPr>
          <a:xfrm>
            <a:off x="1422400" y="3251200"/>
            <a:ext cx="1905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500" b="1">
                <a:solidFill>
                  <a:srgbClr val="0288D1"/>
                </a:solidFill>
                <a:latin typeface="Segoe UI" panose="020B0502040204020203" pitchFamily="34" charset="0"/>
              </a:rPr>
              <a:t>NORMAL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4958BE6-DD05-049A-0847-D6977428EA24}"/>
              </a:ext>
            </a:extLst>
          </p:cNvPr>
          <p:cNvSpPr/>
          <p:nvPr/>
        </p:nvSpPr>
        <p:spPr>
          <a:xfrm>
            <a:off x="4724400" y="2921000"/>
            <a:ext cx="1905000" cy="1016000"/>
          </a:xfrm>
          <a:prstGeom prst="ellipse">
            <a:avLst/>
          </a:prstGeom>
          <a:solidFill>
            <a:srgbClr val="EDEDED"/>
          </a:solidFill>
          <a:ln w="31750">
            <a:solidFill>
              <a:srgbClr val="F57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FAF3A6-D82F-FA63-BB3E-AA9DB6590512}"/>
              </a:ext>
            </a:extLst>
          </p:cNvPr>
          <p:cNvSpPr txBox="1"/>
          <p:nvPr/>
        </p:nvSpPr>
        <p:spPr>
          <a:xfrm>
            <a:off x="4724400" y="3251200"/>
            <a:ext cx="1905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500" b="1">
                <a:solidFill>
                  <a:srgbClr val="F57C00"/>
                </a:solidFill>
                <a:latin typeface="Segoe UI" panose="020B0502040204020203" pitchFamily="34" charset="0"/>
              </a:rPr>
              <a:t>DEGRADED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EFCB1E-FC8B-E0B2-C6EF-0659D36FE630}"/>
              </a:ext>
            </a:extLst>
          </p:cNvPr>
          <p:cNvSpPr/>
          <p:nvPr/>
        </p:nvSpPr>
        <p:spPr>
          <a:xfrm>
            <a:off x="8026400" y="2921000"/>
            <a:ext cx="1905000" cy="1016000"/>
          </a:xfrm>
          <a:prstGeom prst="ellipse">
            <a:avLst/>
          </a:prstGeom>
          <a:solidFill>
            <a:srgbClr val="EDEDED"/>
          </a:solidFill>
          <a:ln w="31750">
            <a:solidFill>
              <a:srgbClr val="D32F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253E5B-D4CA-4ED2-C7B5-5D69296CA720}"/>
              </a:ext>
            </a:extLst>
          </p:cNvPr>
          <p:cNvSpPr txBox="1"/>
          <p:nvPr/>
        </p:nvSpPr>
        <p:spPr>
          <a:xfrm>
            <a:off x="8026400" y="3251200"/>
            <a:ext cx="1905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500" b="1">
                <a:solidFill>
                  <a:srgbClr val="D32F2F"/>
                </a:solidFill>
                <a:latin typeface="Segoe UI" panose="020B0502040204020203" pitchFamily="34" charset="0"/>
              </a:rPr>
              <a:t>RECOVERY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9EEB1E3-9C80-5832-4974-A4ECEE13EDCE}"/>
              </a:ext>
            </a:extLst>
          </p:cNvPr>
          <p:cNvSpPr/>
          <p:nvPr/>
        </p:nvSpPr>
        <p:spPr>
          <a:xfrm>
            <a:off x="3390900" y="3302000"/>
            <a:ext cx="1270000" cy="254000"/>
          </a:xfrm>
          <a:prstGeom prst="rightArrow">
            <a:avLst/>
          </a:prstGeom>
          <a:solidFill>
            <a:srgbClr val="606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9BB1001-DC33-0607-0E52-E0964CCEC357}"/>
              </a:ext>
            </a:extLst>
          </p:cNvPr>
          <p:cNvSpPr/>
          <p:nvPr/>
        </p:nvSpPr>
        <p:spPr>
          <a:xfrm>
            <a:off x="6692900" y="3302000"/>
            <a:ext cx="1270000" cy="254000"/>
          </a:xfrm>
          <a:prstGeom prst="rightArrow">
            <a:avLst/>
          </a:prstGeom>
          <a:solidFill>
            <a:srgbClr val="606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4B8AB14-47BE-85E0-96EE-AB6FF4F6AB64}"/>
              </a:ext>
            </a:extLst>
          </p:cNvPr>
          <p:cNvCxnSpPr/>
          <p:nvPr/>
        </p:nvCxnSpPr>
        <p:spPr>
          <a:xfrm flipH="1" flipV="1">
            <a:off x="2374900" y="2540000"/>
            <a:ext cx="6604000" cy="381000"/>
          </a:xfrm>
          <a:prstGeom prst="line">
            <a:avLst/>
          </a:prstGeom>
          <a:ln w="15240">
            <a:solidFill>
              <a:srgbClr val="96969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DB12F15-3213-6A14-47E1-841B9D71960D}"/>
              </a:ext>
            </a:extLst>
          </p:cNvPr>
          <p:cNvSpPr txBox="1"/>
          <p:nvPr/>
        </p:nvSpPr>
        <p:spPr>
          <a:xfrm>
            <a:off x="914400" y="44450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>
                <a:solidFill>
                  <a:srgbClr val="1C1C1C"/>
                </a:solidFill>
                <a:latin typeface="Segoe UI" panose="020B0502040204020203" pitchFamily="34" charset="0"/>
              </a:rPr>
              <a:t>The FSM classifies link health for telemetry only. The local fire predicate — gas, flame, button — keeps detecting and suppressing regardless of broker state. Connectivity loss degrades remote confirmation, never the suppression core.</a:t>
            </a:r>
          </a:p>
        </p:txBody>
      </p:sp>
    </p:spTree>
    <p:extLst>
      <p:ext uri="{BB962C8B-B14F-4D97-AF65-F5344CB8AC3E}">
        <p14:creationId xmlns:p14="http://schemas.microsoft.com/office/powerpoint/2010/main" val="2090742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5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5746C5-5D23-1562-2767-A56B9666983D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F57C00"/>
                </a:solidFill>
                <a:latin typeface="Segoe UI" panose="020B0502040204020203" pitchFamily="34" charset="0"/>
              </a:rPr>
              <a:t>M2M CONTRACT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BDC55-4C17-DD6C-61DD-1411CB9EC81B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300" b="1">
                <a:solidFill>
                  <a:srgbClr val="1C1C1C"/>
                </a:solidFill>
                <a:latin typeface="Segoe UI" panose="020B0502040204020203" pitchFamily="34" charset="0"/>
              </a:rPr>
              <a:t>The contract: function-partitioned MQTT topics, structured JSON.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7F5241-9D61-FF75-3B6F-E973FE3DF661}"/>
              </a:ext>
            </a:extLst>
          </p:cNvPr>
          <p:cNvSpPr/>
          <p:nvPr/>
        </p:nvSpPr>
        <p:spPr>
          <a:xfrm>
            <a:off x="914400" y="2540000"/>
            <a:ext cx="2921000" cy="482600"/>
          </a:xfrm>
          <a:prstGeom prst="rect">
            <a:avLst/>
          </a:prstGeom>
          <a:solidFill>
            <a:srgbClr val="1C1C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A08A88-6B21-DAC3-0EE5-6D7EDB03C4CB}"/>
              </a:ext>
            </a:extLst>
          </p:cNvPr>
          <p:cNvSpPr txBox="1"/>
          <p:nvPr/>
        </p:nvSpPr>
        <p:spPr>
          <a:xfrm>
            <a:off x="914400" y="2616200"/>
            <a:ext cx="2921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360E45-1567-912C-C9A9-E7C8BE12C512}"/>
              </a:ext>
            </a:extLst>
          </p:cNvPr>
          <p:cNvSpPr/>
          <p:nvPr/>
        </p:nvSpPr>
        <p:spPr>
          <a:xfrm>
            <a:off x="3835400" y="2540000"/>
            <a:ext cx="1524000" cy="482600"/>
          </a:xfrm>
          <a:prstGeom prst="rect">
            <a:avLst/>
          </a:prstGeom>
          <a:solidFill>
            <a:srgbClr val="1C1C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8006A4-BAF1-D684-9194-D5036CD9F031}"/>
              </a:ext>
            </a:extLst>
          </p:cNvPr>
          <p:cNvSpPr txBox="1"/>
          <p:nvPr/>
        </p:nvSpPr>
        <p:spPr>
          <a:xfrm>
            <a:off x="3835400" y="2616200"/>
            <a:ext cx="152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Dir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57EF06-FE5B-8EFB-D6DE-887CCEED865B}"/>
              </a:ext>
            </a:extLst>
          </p:cNvPr>
          <p:cNvSpPr/>
          <p:nvPr/>
        </p:nvSpPr>
        <p:spPr>
          <a:xfrm>
            <a:off x="5359400" y="2540000"/>
            <a:ext cx="762000" cy="482600"/>
          </a:xfrm>
          <a:prstGeom prst="rect">
            <a:avLst/>
          </a:prstGeom>
          <a:solidFill>
            <a:srgbClr val="1C1C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9D20FC-7B4E-F868-1E7F-2922B91DC9E6}"/>
              </a:ext>
            </a:extLst>
          </p:cNvPr>
          <p:cNvSpPr txBox="1"/>
          <p:nvPr/>
        </p:nvSpPr>
        <p:spPr>
          <a:xfrm>
            <a:off x="5359400" y="2616200"/>
            <a:ext cx="76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QoS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6E3AC0-8A70-D0E1-1D6A-85BE9EE410CA}"/>
              </a:ext>
            </a:extLst>
          </p:cNvPr>
          <p:cNvSpPr/>
          <p:nvPr/>
        </p:nvSpPr>
        <p:spPr>
          <a:xfrm>
            <a:off x="6121400" y="2540000"/>
            <a:ext cx="889000" cy="482600"/>
          </a:xfrm>
          <a:prstGeom prst="rect">
            <a:avLst/>
          </a:prstGeom>
          <a:solidFill>
            <a:srgbClr val="1C1C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E5F305-6B1C-B2B2-4E6E-35E8FF6FA4EE}"/>
              </a:ext>
            </a:extLst>
          </p:cNvPr>
          <p:cNvSpPr txBox="1"/>
          <p:nvPr/>
        </p:nvSpPr>
        <p:spPr>
          <a:xfrm>
            <a:off x="6121400" y="2616200"/>
            <a:ext cx="889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Segoe UI" panose="020B0502040204020203" pitchFamily="34" charset="0"/>
              </a:rPr>
              <a:t>Retain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952CE6-F727-AFF9-C560-F1063A12C839}"/>
              </a:ext>
            </a:extLst>
          </p:cNvPr>
          <p:cNvSpPr/>
          <p:nvPr/>
        </p:nvSpPr>
        <p:spPr>
          <a:xfrm>
            <a:off x="914400" y="3022600"/>
            <a:ext cx="2921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9CAEEB-B119-7659-1640-5ABD08FAEB9F}"/>
              </a:ext>
            </a:extLst>
          </p:cNvPr>
          <p:cNvSpPr txBox="1"/>
          <p:nvPr/>
        </p:nvSpPr>
        <p:spPr>
          <a:xfrm>
            <a:off x="990600" y="3098800"/>
            <a:ext cx="279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sffs/sensors/data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DD79FD-11E5-B3BF-D293-131B326F0EF2}"/>
              </a:ext>
            </a:extLst>
          </p:cNvPr>
          <p:cNvSpPr/>
          <p:nvPr/>
        </p:nvSpPr>
        <p:spPr>
          <a:xfrm>
            <a:off x="3835400" y="3022600"/>
            <a:ext cx="1524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22CA08-0CE2-C9B1-2C02-175FC4D50E12}"/>
              </a:ext>
            </a:extLst>
          </p:cNvPr>
          <p:cNvSpPr txBox="1"/>
          <p:nvPr/>
        </p:nvSpPr>
        <p:spPr>
          <a:xfrm>
            <a:off x="3911600" y="3098800"/>
            <a:ext cx="1397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ESP32→all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9DB3B1-3637-38F6-7474-DF997EF1BA6C}"/>
              </a:ext>
            </a:extLst>
          </p:cNvPr>
          <p:cNvSpPr/>
          <p:nvPr/>
        </p:nvSpPr>
        <p:spPr>
          <a:xfrm>
            <a:off x="5359400" y="3022600"/>
            <a:ext cx="762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0D3A6F-BF6E-5D34-919E-377ABDB6F512}"/>
              </a:ext>
            </a:extLst>
          </p:cNvPr>
          <p:cNvSpPr txBox="1"/>
          <p:nvPr/>
        </p:nvSpPr>
        <p:spPr>
          <a:xfrm>
            <a:off x="5435600" y="3098800"/>
            <a:ext cx="635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E6C484-9BDA-2F7C-2A77-B8F744E2AEFC}"/>
              </a:ext>
            </a:extLst>
          </p:cNvPr>
          <p:cNvSpPr/>
          <p:nvPr/>
        </p:nvSpPr>
        <p:spPr>
          <a:xfrm>
            <a:off x="6121400" y="3022600"/>
            <a:ext cx="889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7D6319-D086-5A71-FA67-B3C90126F26B}"/>
              </a:ext>
            </a:extLst>
          </p:cNvPr>
          <p:cNvSpPr txBox="1"/>
          <p:nvPr/>
        </p:nvSpPr>
        <p:spPr>
          <a:xfrm>
            <a:off x="6197600" y="3098800"/>
            <a:ext cx="76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no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001D9F-90D6-BF9D-EFE1-316FE506E42F}"/>
              </a:ext>
            </a:extLst>
          </p:cNvPr>
          <p:cNvSpPr/>
          <p:nvPr/>
        </p:nvSpPr>
        <p:spPr>
          <a:xfrm>
            <a:off x="914400" y="3505200"/>
            <a:ext cx="2921000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63E2A7-0A8F-D9AB-C6CC-E2DD94A30A5A}"/>
              </a:ext>
            </a:extLst>
          </p:cNvPr>
          <p:cNvSpPr txBox="1"/>
          <p:nvPr/>
        </p:nvSpPr>
        <p:spPr>
          <a:xfrm>
            <a:off x="990600" y="3581400"/>
            <a:ext cx="279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sffs/system/status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4F589D-4586-257D-2D0C-2CEB376AA6D6}"/>
              </a:ext>
            </a:extLst>
          </p:cNvPr>
          <p:cNvSpPr/>
          <p:nvPr/>
        </p:nvSpPr>
        <p:spPr>
          <a:xfrm>
            <a:off x="3835400" y="3505200"/>
            <a:ext cx="1524000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AF8C30-D2FE-997E-A554-B7D13645B256}"/>
              </a:ext>
            </a:extLst>
          </p:cNvPr>
          <p:cNvSpPr txBox="1"/>
          <p:nvPr/>
        </p:nvSpPr>
        <p:spPr>
          <a:xfrm>
            <a:off x="3911600" y="3581400"/>
            <a:ext cx="1397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AI→ESP32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C7B041-BAEC-B2BB-DE65-F066DBF6D18A}"/>
              </a:ext>
            </a:extLst>
          </p:cNvPr>
          <p:cNvSpPr/>
          <p:nvPr/>
        </p:nvSpPr>
        <p:spPr>
          <a:xfrm>
            <a:off x="5359400" y="3505200"/>
            <a:ext cx="762000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38F389-8F95-5E10-898E-88ABE53AAC45}"/>
              </a:ext>
            </a:extLst>
          </p:cNvPr>
          <p:cNvSpPr txBox="1"/>
          <p:nvPr/>
        </p:nvSpPr>
        <p:spPr>
          <a:xfrm>
            <a:off x="5435600" y="3581400"/>
            <a:ext cx="635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F1A892-F509-1AA5-F901-2195E4EFB60F}"/>
              </a:ext>
            </a:extLst>
          </p:cNvPr>
          <p:cNvSpPr/>
          <p:nvPr/>
        </p:nvSpPr>
        <p:spPr>
          <a:xfrm>
            <a:off x="6121400" y="3505200"/>
            <a:ext cx="889000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FF7B86-0814-2463-A9F6-0A7E478238CC}"/>
              </a:ext>
            </a:extLst>
          </p:cNvPr>
          <p:cNvSpPr txBox="1"/>
          <p:nvPr/>
        </p:nvSpPr>
        <p:spPr>
          <a:xfrm>
            <a:off x="6197600" y="3581400"/>
            <a:ext cx="76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yes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DEDD95-42C4-748F-D5CC-DA6732B31098}"/>
              </a:ext>
            </a:extLst>
          </p:cNvPr>
          <p:cNvSpPr/>
          <p:nvPr/>
        </p:nvSpPr>
        <p:spPr>
          <a:xfrm>
            <a:off x="914400" y="3987800"/>
            <a:ext cx="2921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59C095-91C2-223F-2909-996096FE1240}"/>
              </a:ext>
            </a:extLst>
          </p:cNvPr>
          <p:cNvSpPr txBox="1"/>
          <p:nvPr/>
        </p:nvSpPr>
        <p:spPr>
          <a:xfrm>
            <a:off x="990600" y="4064000"/>
            <a:ext cx="279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sffs/system/heartbeat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7A0C53-C4C5-F86C-475E-1ED9AE8ADFDF}"/>
              </a:ext>
            </a:extLst>
          </p:cNvPr>
          <p:cNvSpPr/>
          <p:nvPr/>
        </p:nvSpPr>
        <p:spPr>
          <a:xfrm>
            <a:off x="3835400" y="3987800"/>
            <a:ext cx="1524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CE0882-380A-8816-FD6B-3D319A15CAE0}"/>
              </a:ext>
            </a:extLst>
          </p:cNvPr>
          <p:cNvSpPr txBox="1"/>
          <p:nvPr/>
        </p:nvSpPr>
        <p:spPr>
          <a:xfrm>
            <a:off x="3911600" y="4064000"/>
            <a:ext cx="1397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ESP32→AI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9CF05BE-89EC-2BD6-3EE2-5B339AD691EC}"/>
              </a:ext>
            </a:extLst>
          </p:cNvPr>
          <p:cNvSpPr/>
          <p:nvPr/>
        </p:nvSpPr>
        <p:spPr>
          <a:xfrm>
            <a:off x="5359400" y="3987800"/>
            <a:ext cx="762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12306D-C22F-F423-2A7D-319CA685C86A}"/>
              </a:ext>
            </a:extLst>
          </p:cNvPr>
          <p:cNvSpPr txBox="1"/>
          <p:nvPr/>
        </p:nvSpPr>
        <p:spPr>
          <a:xfrm>
            <a:off x="5435600" y="4064000"/>
            <a:ext cx="635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F7E15D9-450D-AE81-504A-C99C6C4620C9}"/>
              </a:ext>
            </a:extLst>
          </p:cNvPr>
          <p:cNvSpPr/>
          <p:nvPr/>
        </p:nvSpPr>
        <p:spPr>
          <a:xfrm>
            <a:off x="6121400" y="3987800"/>
            <a:ext cx="889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F598D1-8921-42B6-CDF5-788559DE6660}"/>
              </a:ext>
            </a:extLst>
          </p:cNvPr>
          <p:cNvSpPr txBox="1"/>
          <p:nvPr/>
        </p:nvSpPr>
        <p:spPr>
          <a:xfrm>
            <a:off x="6197600" y="4064000"/>
            <a:ext cx="76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LWT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6FC468-0799-F2F8-F049-6E9459C714A9}"/>
              </a:ext>
            </a:extLst>
          </p:cNvPr>
          <p:cNvSpPr/>
          <p:nvPr/>
        </p:nvSpPr>
        <p:spPr>
          <a:xfrm>
            <a:off x="914400" y="4470400"/>
            <a:ext cx="2921000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92BA60-7145-22D1-A1C3-0D7D93079185}"/>
              </a:ext>
            </a:extLst>
          </p:cNvPr>
          <p:cNvSpPr txBox="1"/>
          <p:nvPr/>
        </p:nvSpPr>
        <p:spPr>
          <a:xfrm>
            <a:off x="990600" y="4546600"/>
            <a:ext cx="279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sffs/ai/detection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D139616-1159-DD54-B4EF-9FF73B120018}"/>
              </a:ext>
            </a:extLst>
          </p:cNvPr>
          <p:cNvSpPr/>
          <p:nvPr/>
        </p:nvSpPr>
        <p:spPr>
          <a:xfrm>
            <a:off x="3835400" y="4470400"/>
            <a:ext cx="1524000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91E27C-6593-AB85-1544-ED38D4403904}"/>
              </a:ext>
            </a:extLst>
          </p:cNvPr>
          <p:cNvSpPr txBox="1"/>
          <p:nvPr/>
        </p:nvSpPr>
        <p:spPr>
          <a:xfrm>
            <a:off x="3911600" y="4546600"/>
            <a:ext cx="1397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AI→NR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617A08-BF6E-16C5-6F27-BE01E6D0E773}"/>
              </a:ext>
            </a:extLst>
          </p:cNvPr>
          <p:cNvSpPr/>
          <p:nvPr/>
        </p:nvSpPr>
        <p:spPr>
          <a:xfrm>
            <a:off x="5359400" y="4470400"/>
            <a:ext cx="762000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7704B2-4C7A-6289-970A-9FF9F05CC162}"/>
              </a:ext>
            </a:extLst>
          </p:cNvPr>
          <p:cNvSpPr txBox="1"/>
          <p:nvPr/>
        </p:nvSpPr>
        <p:spPr>
          <a:xfrm>
            <a:off x="5435600" y="4546600"/>
            <a:ext cx="635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5CE2C1D-E86E-8E74-35D4-1353F778D2F1}"/>
              </a:ext>
            </a:extLst>
          </p:cNvPr>
          <p:cNvSpPr/>
          <p:nvPr/>
        </p:nvSpPr>
        <p:spPr>
          <a:xfrm>
            <a:off x="6121400" y="4470400"/>
            <a:ext cx="889000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7F9F35-2CE8-7B13-E0E4-466E8296ED8C}"/>
              </a:ext>
            </a:extLst>
          </p:cNvPr>
          <p:cNvSpPr txBox="1"/>
          <p:nvPr/>
        </p:nvSpPr>
        <p:spPr>
          <a:xfrm>
            <a:off x="6197600" y="4546600"/>
            <a:ext cx="76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no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CEA95DC-D6EF-6827-62BB-0748D8931247}"/>
              </a:ext>
            </a:extLst>
          </p:cNvPr>
          <p:cNvSpPr/>
          <p:nvPr/>
        </p:nvSpPr>
        <p:spPr>
          <a:xfrm>
            <a:off x="914400" y="4953000"/>
            <a:ext cx="2921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654954B-0D52-85B5-1B0E-8EBF39194134}"/>
              </a:ext>
            </a:extLst>
          </p:cNvPr>
          <p:cNvSpPr txBox="1"/>
          <p:nvPr/>
        </p:nvSpPr>
        <p:spPr>
          <a:xfrm>
            <a:off x="990600" y="5029200"/>
            <a:ext cx="279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sffs/ai/people_count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D07210D-44B0-950C-58B8-A62A58E3F5B9}"/>
              </a:ext>
            </a:extLst>
          </p:cNvPr>
          <p:cNvSpPr/>
          <p:nvPr/>
        </p:nvSpPr>
        <p:spPr>
          <a:xfrm>
            <a:off x="3835400" y="4953000"/>
            <a:ext cx="1524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CF7683E-4052-784B-0345-9BECB838F7D2}"/>
              </a:ext>
            </a:extLst>
          </p:cNvPr>
          <p:cNvSpPr txBox="1"/>
          <p:nvPr/>
        </p:nvSpPr>
        <p:spPr>
          <a:xfrm>
            <a:off x="3911600" y="5029200"/>
            <a:ext cx="1397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AI→NR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751C9E4-6A51-AD9D-DED0-3E5C9EC5C6FB}"/>
              </a:ext>
            </a:extLst>
          </p:cNvPr>
          <p:cNvSpPr/>
          <p:nvPr/>
        </p:nvSpPr>
        <p:spPr>
          <a:xfrm>
            <a:off x="5359400" y="4953000"/>
            <a:ext cx="762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7506511-6F98-9F71-2B9E-5436F6F1EE3C}"/>
              </a:ext>
            </a:extLst>
          </p:cNvPr>
          <p:cNvSpPr txBox="1"/>
          <p:nvPr/>
        </p:nvSpPr>
        <p:spPr>
          <a:xfrm>
            <a:off x="5435600" y="5029200"/>
            <a:ext cx="635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D550479-8B63-EBD0-FF56-4CE7918D6BF9}"/>
              </a:ext>
            </a:extLst>
          </p:cNvPr>
          <p:cNvSpPr/>
          <p:nvPr/>
        </p:nvSpPr>
        <p:spPr>
          <a:xfrm>
            <a:off x="6121400" y="4953000"/>
            <a:ext cx="889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6EA90F0-B172-509D-1521-BEC4ED99E2E3}"/>
              </a:ext>
            </a:extLst>
          </p:cNvPr>
          <p:cNvSpPr txBox="1"/>
          <p:nvPr/>
        </p:nvSpPr>
        <p:spPr>
          <a:xfrm>
            <a:off x="6197600" y="5029200"/>
            <a:ext cx="76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no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66A2E24-7BC7-05FA-4E4D-3F8465C7D082}"/>
              </a:ext>
            </a:extLst>
          </p:cNvPr>
          <p:cNvSpPr/>
          <p:nvPr/>
        </p:nvSpPr>
        <p:spPr>
          <a:xfrm>
            <a:off x="7391400" y="2540000"/>
            <a:ext cx="3886200" cy="2895600"/>
          </a:xfrm>
          <a:prstGeom prst="roundRect">
            <a:avLst/>
          </a:prstGeom>
          <a:noFill/>
          <a:ln w="19050" cap="flat" cmpd="sng" algn="ctr">
            <a:solidFill>
              <a:srgbClr val="969696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4F1662B-9DEB-007E-A9B6-9AB6608E5939}"/>
              </a:ext>
            </a:extLst>
          </p:cNvPr>
          <p:cNvSpPr txBox="1"/>
          <p:nvPr/>
        </p:nvSpPr>
        <p:spPr>
          <a:xfrm>
            <a:off x="7391400" y="3810000"/>
            <a:ext cx="38862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300">
                <a:solidFill>
                  <a:srgbClr val="969696"/>
                </a:solidFill>
                <a:latin typeface="Segoe UI" panose="020B0502040204020203" pitchFamily="34" charset="0"/>
              </a:rPr>
              <a:t>[ JSON payload — drop code PNG here ]</a:t>
            </a:r>
          </a:p>
        </p:txBody>
      </p:sp>
    </p:spTree>
    <p:extLst>
      <p:ext uri="{BB962C8B-B14F-4D97-AF65-F5344CB8AC3E}">
        <p14:creationId xmlns:p14="http://schemas.microsoft.com/office/powerpoint/2010/main" val="3577633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/>
      </p:transition>
    </mc:Choice>
    <mc:Fallback xmlns="">
      <p:transition spd="med">
        <p:wip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81606B-BF76-D34C-5CB6-EDF185B11B60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0288D1"/>
                </a:solidFill>
                <a:latin typeface="Segoe UI" panose="020B0502040204020203" pitchFamily="34" charset="0"/>
              </a:rPr>
              <a:t>PILLAR 1 — CLOSED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07F7BF-DC4D-62ED-6D00-510D106AD723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600" b="1">
                <a:solidFill>
                  <a:srgbClr val="1C1C1C"/>
                </a:solidFill>
                <a:latin typeface="Segoe UI" panose="020B0502040204020203" pitchFamily="34" charset="0"/>
              </a:rPr>
              <a:t>Zonal autonomy, proven — now, can it see?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7B818C-79A5-9911-4621-B10A7C5B46AD}"/>
              </a:ext>
            </a:extLst>
          </p:cNvPr>
          <p:cNvSpPr/>
          <p:nvPr/>
        </p:nvSpPr>
        <p:spPr>
          <a:xfrm>
            <a:off x="914400" y="2921000"/>
            <a:ext cx="152400" cy="558800"/>
          </a:xfrm>
          <a:prstGeom prst="rect">
            <a:avLst/>
          </a:prstGeom>
          <a:solidFill>
            <a:srgbClr val="0288D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FD2D8C-E05C-5884-8539-4210D7CB46E4}"/>
              </a:ext>
            </a:extLst>
          </p:cNvPr>
          <p:cNvSpPr txBox="1"/>
          <p:nvPr/>
        </p:nvSpPr>
        <p:spPr>
          <a:xfrm>
            <a:off x="1244600" y="2921000"/>
            <a:ext cx="457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b="1">
                <a:solidFill>
                  <a:srgbClr val="1C1C1C"/>
                </a:solidFill>
                <a:latin typeface="Segoe UI" panose="020B0502040204020203" pitchFamily="34" charset="0"/>
              </a:rPr>
              <a:t>Level-driven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F513EA-4AA9-B580-613E-23AF11594F96}"/>
              </a:ext>
            </a:extLst>
          </p:cNvPr>
          <p:cNvSpPr txBox="1"/>
          <p:nvPr/>
        </p:nvSpPr>
        <p:spPr>
          <a:xfrm>
            <a:off x="1244600" y="3251200"/>
            <a:ext cx="762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606060"/>
                </a:solidFill>
                <a:latin typeface="Segoe UI" panose="020B0502040204020203" pitchFamily="34" charset="0"/>
              </a:rPr>
              <a:t>outputs are a pure function of state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C411D0-2D5B-B461-71C2-8E9E0F76B811}"/>
              </a:ext>
            </a:extLst>
          </p:cNvPr>
          <p:cNvSpPr/>
          <p:nvPr/>
        </p:nvSpPr>
        <p:spPr>
          <a:xfrm>
            <a:off x="914400" y="3733800"/>
            <a:ext cx="152400" cy="558800"/>
          </a:xfrm>
          <a:prstGeom prst="rect">
            <a:avLst/>
          </a:prstGeom>
          <a:solidFill>
            <a:srgbClr val="F57C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26459A-C92F-9012-5190-11E314B72989}"/>
              </a:ext>
            </a:extLst>
          </p:cNvPr>
          <p:cNvSpPr txBox="1"/>
          <p:nvPr/>
        </p:nvSpPr>
        <p:spPr>
          <a:xfrm>
            <a:off x="1244600" y="3733800"/>
            <a:ext cx="457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b="1">
                <a:solidFill>
                  <a:srgbClr val="1C1C1C"/>
                </a:solidFill>
                <a:latin typeface="Segoe UI" panose="020B0502040204020203" pitchFamily="34" charset="0"/>
              </a:rPr>
              <a:t>Edge-cached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950662-1878-CD1C-DEF4-477539862DE0}"/>
              </a:ext>
            </a:extLst>
          </p:cNvPr>
          <p:cNvSpPr txBox="1"/>
          <p:nvPr/>
        </p:nvSpPr>
        <p:spPr>
          <a:xfrm>
            <a:off x="1244600" y="4064000"/>
            <a:ext cx="762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606060"/>
                </a:solidFill>
                <a:latin typeface="Segoe UI" panose="020B0502040204020203" pitchFamily="34" charset="0"/>
              </a:rPr>
              <a:t>hardware writes only on real change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98DF63-1DAE-5100-55FD-5124D901A83D}"/>
              </a:ext>
            </a:extLst>
          </p:cNvPr>
          <p:cNvSpPr/>
          <p:nvPr/>
        </p:nvSpPr>
        <p:spPr>
          <a:xfrm>
            <a:off x="914400" y="4546600"/>
            <a:ext cx="152400" cy="558800"/>
          </a:xfrm>
          <a:prstGeom prst="rect">
            <a:avLst/>
          </a:prstGeom>
          <a:solidFill>
            <a:srgbClr val="D3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0E48EC-A245-1F00-BACE-8FB10BC11DD1}"/>
              </a:ext>
            </a:extLst>
          </p:cNvPr>
          <p:cNvSpPr txBox="1"/>
          <p:nvPr/>
        </p:nvSpPr>
        <p:spPr>
          <a:xfrm>
            <a:off x="1244600" y="4546600"/>
            <a:ext cx="457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b="1">
                <a:solidFill>
                  <a:srgbClr val="1C1C1C"/>
                </a:solidFill>
                <a:latin typeface="Segoe UI" panose="020B0502040204020203" pitchFamily="34" charset="0"/>
              </a:rPr>
              <a:t>Fail-operational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703880-FB10-C94E-DD68-EF929F735220}"/>
              </a:ext>
            </a:extLst>
          </p:cNvPr>
          <p:cNvSpPr txBox="1"/>
          <p:nvPr/>
        </p:nvSpPr>
        <p:spPr>
          <a:xfrm>
            <a:off x="1244600" y="4876800"/>
            <a:ext cx="762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606060"/>
                </a:solidFill>
                <a:latin typeface="Segoe UI" panose="020B0502040204020203" pitchFamily="34" charset="0"/>
              </a:rPr>
              <a:t>suppression independent of the network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A948A3-9CF0-F34C-A29A-A3B67325351B}"/>
              </a:ext>
            </a:extLst>
          </p:cNvPr>
          <p:cNvSpPr txBox="1"/>
          <p:nvPr/>
        </p:nvSpPr>
        <p:spPr>
          <a:xfrm>
            <a:off x="914400" y="55880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b="1">
                <a:solidFill>
                  <a:srgbClr val="F57C00"/>
                </a:solidFill>
                <a:latin typeface="Segoe UI" panose="020B0502040204020203" pitchFamily="34" charset="0"/>
              </a:rPr>
              <a:t>Next: the AI tier that confirms, sees, and alerts.</a:t>
            </a:r>
          </a:p>
        </p:txBody>
      </p:sp>
    </p:spTree>
    <p:extLst>
      <p:ext uri="{BB962C8B-B14F-4D97-AF65-F5344CB8AC3E}">
        <p14:creationId xmlns:p14="http://schemas.microsoft.com/office/powerpoint/2010/main" val="8306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900" fill="hold"/>
                                        <p:tgtEl>
                                          <p:spTgt spid="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1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270D68-E416-D779-28AF-86A0962D77EC}"/>
              </a:ext>
            </a:extLst>
          </p:cNvPr>
          <p:cNvSpPr txBox="1"/>
          <p:nvPr/>
        </p:nvSpPr>
        <p:spPr>
          <a:xfrm>
            <a:off x="838200" y="1905000"/>
            <a:ext cx="457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0000" b="1">
                <a:solidFill>
                  <a:srgbClr val="EDEDED"/>
                </a:solidFill>
                <a:latin typeface="Segoe UI" panose="020B0502040204020203" pitchFamily="34" charset="0"/>
              </a:rPr>
              <a:t>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5B2D32-02B2-5F48-F3B7-9C0FC750AAF7}"/>
              </a:ext>
            </a:extLst>
          </p:cNvPr>
          <p:cNvSpPr txBox="1"/>
          <p:nvPr/>
        </p:nvSpPr>
        <p:spPr>
          <a:xfrm>
            <a:off x="914400" y="21590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F57C00"/>
                </a:solidFill>
                <a:latin typeface="Segoe UI" panose="020B0502040204020203" pitchFamily="34" charset="0"/>
              </a:rPr>
              <a:t>PILLAR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B10C39-C4DE-2EBC-95EB-4F455AB22058}"/>
              </a:ext>
            </a:extLst>
          </p:cNvPr>
          <p:cNvSpPr txBox="1"/>
          <p:nvPr/>
        </p:nvSpPr>
        <p:spPr>
          <a:xfrm>
            <a:off x="914400" y="2489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4800" b="1">
                <a:solidFill>
                  <a:srgbClr val="1C1C1C"/>
                </a:solidFill>
                <a:latin typeface="Segoe UI" panose="020B0502040204020203" pitchFamily="34" charset="0"/>
              </a:rPr>
              <a:t>AI-Confirmed Perception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3D833C-0716-6F78-467F-F353A441795D}"/>
              </a:ext>
            </a:extLst>
          </p:cNvPr>
          <p:cNvCxnSpPr/>
          <p:nvPr/>
        </p:nvCxnSpPr>
        <p:spPr>
          <a:xfrm>
            <a:off x="914400" y="3606800"/>
            <a:ext cx="152400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BB698F0-B9FF-8ED5-B357-06A9D4EEBC4E}"/>
              </a:ext>
            </a:extLst>
          </p:cNvPr>
          <p:cNvSpPr txBox="1"/>
          <p:nvPr/>
        </p:nvSpPr>
        <p:spPr>
          <a:xfrm>
            <a:off x="914400" y="3860800"/>
            <a:ext cx="9906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000">
                <a:solidFill>
                  <a:srgbClr val="606060"/>
                </a:solidFill>
                <a:latin typeface="Segoe UI" panose="020B0502040204020203" pitchFamily="34" charset="0"/>
              </a:rPr>
              <a:t>The system doesn't just sense — it sees, confirms, and tells you.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04C3C8C-FA44-1F4A-3F28-356789428C4F}"/>
              </a:ext>
            </a:extLst>
          </p:cNvPr>
          <p:cNvSpPr/>
          <p:nvPr/>
        </p:nvSpPr>
        <p:spPr>
          <a:xfrm>
            <a:off x="10287000" y="1143000"/>
            <a:ext cx="685800" cy="685800"/>
          </a:xfrm>
          <a:prstGeom prst="ellipse">
            <a:avLst/>
          </a:prstGeom>
          <a:noFill/>
          <a:ln w="31750" cap="flat" cmpd="sng" algn="ctr">
            <a:solidFill>
              <a:srgbClr val="F57C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92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push dir="u"/>
      </p:transition>
    </mc:Choice>
    <mc:Fallback xmlns=""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900" fill="hold"/>
                                        <p:tgtEl>
                                          <p:spTgt spid="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1B2795-6A28-0F93-43A1-04BFCB66707A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F57C00"/>
                </a:solidFill>
                <a:latin typeface="Segoe UI" panose="020B0502040204020203" pitchFamily="34" charset="0"/>
              </a:rPr>
              <a:t>PERCEPTION LOOP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0CABD0-8452-5847-B051-C8185CEA28A2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400" b="1">
                <a:solidFill>
                  <a:srgbClr val="1C1C1C"/>
                </a:solidFill>
                <a:latin typeface="Segoe UI" panose="020B0502040204020203" pitchFamily="34" charset="0"/>
              </a:rPr>
              <a:t>Capture → detect + track → fuse → alert.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6EE41B-96D2-37AE-CC95-2C43403B37E6}"/>
              </a:ext>
            </a:extLst>
          </p:cNvPr>
          <p:cNvSpPr/>
          <p:nvPr/>
        </p:nvSpPr>
        <p:spPr>
          <a:xfrm>
            <a:off x="914400" y="3429000"/>
            <a:ext cx="1905000" cy="889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606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457F9-D94D-664D-5343-E07DAC2AF151}"/>
              </a:ext>
            </a:extLst>
          </p:cNvPr>
          <p:cNvSpPr txBox="1"/>
          <p:nvPr/>
        </p:nvSpPr>
        <p:spPr>
          <a:xfrm>
            <a:off x="914400" y="3530600"/>
            <a:ext cx="1905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500" b="1">
                <a:solidFill>
                  <a:srgbClr val="1C1C1C"/>
                </a:solidFill>
                <a:latin typeface="Segoe UI" panose="020B0502040204020203" pitchFamily="34" charset="0"/>
              </a:rPr>
              <a:t>Camera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5E97F78-9635-CAF2-0A8F-8ADD519BF0DC}"/>
              </a:ext>
            </a:extLst>
          </p:cNvPr>
          <p:cNvSpPr/>
          <p:nvPr/>
        </p:nvSpPr>
        <p:spPr>
          <a:xfrm>
            <a:off x="3098800" y="3429000"/>
            <a:ext cx="1905000" cy="889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F57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38BA9-AE01-099C-53E2-59B529CF8119}"/>
              </a:ext>
            </a:extLst>
          </p:cNvPr>
          <p:cNvSpPr txBox="1"/>
          <p:nvPr/>
        </p:nvSpPr>
        <p:spPr>
          <a:xfrm>
            <a:off x="3098800" y="3530600"/>
            <a:ext cx="1905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500" b="1">
                <a:solidFill>
                  <a:srgbClr val="1C1C1C"/>
                </a:solidFill>
                <a:latin typeface="Segoe UI" panose="020B0502040204020203" pitchFamily="34" charset="0"/>
              </a:rPr>
              <a:t>YOLOv11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93F607A-F728-5277-B6AA-A0B17E759666}"/>
              </a:ext>
            </a:extLst>
          </p:cNvPr>
          <p:cNvSpPr/>
          <p:nvPr/>
        </p:nvSpPr>
        <p:spPr>
          <a:xfrm>
            <a:off x="2794000" y="3771900"/>
            <a:ext cx="279400" cy="203200"/>
          </a:xfrm>
          <a:prstGeom prst="rightArrow">
            <a:avLst/>
          </a:prstGeom>
          <a:solidFill>
            <a:srgbClr val="606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197688-9F85-6B59-7F36-C69A58DA0647}"/>
              </a:ext>
            </a:extLst>
          </p:cNvPr>
          <p:cNvSpPr/>
          <p:nvPr/>
        </p:nvSpPr>
        <p:spPr>
          <a:xfrm>
            <a:off x="5283200" y="3429000"/>
            <a:ext cx="1905000" cy="889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0288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7D8679-918F-29F5-7DD2-28F05FCDFA2F}"/>
              </a:ext>
            </a:extLst>
          </p:cNvPr>
          <p:cNvSpPr txBox="1"/>
          <p:nvPr/>
        </p:nvSpPr>
        <p:spPr>
          <a:xfrm>
            <a:off x="5283200" y="3530600"/>
            <a:ext cx="1905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500" b="1">
                <a:solidFill>
                  <a:srgbClr val="1C1C1C"/>
                </a:solidFill>
                <a:latin typeface="Segoe UI" panose="020B0502040204020203" pitchFamily="34" charset="0"/>
              </a:rPr>
              <a:t>Occupancy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3B9A761-6F50-BBC3-DEE3-161317E5A567}"/>
              </a:ext>
            </a:extLst>
          </p:cNvPr>
          <p:cNvSpPr/>
          <p:nvPr/>
        </p:nvSpPr>
        <p:spPr>
          <a:xfrm>
            <a:off x="4978400" y="3771900"/>
            <a:ext cx="279400" cy="203200"/>
          </a:xfrm>
          <a:prstGeom prst="rightArrow">
            <a:avLst/>
          </a:prstGeom>
          <a:solidFill>
            <a:srgbClr val="606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36C4C8-7683-1251-FD65-2B629799DE91}"/>
              </a:ext>
            </a:extLst>
          </p:cNvPr>
          <p:cNvSpPr/>
          <p:nvPr/>
        </p:nvSpPr>
        <p:spPr>
          <a:xfrm>
            <a:off x="7467600" y="3429000"/>
            <a:ext cx="1905000" cy="889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0288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76748E-64D8-C3D3-DF21-806390332999}"/>
              </a:ext>
            </a:extLst>
          </p:cNvPr>
          <p:cNvSpPr txBox="1"/>
          <p:nvPr/>
        </p:nvSpPr>
        <p:spPr>
          <a:xfrm>
            <a:off x="7467600" y="3530600"/>
            <a:ext cx="1905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500" b="1">
                <a:solidFill>
                  <a:srgbClr val="1C1C1C"/>
                </a:solidFill>
                <a:latin typeface="Segoe UI" panose="020B0502040204020203" pitchFamily="34" charset="0"/>
              </a:rPr>
              <a:t>Decision
Engine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C8F742E-16A0-037B-0056-47CD06E97D03}"/>
              </a:ext>
            </a:extLst>
          </p:cNvPr>
          <p:cNvSpPr/>
          <p:nvPr/>
        </p:nvSpPr>
        <p:spPr>
          <a:xfrm>
            <a:off x="7162800" y="3771900"/>
            <a:ext cx="279400" cy="203200"/>
          </a:xfrm>
          <a:prstGeom prst="rightArrow">
            <a:avLst/>
          </a:prstGeom>
          <a:solidFill>
            <a:srgbClr val="606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6E1CEB8-FCB5-5E55-07E0-7822B0E247AF}"/>
              </a:ext>
            </a:extLst>
          </p:cNvPr>
          <p:cNvSpPr/>
          <p:nvPr/>
        </p:nvSpPr>
        <p:spPr>
          <a:xfrm>
            <a:off x="9652000" y="3429000"/>
            <a:ext cx="1905000" cy="889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D32F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FC698F-9063-25AE-EBA6-F1F5865BB701}"/>
              </a:ext>
            </a:extLst>
          </p:cNvPr>
          <p:cNvSpPr txBox="1"/>
          <p:nvPr/>
        </p:nvSpPr>
        <p:spPr>
          <a:xfrm>
            <a:off x="9652000" y="3530600"/>
            <a:ext cx="1905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500" b="1">
                <a:solidFill>
                  <a:srgbClr val="1C1C1C"/>
                </a:solidFill>
                <a:latin typeface="Segoe UI" panose="020B0502040204020203" pitchFamily="34" charset="0"/>
              </a:rPr>
              <a:t>MQTT /
Telegram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CB91888-BB61-0A11-2DF0-8B587E8A562D}"/>
              </a:ext>
            </a:extLst>
          </p:cNvPr>
          <p:cNvSpPr/>
          <p:nvPr/>
        </p:nvSpPr>
        <p:spPr>
          <a:xfrm>
            <a:off x="9347200" y="3771900"/>
            <a:ext cx="279400" cy="203200"/>
          </a:xfrm>
          <a:prstGeom prst="rightArrow">
            <a:avLst/>
          </a:prstGeom>
          <a:solidFill>
            <a:srgbClr val="606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60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35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BFB19D-F6FE-1D45-E08C-1A39705B1BBD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F57C00"/>
                </a:solidFill>
                <a:latin typeface="Segoe UI" panose="020B0502040204020203" pitchFamily="34" charset="0"/>
              </a:rPr>
              <a:t>DETECTOR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784A6B-F61E-5CAC-E09D-46D21133029A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300" b="1">
                <a:solidFill>
                  <a:srgbClr val="1C1C1C"/>
                </a:solidFill>
                <a:latin typeface="Segoe UI" panose="020B0502040204020203" pitchFamily="34" charset="0"/>
              </a:rPr>
              <a:t>YOLOv11 runs dual-mode: CUDA FP16 on GPU, ONNX on CPU.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67D2953-9806-41B8-4932-AF0FD434109B}"/>
              </a:ext>
            </a:extLst>
          </p:cNvPr>
          <p:cNvSpPr/>
          <p:nvPr/>
        </p:nvSpPr>
        <p:spPr>
          <a:xfrm>
            <a:off x="914400" y="2984500"/>
            <a:ext cx="1651000" cy="635000"/>
          </a:xfrm>
          <a:prstGeom prst="roundRect">
            <a:avLst/>
          </a:prstGeom>
          <a:solidFill>
            <a:srgbClr val="EDEDED"/>
          </a:solidFill>
          <a:ln w="19050">
            <a:solidFill>
              <a:srgbClr val="F57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BF65BB-C4A6-D113-ED14-BA3F51515460}"/>
              </a:ext>
            </a:extLst>
          </p:cNvPr>
          <p:cNvSpPr txBox="1"/>
          <p:nvPr/>
        </p:nvSpPr>
        <p:spPr>
          <a:xfrm>
            <a:off x="914400" y="3060700"/>
            <a:ext cx="1651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200">
                <a:solidFill>
                  <a:srgbClr val="1C1C1C"/>
                </a:solidFill>
                <a:latin typeface="Consolas" panose="020B0609020204030204" pitchFamily="49" charset="0"/>
              </a:rPr>
              <a:t>frame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A56B7A8-D3EB-2ACF-00B9-88E09ED15CEE}"/>
              </a:ext>
            </a:extLst>
          </p:cNvPr>
          <p:cNvSpPr/>
          <p:nvPr/>
        </p:nvSpPr>
        <p:spPr>
          <a:xfrm>
            <a:off x="2590800" y="3225800"/>
            <a:ext cx="177800" cy="152400"/>
          </a:xfrm>
          <a:prstGeom prst="rightArrow">
            <a:avLst/>
          </a:prstGeom>
          <a:solidFill>
            <a:srgbClr val="606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423EAC1-AEFF-9B38-B2C3-C11681852C46}"/>
              </a:ext>
            </a:extLst>
          </p:cNvPr>
          <p:cNvSpPr/>
          <p:nvPr/>
        </p:nvSpPr>
        <p:spPr>
          <a:xfrm>
            <a:off x="2743200" y="2984500"/>
            <a:ext cx="1651000" cy="635000"/>
          </a:xfrm>
          <a:prstGeom prst="roundRect">
            <a:avLst/>
          </a:prstGeom>
          <a:solidFill>
            <a:srgbClr val="EDEDED"/>
          </a:solidFill>
          <a:ln w="19050">
            <a:solidFill>
              <a:srgbClr val="F57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A673DB-548E-BA4D-B895-B70C8E1889B8}"/>
              </a:ext>
            </a:extLst>
          </p:cNvPr>
          <p:cNvSpPr txBox="1"/>
          <p:nvPr/>
        </p:nvSpPr>
        <p:spPr>
          <a:xfrm>
            <a:off x="2743200" y="3060700"/>
            <a:ext cx="1651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200">
                <a:solidFill>
                  <a:srgbClr val="1C1C1C"/>
                </a:solidFill>
                <a:latin typeface="Consolas" panose="020B0609020204030204" pitchFamily="49" charset="0"/>
              </a:rPr>
              <a:t>letterbox 640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8382901-9288-B3E7-54F6-1EB47807CC79}"/>
              </a:ext>
            </a:extLst>
          </p:cNvPr>
          <p:cNvSpPr/>
          <p:nvPr/>
        </p:nvSpPr>
        <p:spPr>
          <a:xfrm>
            <a:off x="4419600" y="3225800"/>
            <a:ext cx="177800" cy="152400"/>
          </a:xfrm>
          <a:prstGeom prst="rightArrow">
            <a:avLst/>
          </a:prstGeom>
          <a:solidFill>
            <a:srgbClr val="606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EB6CFA0-1A40-B80A-6668-A943BF0A0B0B}"/>
              </a:ext>
            </a:extLst>
          </p:cNvPr>
          <p:cNvSpPr/>
          <p:nvPr/>
        </p:nvSpPr>
        <p:spPr>
          <a:xfrm>
            <a:off x="4572000" y="2984500"/>
            <a:ext cx="1651000" cy="635000"/>
          </a:xfrm>
          <a:prstGeom prst="roundRect">
            <a:avLst/>
          </a:prstGeom>
          <a:solidFill>
            <a:srgbClr val="EDEDED"/>
          </a:solidFill>
          <a:ln w="19050">
            <a:solidFill>
              <a:srgbClr val="F57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2AEE96-4911-78F5-0A4A-4EFADF54D3C2}"/>
              </a:ext>
            </a:extLst>
          </p:cNvPr>
          <p:cNvSpPr txBox="1"/>
          <p:nvPr/>
        </p:nvSpPr>
        <p:spPr>
          <a:xfrm>
            <a:off x="4572000" y="3060700"/>
            <a:ext cx="1651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200">
                <a:solidFill>
                  <a:srgbClr val="1C1C1C"/>
                </a:solidFill>
                <a:latin typeface="Consolas" panose="020B0609020204030204" pitchFamily="49" charset="0"/>
              </a:rPr>
              <a:t>FP16 tensor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FF034B9-1234-0B8E-DEEB-95994BA98CA1}"/>
              </a:ext>
            </a:extLst>
          </p:cNvPr>
          <p:cNvSpPr/>
          <p:nvPr/>
        </p:nvSpPr>
        <p:spPr>
          <a:xfrm>
            <a:off x="6248400" y="3225800"/>
            <a:ext cx="177800" cy="152400"/>
          </a:xfrm>
          <a:prstGeom prst="rightArrow">
            <a:avLst/>
          </a:prstGeom>
          <a:solidFill>
            <a:srgbClr val="606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9CA3F5C-7271-F49D-83C2-955D9253ECCD}"/>
              </a:ext>
            </a:extLst>
          </p:cNvPr>
          <p:cNvSpPr/>
          <p:nvPr/>
        </p:nvSpPr>
        <p:spPr>
          <a:xfrm>
            <a:off x="6400800" y="2984500"/>
            <a:ext cx="1651000" cy="635000"/>
          </a:xfrm>
          <a:prstGeom prst="roundRect">
            <a:avLst/>
          </a:prstGeom>
          <a:solidFill>
            <a:srgbClr val="EDEDED"/>
          </a:solidFill>
          <a:ln w="19050">
            <a:solidFill>
              <a:srgbClr val="F57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27D000-F4ED-3044-A8BA-1457C590A4BA}"/>
              </a:ext>
            </a:extLst>
          </p:cNvPr>
          <p:cNvSpPr txBox="1"/>
          <p:nvPr/>
        </p:nvSpPr>
        <p:spPr>
          <a:xfrm>
            <a:off x="6400800" y="3060700"/>
            <a:ext cx="1651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200">
                <a:solidFill>
                  <a:srgbClr val="1C1C1C"/>
                </a:solidFill>
                <a:latin typeface="Consolas" panose="020B0609020204030204" pitchFamily="49" charset="0"/>
              </a:rPr>
              <a:t>forward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B6C42D5-EF5D-27DD-5E60-430A172B1A91}"/>
              </a:ext>
            </a:extLst>
          </p:cNvPr>
          <p:cNvSpPr/>
          <p:nvPr/>
        </p:nvSpPr>
        <p:spPr>
          <a:xfrm>
            <a:off x="8077200" y="3225800"/>
            <a:ext cx="177800" cy="152400"/>
          </a:xfrm>
          <a:prstGeom prst="rightArrow">
            <a:avLst/>
          </a:prstGeom>
          <a:solidFill>
            <a:srgbClr val="606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B340B6D-5DBC-15E4-735D-FD7BBA29A668}"/>
              </a:ext>
            </a:extLst>
          </p:cNvPr>
          <p:cNvSpPr/>
          <p:nvPr/>
        </p:nvSpPr>
        <p:spPr>
          <a:xfrm>
            <a:off x="8229600" y="2984500"/>
            <a:ext cx="1651000" cy="635000"/>
          </a:xfrm>
          <a:prstGeom prst="roundRect">
            <a:avLst/>
          </a:prstGeom>
          <a:solidFill>
            <a:srgbClr val="EDEDED"/>
          </a:solidFill>
          <a:ln w="19050">
            <a:solidFill>
              <a:srgbClr val="F57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E6D3E1-B830-B6D4-73D5-7307DF20369B}"/>
              </a:ext>
            </a:extLst>
          </p:cNvPr>
          <p:cNvSpPr txBox="1"/>
          <p:nvPr/>
        </p:nvSpPr>
        <p:spPr>
          <a:xfrm>
            <a:off x="8229600" y="3060700"/>
            <a:ext cx="1651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200">
                <a:solidFill>
                  <a:srgbClr val="1C1C1C"/>
                </a:solidFill>
                <a:latin typeface="Consolas" panose="020B0609020204030204" pitchFamily="49" charset="0"/>
              </a:rPr>
              <a:t>NMS @ IoU 0.20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BB17185-77B6-584E-A5A9-08BDBADA9333}"/>
              </a:ext>
            </a:extLst>
          </p:cNvPr>
          <p:cNvSpPr/>
          <p:nvPr/>
        </p:nvSpPr>
        <p:spPr>
          <a:xfrm>
            <a:off x="9906000" y="3225800"/>
            <a:ext cx="177800" cy="152400"/>
          </a:xfrm>
          <a:prstGeom prst="rightArrow">
            <a:avLst/>
          </a:prstGeom>
          <a:solidFill>
            <a:srgbClr val="606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89D5BC8-2BE2-B22B-A9FE-6FBB795BB372}"/>
              </a:ext>
            </a:extLst>
          </p:cNvPr>
          <p:cNvSpPr/>
          <p:nvPr/>
        </p:nvSpPr>
        <p:spPr>
          <a:xfrm>
            <a:off x="914400" y="3873500"/>
            <a:ext cx="1651000" cy="635000"/>
          </a:xfrm>
          <a:prstGeom prst="roundRect">
            <a:avLst/>
          </a:prstGeom>
          <a:solidFill>
            <a:srgbClr val="EDEDED"/>
          </a:solidFill>
          <a:ln w="19050">
            <a:solidFill>
              <a:srgbClr val="F57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6153A5-EB61-501A-1738-A1E2D205A36D}"/>
              </a:ext>
            </a:extLst>
          </p:cNvPr>
          <p:cNvSpPr txBox="1"/>
          <p:nvPr/>
        </p:nvSpPr>
        <p:spPr>
          <a:xfrm>
            <a:off x="914400" y="3949700"/>
            <a:ext cx="1651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200">
                <a:solidFill>
                  <a:srgbClr val="1C1C1C"/>
                </a:solidFill>
                <a:latin typeface="Consolas" panose="020B0609020204030204" pitchFamily="49" charset="0"/>
              </a:rPr>
              <a:t>boxes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F794EC-320F-5015-BBFE-AD144531DAD5}"/>
              </a:ext>
            </a:extLst>
          </p:cNvPr>
          <p:cNvSpPr txBox="1"/>
          <p:nvPr/>
        </p:nvSpPr>
        <p:spPr>
          <a:xfrm>
            <a:off x="914400" y="45720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>
                <a:solidFill>
                  <a:srgbClr val="1C1C1C"/>
                </a:solidFill>
                <a:latin typeface="Segoe UI" panose="020B0502040204020203" pitchFamily="34" charset="0"/>
              </a:rPr>
              <a:t>Acceptance gates:  conf ≥ 0.50 (fire)  ·  conf ≥ 0.75 (smoke)
detect() never mutates the frame — draw() is a single final pass (clean frame for both models)
GPU: every frame  ·  CPU: fire inference every 3rd frame (tracking stays every frame)</a:t>
            </a:r>
          </a:p>
        </p:txBody>
      </p:sp>
    </p:spTree>
    <p:extLst>
      <p:ext uri="{BB962C8B-B14F-4D97-AF65-F5344CB8AC3E}">
        <p14:creationId xmlns:p14="http://schemas.microsoft.com/office/powerpoint/2010/main" val="562698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9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8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7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6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5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3" grpId="0" animBg="1"/>
      <p:bldP spid="16" grpId="0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B42FED-5D0B-05A0-016F-30FCAE633E7C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F57C00"/>
                </a:solidFill>
                <a:latin typeface="Segoe UI" panose="020B0502040204020203" pitchFamily="34" charset="0"/>
              </a:rPr>
              <a:t>SNAPSHOT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56DB56-C760-811A-C721-0350157CD60C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400" b="1">
                <a:solidFill>
                  <a:srgbClr val="1C1C1C"/>
                </a:solidFill>
                <a:latin typeface="Segoe UI" panose="020B0502040204020203" pitchFamily="34" charset="0"/>
              </a:rPr>
              <a:t>The moment of detection becomes ground truth.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404820-D45F-FFDC-43CD-BE240E01972C}"/>
              </a:ext>
            </a:extLst>
          </p:cNvPr>
          <p:cNvSpPr/>
          <p:nvPr/>
        </p:nvSpPr>
        <p:spPr>
          <a:xfrm>
            <a:off x="914400" y="2667000"/>
            <a:ext cx="177800" cy="177800"/>
          </a:xfrm>
          <a:prstGeom prst="rect">
            <a:avLst/>
          </a:prstGeom>
          <a:solidFill>
            <a:srgbClr val="F57C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037BA6-5B46-CF1B-655B-925B7B7C977F}"/>
              </a:ext>
            </a:extLst>
          </p:cNvPr>
          <p:cNvSpPr txBox="1"/>
          <p:nvPr/>
        </p:nvSpPr>
        <p:spPr>
          <a:xfrm>
            <a:off x="1219200" y="2616200"/>
            <a:ext cx="4826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YOLOv11 confirms flame/smoke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9540EC-E685-F51C-820A-63C56571CCA2}"/>
              </a:ext>
            </a:extLst>
          </p:cNvPr>
          <p:cNvSpPr/>
          <p:nvPr/>
        </p:nvSpPr>
        <p:spPr>
          <a:xfrm>
            <a:off x="914400" y="3251200"/>
            <a:ext cx="177800" cy="177800"/>
          </a:xfrm>
          <a:prstGeom prst="rect">
            <a:avLst/>
          </a:prstGeom>
          <a:solidFill>
            <a:srgbClr val="D3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3BF2DF-A0A1-3326-FD86-465A2FF70AB1}"/>
              </a:ext>
            </a:extLst>
          </p:cNvPr>
          <p:cNvSpPr txBox="1"/>
          <p:nvPr/>
        </p:nvSpPr>
        <p:spPr>
          <a:xfrm>
            <a:off x="1219200" y="3200400"/>
            <a:ext cx="4826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capture affected-room frame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5AF6FC-D124-5CDB-B7FE-589F05EA0DC0}"/>
              </a:ext>
            </a:extLst>
          </p:cNvPr>
          <p:cNvSpPr/>
          <p:nvPr/>
        </p:nvSpPr>
        <p:spPr>
          <a:xfrm>
            <a:off x="914400" y="3835400"/>
            <a:ext cx="177800" cy="177800"/>
          </a:xfrm>
          <a:prstGeom prst="rect">
            <a:avLst/>
          </a:prstGeom>
          <a:solidFill>
            <a:srgbClr val="D3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1108CF-C420-B2EA-8124-321972244B26}"/>
              </a:ext>
            </a:extLst>
          </p:cNvPr>
          <p:cNvSpPr txBox="1"/>
          <p:nvPr/>
        </p:nvSpPr>
        <p:spPr>
          <a:xfrm>
            <a:off x="1219200" y="3784600"/>
            <a:ext cx="4826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1C1C1C"/>
                </a:solidFill>
                <a:latin typeface="Consolas" panose="020B0609020204030204" pitchFamily="49" charset="0"/>
              </a:rPr>
              <a:t>save  detected_fires/alert_&lt;ts&gt;.jpg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EBC34C-681A-0D61-4D17-CFFB189C0643}"/>
              </a:ext>
            </a:extLst>
          </p:cNvPr>
          <p:cNvSpPr/>
          <p:nvPr/>
        </p:nvSpPr>
        <p:spPr>
          <a:xfrm>
            <a:off x="914400" y="4419600"/>
            <a:ext cx="177800" cy="177800"/>
          </a:xfrm>
          <a:prstGeom prst="rect">
            <a:avLst/>
          </a:prstGeom>
          <a:solidFill>
            <a:srgbClr val="D3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8A3E0A-CDD2-9453-6B80-51B60DEE8A50}"/>
              </a:ext>
            </a:extLst>
          </p:cNvPr>
          <p:cNvSpPr txBox="1"/>
          <p:nvPr/>
        </p:nvSpPr>
        <p:spPr>
          <a:xfrm>
            <a:off x="1219200" y="4368800"/>
            <a:ext cx="4826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dispatch to Telegram (non-blocking)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A7D7D1-E1B8-B664-7055-1CB6034B8B3F}"/>
              </a:ext>
            </a:extLst>
          </p:cNvPr>
          <p:cNvSpPr txBox="1"/>
          <p:nvPr/>
        </p:nvSpPr>
        <p:spPr>
          <a:xfrm>
            <a:off x="914400" y="5080000"/>
            <a:ext cx="533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>
                <a:solidFill>
                  <a:srgbClr val="606060"/>
                </a:solidFill>
                <a:latin typeface="Segoe UI" panose="020B0502040204020203" pitchFamily="34" charset="0"/>
              </a:rPr>
              <a:t>The saved frame is the exact image transmitted — on-screen detection and mobile alert are identical.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7480A9-559D-6836-9F00-7636B484AFE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0" y="2540000"/>
            <a:ext cx="4064000" cy="3048000"/>
          </a:xfrm>
          <a:prstGeom prst="rect">
            <a:avLst/>
          </a:prstGeom>
          <a:ln w="15875">
            <a:solidFill>
              <a:srgbClr val="1C1C1C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DC71B67-32FB-6DDE-1E7F-32D9E5345A43}"/>
              </a:ext>
            </a:extLst>
          </p:cNvPr>
          <p:cNvSpPr txBox="1"/>
          <p:nvPr/>
        </p:nvSpPr>
        <p:spPr>
          <a:xfrm>
            <a:off x="7213600" y="5638800"/>
            <a:ext cx="406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000">
                <a:solidFill>
                  <a:srgbClr val="606060"/>
                </a:solidFill>
                <a:latin typeface="Segoe UI" panose="020B0502040204020203" pitchFamily="34" charset="0"/>
              </a:rPr>
              <a:t>detected_fires\alert_20260619-001311-916843.jpg</a:t>
            </a:r>
          </a:p>
        </p:txBody>
      </p:sp>
    </p:spTree>
    <p:extLst>
      <p:ext uri="{BB962C8B-B14F-4D97-AF65-F5344CB8AC3E}">
        <p14:creationId xmlns:p14="http://schemas.microsoft.com/office/powerpoint/2010/main" val="1183341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04D574-3B9A-9EB1-580B-8B9E03591C21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D32F2F"/>
                </a:solidFill>
                <a:latin typeface="Segoe UI" panose="020B0502040204020203" pitchFamily="34" charset="0"/>
              </a:rPr>
              <a:t>INSTANT VISUAL ALERTING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97CC21-32E9-1354-FB49-7C1DAE0F783E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300" b="1">
                <a:solidFill>
                  <a:srgbClr val="1C1C1C"/>
                </a:solidFill>
                <a:latin typeface="Segoe UI" panose="020B0502040204020203" pitchFamily="34" charset="0"/>
              </a:rPr>
              <a:t>Image + metrics on the responder's phone.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92AEEB-1FC9-5860-B12E-DEA3DFD535B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286000"/>
            <a:ext cx="2667000" cy="4064000"/>
          </a:xfrm>
          <a:prstGeom prst="rect">
            <a:avLst/>
          </a:prstGeom>
          <a:ln w="15875">
            <a:solidFill>
              <a:srgbClr val="1C1C1C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22A09D-C53B-634D-C5F0-2A2CA903C25E}"/>
              </a:ext>
            </a:extLst>
          </p:cNvPr>
          <p:cNvSpPr txBox="1"/>
          <p:nvPr/>
        </p:nvSpPr>
        <p:spPr>
          <a:xfrm>
            <a:off x="914400" y="6400800"/>
            <a:ext cx="2667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000">
                <a:solidFill>
                  <a:srgbClr val="606060"/>
                </a:solidFill>
                <a:latin typeface="Segoe UI" panose="020B0502040204020203" pitchFamily="34" charset="0"/>
              </a:rPr>
              <a:t>photos\telegram masseg.png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C7F299-6E3A-878D-1C0E-03719596E96C}"/>
              </a:ext>
            </a:extLst>
          </p:cNvPr>
          <p:cNvSpPr/>
          <p:nvPr/>
        </p:nvSpPr>
        <p:spPr>
          <a:xfrm>
            <a:off x="4470400" y="2540000"/>
            <a:ext cx="152400" cy="152400"/>
          </a:xfrm>
          <a:prstGeom prst="rect">
            <a:avLst/>
          </a:prstGeom>
          <a:solidFill>
            <a:srgbClr val="F57C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DD7F5E-C017-3F32-FEFF-0F63E417B9A1}"/>
              </a:ext>
            </a:extLst>
          </p:cNvPr>
          <p:cNvSpPr txBox="1"/>
          <p:nvPr/>
        </p:nvSpPr>
        <p:spPr>
          <a:xfrm>
            <a:off x="4749800" y="2489200"/>
            <a:ext cx="584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>
                <a:solidFill>
                  <a:srgbClr val="1C1C1C"/>
                </a:solidFill>
                <a:latin typeface="Segoe UI" panose="020B0502040204020203" pitchFamily="34" charset="0"/>
              </a:rPr>
              <a:t>State  ·  confidence  ·  source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3EF50A-D944-471E-5784-4C57D3F05F79}"/>
              </a:ext>
            </a:extLst>
          </p:cNvPr>
          <p:cNvSpPr/>
          <p:nvPr/>
        </p:nvSpPr>
        <p:spPr>
          <a:xfrm>
            <a:off x="4470400" y="3048000"/>
            <a:ext cx="152400" cy="152400"/>
          </a:xfrm>
          <a:prstGeom prst="rect">
            <a:avLst/>
          </a:prstGeom>
          <a:solidFill>
            <a:srgbClr val="F57C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30787A-D6D6-FE15-B3D8-63DC83B10C0E}"/>
              </a:ext>
            </a:extLst>
          </p:cNvPr>
          <p:cNvSpPr txBox="1"/>
          <p:nvPr/>
        </p:nvSpPr>
        <p:spPr>
          <a:xfrm>
            <a:off x="4749800" y="2997200"/>
            <a:ext cx="584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>
                <a:solidFill>
                  <a:srgbClr val="1C1C1C"/>
                </a:solidFill>
                <a:latin typeface="Segoe UI" panose="020B0502040204020203" pitchFamily="34" charset="0"/>
              </a:rPr>
              <a:t>Occupancy count (rescue priority)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FD9CCF-0DC6-D8F5-AAE9-1A1AE1E0FDFF}"/>
              </a:ext>
            </a:extLst>
          </p:cNvPr>
          <p:cNvSpPr/>
          <p:nvPr/>
        </p:nvSpPr>
        <p:spPr>
          <a:xfrm>
            <a:off x="4470400" y="3556000"/>
            <a:ext cx="152400" cy="152400"/>
          </a:xfrm>
          <a:prstGeom prst="rect">
            <a:avLst/>
          </a:prstGeom>
          <a:solidFill>
            <a:srgbClr val="F57C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592891-759F-C75F-7DB1-28DDF3AA90D0}"/>
              </a:ext>
            </a:extLst>
          </p:cNvPr>
          <p:cNvSpPr txBox="1"/>
          <p:nvPr/>
        </p:nvSpPr>
        <p:spPr>
          <a:xfrm>
            <a:off x="4749800" y="3505200"/>
            <a:ext cx="584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>
                <a:solidFill>
                  <a:srgbClr val="1C1C1C"/>
                </a:solidFill>
                <a:latin typeface="Segoe UI" panose="020B0502040204020203" pitchFamily="34" charset="0"/>
              </a:rPr>
              <a:t>Key sensor metrics (gas / temp)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75DAF1-A728-F1C8-BB91-2177B184C3D9}"/>
              </a:ext>
            </a:extLst>
          </p:cNvPr>
          <p:cNvSpPr/>
          <p:nvPr/>
        </p:nvSpPr>
        <p:spPr>
          <a:xfrm>
            <a:off x="4470400" y="4064000"/>
            <a:ext cx="152400" cy="152400"/>
          </a:xfrm>
          <a:prstGeom prst="rect">
            <a:avLst/>
          </a:prstGeom>
          <a:solidFill>
            <a:srgbClr val="F57C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66683C-ED67-00E8-1DC4-FA878455D0DB}"/>
              </a:ext>
            </a:extLst>
          </p:cNvPr>
          <p:cNvSpPr txBox="1"/>
          <p:nvPr/>
        </p:nvSpPr>
        <p:spPr>
          <a:xfrm>
            <a:off x="4749800" y="4013200"/>
            <a:ext cx="584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>
                <a:solidFill>
                  <a:srgbClr val="1C1C1C"/>
                </a:solidFill>
                <a:latin typeface="Segoe UI" panose="020B0502040204020203" pitchFamily="34" charset="0"/>
              </a:rPr>
              <a:t>Annotated detection image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0DB4712-6DD9-51B3-290A-9955637EE63A}"/>
              </a:ext>
            </a:extLst>
          </p:cNvPr>
          <p:cNvSpPr/>
          <p:nvPr/>
        </p:nvSpPr>
        <p:spPr>
          <a:xfrm>
            <a:off x="4470400" y="4699000"/>
            <a:ext cx="6096000" cy="1397000"/>
          </a:xfrm>
          <a:prstGeom prst="roundRect">
            <a:avLst/>
          </a:prstGeom>
          <a:solidFill>
            <a:srgbClr val="EDEDED"/>
          </a:solidFill>
          <a:ln w="19050">
            <a:solidFill>
              <a:srgbClr val="D32F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59B33B-F11C-E19F-C0CA-BB5E4638F057}"/>
              </a:ext>
            </a:extLst>
          </p:cNvPr>
          <p:cNvSpPr txBox="1"/>
          <p:nvPr/>
        </p:nvSpPr>
        <p:spPr>
          <a:xfrm>
            <a:off x="4673600" y="4851400"/>
            <a:ext cx="5715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AlertGate — 45 s cooldown per severity
  · escalation BYPASSES the cooldown (worsening event never silenced)
  · return to SAFE resets the high-water mark</a:t>
            </a:r>
          </a:p>
        </p:txBody>
      </p:sp>
    </p:spTree>
    <p:extLst>
      <p:ext uri="{BB962C8B-B14F-4D97-AF65-F5344CB8AC3E}">
        <p14:creationId xmlns:p14="http://schemas.microsoft.com/office/powerpoint/2010/main" val="2606735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900" fill="hold"/>
                                        <p:tgtEl>
                                          <p:spTgt spid="1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194164-12E2-0B3B-A54C-4F57EE0B4B5D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F57C00"/>
                </a:solidFill>
                <a:latin typeface="Segoe UI" panose="020B0502040204020203" pitchFamily="34" charset="0"/>
              </a:rPr>
              <a:t>EDGE BENCHMARK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F534E5-5E6A-A4C6-B355-7D1E6C9441E7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300" b="1">
                <a:solidFill>
                  <a:srgbClr val="1C1C1C"/>
                </a:solidFill>
                <a:latin typeface="Segoe UI" panose="020B0502040204020203" pitchFamily="34" charset="0"/>
              </a:rPr>
              <a:t>Real-time on the edge: 23 FPS GPU, 7 FPS CPU.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392962-FF3F-30C8-42CD-645D2E760DE1}"/>
              </a:ext>
            </a:extLst>
          </p:cNvPr>
          <p:cNvSpPr/>
          <p:nvPr/>
        </p:nvSpPr>
        <p:spPr>
          <a:xfrm>
            <a:off x="914400" y="2286000"/>
            <a:ext cx="2540000" cy="10668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24F5C9-05FA-5737-9D77-60735782FEA2}"/>
              </a:ext>
            </a:extLst>
          </p:cNvPr>
          <p:cNvSpPr txBox="1"/>
          <p:nvPr/>
        </p:nvSpPr>
        <p:spPr>
          <a:xfrm>
            <a:off x="914400" y="2413000"/>
            <a:ext cx="254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3000" b="1">
                <a:solidFill>
                  <a:srgbClr val="F57C00"/>
                </a:solidFill>
                <a:latin typeface="Segoe UI" panose="020B0502040204020203" pitchFamily="34" charset="0"/>
              </a:rPr>
              <a:t>23 FPS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66345E-17B7-DFC1-B2AA-FA07563B1EFF}"/>
              </a:ext>
            </a:extLst>
          </p:cNvPr>
          <p:cNvSpPr txBox="1"/>
          <p:nvPr/>
        </p:nvSpPr>
        <p:spPr>
          <a:xfrm>
            <a:off x="914400" y="2971800"/>
            <a:ext cx="254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>
                <a:solidFill>
                  <a:srgbClr val="606060"/>
                </a:solidFill>
                <a:latin typeface="Segoe UI" panose="020B0502040204020203" pitchFamily="34" charset="0"/>
              </a:rPr>
              <a:t>GPU · RTX 3050 (FP16)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77CE19-2006-6C1B-C405-130A6019C025}"/>
              </a:ext>
            </a:extLst>
          </p:cNvPr>
          <p:cNvSpPr/>
          <p:nvPr/>
        </p:nvSpPr>
        <p:spPr>
          <a:xfrm>
            <a:off x="3708400" y="2286000"/>
            <a:ext cx="2540000" cy="10668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D2E6FA-CBF3-37D9-B3EB-16A07D5209B1}"/>
              </a:ext>
            </a:extLst>
          </p:cNvPr>
          <p:cNvSpPr txBox="1"/>
          <p:nvPr/>
        </p:nvSpPr>
        <p:spPr>
          <a:xfrm>
            <a:off x="3708400" y="2413000"/>
            <a:ext cx="254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3000" b="1">
                <a:solidFill>
                  <a:srgbClr val="0288D1"/>
                </a:solidFill>
                <a:latin typeface="Segoe UI" panose="020B0502040204020203" pitchFamily="34" charset="0"/>
              </a:rPr>
              <a:t>7 FPS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FEEAF4-013C-F206-9A78-C05A73690622}"/>
              </a:ext>
            </a:extLst>
          </p:cNvPr>
          <p:cNvSpPr txBox="1"/>
          <p:nvPr/>
        </p:nvSpPr>
        <p:spPr>
          <a:xfrm>
            <a:off x="3708400" y="2971800"/>
            <a:ext cx="254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>
                <a:solidFill>
                  <a:srgbClr val="606060"/>
                </a:solidFill>
                <a:latin typeface="Segoe UI" panose="020B0502040204020203" pitchFamily="34" charset="0"/>
              </a:rPr>
              <a:t>CPU (ONNX, every 3rd)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02BAAF-B38F-F175-A737-8D63242D40E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683000"/>
            <a:ext cx="3810000" cy="2286000"/>
          </a:xfrm>
          <a:prstGeom prst="rect">
            <a:avLst/>
          </a:prstGeom>
          <a:ln w="15875">
            <a:solidFill>
              <a:srgbClr val="1C1C1C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AF92476-A3C0-6BAD-9A9D-846FF5D2410E}"/>
              </a:ext>
            </a:extLst>
          </p:cNvPr>
          <p:cNvSpPr txBox="1"/>
          <p:nvPr/>
        </p:nvSpPr>
        <p:spPr>
          <a:xfrm>
            <a:off x="914400" y="6019800"/>
            <a:ext cx="381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000">
                <a:solidFill>
                  <a:srgbClr val="606060"/>
                </a:solidFill>
                <a:latin typeface="Segoe UI" panose="020B0502040204020203" pitchFamily="34" charset="0"/>
              </a:rPr>
              <a:t>GPU — fire case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DA84E0-2899-7135-154D-60E3AE501BF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3683000"/>
            <a:ext cx="3810000" cy="2286000"/>
          </a:xfrm>
          <a:prstGeom prst="rect">
            <a:avLst/>
          </a:prstGeom>
          <a:ln w="15875">
            <a:solidFill>
              <a:srgbClr val="1C1C1C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ED3B7BE-48BF-9E8E-C4DC-800D505632F3}"/>
              </a:ext>
            </a:extLst>
          </p:cNvPr>
          <p:cNvSpPr txBox="1"/>
          <p:nvPr/>
        </p:nvSpPr>
        <p:spPr>
          <a:xfrm>
            <a:off x="5105400" y="6019800"/>
            <a:ext cx="381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000">
                <a:solidFill>
                  <a:srgbClr val="606060"/>
                </a:solidFill>
                <a:latin typeface="Segoe UI" panose="020B0502040204020203" pitchFamily="34" charset="0"/>
              </a:rPr>
              <a:t>CPU — safe case</a:t>
            </a:r>
          </a:p>
        </p:txBody>
      </p:sp>
    </p:spTree>
    <p:extLst>
      <p:ext uri="{BB962C8B-B14F-4D97-AF65-F5344CB8AC3E}">
        <p14:creationId xmlns:p14="http://schemas.microsoft.com/office/powerpoint/2010/main" val="707368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/>
      </p:transition>
    </mc:Choice>
    <mc:Fallback xmlns="">
      <p:transition spd="med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9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79982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9986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B8B89D-F116-D7AC-0E09-C0495846E566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F57C00"/>
                </a:solidFill>
                <a:latin typeface="Segoe UI" panose="020B0502040204020203" pitchFamily="34" charset="0"/>
              </a:rPr>
              <a:t>DUAL-MODE 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FD1FA1-B7CB-8D65-0426-0F55A650E11F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400" b="1">
                <a:solidFill>
                  <a:srgbClr val="1C1C1C"/>
                </a:solidFill>
                <a:latin typeface="Segoe UI" panose="020B0502040204020203" pitchFamily="34" charset="0"/>
              </a:rPr>
              <a:t>Count everyone, identify no-one — yet.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6BD14D-7F6A-460C-1289-20DC41441C33}"/>
              </a:ext>
            </a:extLst>
          </p:cNvPr>
          <p:cNvSpPr/>
          <p:nvPr/>
        </p:nvSpPr>
        <p:spPr>
          <a:xfrm>
            <a:off x="914400" y="2667000"/>
            <a:ext cx="4572000" cy="2794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0288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D50352-F5D7-8D38-CD49-528E79C2AA2A}"/>
              </a:ext>
            </a:extLst>
          </p:cNvPr>
          <p:cNvSpPr/>
          <p:nvPr/>
        </p:nvSpPr>
        <p:spPr>
          <a:xfrm>
            <a:off x="914400" y="2667000"/>
            <a:ext cx="4572000" cy="101600"/>
          </a:xfrm>
          <a:prstGeom prst="rect">
            <a:avLst/>
          </a:prstGeom>
          <a:solidFill>
            <a:srgbClr val="0288D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6AD6DE-62E8-B26F-ABC2-F457A663207F}"/>
              </a:ext>
            </a:extLst>
          </p:cNvPr>
          <p:cNvSpPr txBox="1"/>
          <p:nvPr/>
        </p:nvSpPr>
        <p:spPr>
          <a:xfrm>
            <a:off x="1168400" y="2946400"/>
            <a:ext cx="4064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b="1">
                <a:solidFill>
                  <a:srgbClr val="1C1C1C"/>
                </a:solidFill>
                <a:latin typeface="Segoe UI" panose="020B0502040204020203" pitchFamily="34" charset="0"/>
              </a:rPr>
              <a:t>Line-Crossing Headcount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86335A9-2588-6AAF-A93F-4E97AFED574E}"/>
              </a:ext>
            </a:extLst>
          </p:cNvPr>
          <p:cNvSpPr/>
          <p:nvPr/>
        </p:nvSpPr>
        <p:spPr>
          <a:xfrm>
            <a:off x="1168400" y="3429000"/>
            <a:ext cx="1397000" cy="304800"/>
          </a:xfrm>
          <a:prstGeom prst="roundRect">
            <a:avLst/>
          </a:prstGeom>
          <a:noFill/>
          <a:ln w="19050" cap="flat" cmpd="sng" algn="ctr">
            <a:solidFill>
              <a:srgbClr val="0288D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618E7E-04A7-F7F3-E9DF-C54857211B5B}"/>
              </a:ext>
            </a:extLst>
          </p:cNvPr>
          <p:cNvSpPr txBox="1"/>
          <p:nvPr/>
        </p:nvSpPr>
        <p:spPr>
          <a:xfrm>
            <a:off x="1168400" y="3454400"/>
            <a:ext cx="1397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 b="1">
                <a:solidFill>
                  <a:srgbClr val="0288D1"/>
                </a:solidFill>
                <a:latin typeface="Segoe UI" panose="020B0502040204020203" pitchFamily="34" charset="0"/>
              </a:rPr>
              <a:t>DELIVERED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E02343-A7A8-27DA-8607-AEEA8C77BC90}"/>
              </a:ext>
            </a:extLst>
          </p:cNvPr>
          <p:cNvSpPr txBox="1"/>
          <p:nvPr/>
        </p:nvSpPr>
        <p:spPr>
          <a:xfrm>
            <a:off x="1168400" y="3911600"/>
            <a:ext cx="406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Persistent-ID person tracking; a vertical boundary at x = 300 yields a live, directional occupancy count that feeds rescue-priority alerts.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BB04634-5B3A-4CE0-EF47-2E37ADBE7243}"/>
              </a:ext>
            </a:extLst>
          </p:cNvPr>
          <p:cNvSpPr/>
          <p:nvPr/>
        </p:nvSpPr>
        <p:spPr>
          <a:xfrm>
            <a:off x="6705600" y="2667000"/>
            <a:ext cx="4572000" cy="279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E43A00-8490-4196-D185-CCECF818F1BF}"/>
              </a:ext>
            </a:extLst>
          </p:cNvPr>
          <p:cNvSpPr/>
          <p:nvPr/>
        </p:nvSpPr>
        <p:spPr>
          <a:xfrm>
            <a:off x="6705600" y="2667000"/>
            <a:ext cx="4572000" cy="101600"/>
          </a:xfrm>
          <a:prstGeom prst="rect">
            <a:avLst/>
          </a:prstGeom>
          <a:solidFill>
            <a:srgbClr val="9696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7ECEB0-D5CD-5B1B-4FDE-45FCD45C5086}"/>
              </a:ext>
            </a:extLst>
          </p:cNvPr>
          <p:cNvSpPr txBox="1"/>
          <p:nvPr/>
        </p:nvSpPr>
        <p:spPr>
          <a:xfrm>
            <a:off x="6959600" y="2946400"/>
            <a:ext cx="4064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b="1">
                <a:solidFill>
                  <a:srgbClr val="606060"/>
                </a:solidFill>
                <a:latin typeface="Segoe UI" panose="020B0502040204020203" pitchFamily="34" charset="0"/>
              </a:rPr>
              <a:t>Face-Identity Layer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42E0F4-4916-7518-57A1-8BBA4CCB4116}"/>
              </a:ext>
            </a:extLst>
          </p:cNvPr>
          <p:cNvSpPr/>
          <p:nvPr/>
        </p:nvSpPr>
        <p:spPr>
          <a:xfrm>
            <a:off x="6959600" y="3429000"/>
            <a:ext cx="1397000" cy="304800"/>
          </a:xfrm>
          <a:prstGeom prst="roundRect">
            <a:avLst/>
          </a:prstGeom>
          <a:noFill/>
          <a:ln w="19050" cap="flat" cmpd="sng" algn="ctr">
            <a:solidFill>
              <a:srgbClr val="969696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1378E8-3A9D-07E8-8C40-680962897771}"/>
              </a:ext>
            </a:extLst>
          </p:cNvPr>
          <p:cNvSpPr txBox="1"/>
          <p:nvPr/>
        </p:nvSpPr>
        <p:spPr>
          <a:xfrm>
            <a:off x="6959600" y="3454400"/>
            <a:ext cx="1397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 b="1">
                <a:solidFill>
                  <a:srgbClr val="969696"/>
                </a:solidFill>
                <a:latin typeface="Segoe UI" panose="020B0502040204020203" pitchFamily="34" charset="0"/>
              </a:rPr>
              <a:t>ROADMAP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22CFBF-BD4E-12BB-B5D8-61B1CEC8E42D}"/>
              </a:ext>
            </a:extLst>
          </p:cNvPr>
          <p:cNvSpPr txBox="1"/>
          <p:nvPr/>
        </p:nvSpPr>
        <p:spPr>
          <a:xfrm>
            <a:off x="6959600" y="3911600"/>
            <a:ext cx="406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606060"/>
                </a:solidFill>
                <a:latin typeface="Segoe UI" panose="020B0502040204020203" pitchFamily="34" charset="0"/>
              </a:rPr>
              <a:t>A designed extension: per-person identification to drive named priority-rescue alerts. Deferred on privacy and compute grounds.</a:t>
            </a:r>
          </a:p>
        </p:txBody>
      </p:sp>
    </p:spTree>
    <p:extLst>
      <p:ext uri="{BB962C8B-B14F-4D97-AF65-F5344CB8AC3E}">
        <p14:creationId xmlns:p14="http://schemas.microsoft.com/office/powerpoint/2010/main" val="2993889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repeatCount="9999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9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9982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15518F-0865-CCE0-914D-B0DEE8465290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0288D1"/>
                </a:solidFill>
                <a:latin typeface="Segoe UI" panose="020B0502040204020203" pitchFamily="34" charset="0"/>
              </a:rPr>
              <a:t>OCCUPANCY · DELIVERED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F6845-067A-2D32-6186-9BBAE5459275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200" b="1">
                <a:solidFill>
                  <a:srgbClr val="1C1C1C"/>
                </a:solidFill>
                <a:latin typeface="Segoe UI" panose="020B0502040204020203" pitchFamily="34" charset="0"/>
              </a:rPr>
              <a:t>Occupancy by line-crossing: persistent tracks across x = 300.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8E5D4D-A7BD-26C4-3DD0-170943614B9E}"/>
              </a:ext>
            </a:extLst>
          </p:cNvPr>
          <p:cNvSpPr/>
          <p:nvPr/>
        </p:nvSpPr>
        <p:spPr>
          <a:xfrm>
            <a:off x="914400" y="2540000"/>
            <a:ext cx="5842000" cy="3175000"/>
          </a:xfrm>
          <a:prstGeom prst="rect">
            <a:avLst/>
          </a:prstGeom>
          <a:solidFill>
            <a:srgbClr val="EDEDED"/>
          </a:solidFill>
          <a:ln w="12700">
            <a:solidFill>
              <a:srgbClr val="606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59C6D66-265E-E47F-F3FB-300D11CAD973}"/>
              </a:ext>
            </a:extLst>
          </p:cNvPr>
          <p:cNvCxnSpPr/>
          <p:nvPr/>
        </p:nvCxnSpPr>
        <p:spPr>
          <a:xfrm>
            <a:off x="4089400" y="2603500"/>
            <a:ext cx="0" cy="3048000"/>
          </a:xfrm>
          <a:prstGeom prst="line">
            <a:avLst/>
          </a:prstGeom>
          <a:ln w="31750">
            <a:solidFill>
              <a:srgbClr val="0288D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2073F25-A310-2B23-EEDD-C73EF38D8B78}"/>
              </a:ext>
            </a:extLst>
          </p:cNvPr>
          <p:cNvSpPr txBox="1"/>
          <p:nvPr/>
        </p:nvSpPr>
        <p:spPr>
          <a:xfrm>
            <a:off x="3327400" y="2286000"/>
            <a:ext cx="152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 b="1">
                <a:solidFill>
                  <a:srgbClr val="0288D1"/>
                </a:solidFill>
                <a:latin typeface="Segoe UI" panose="020B0502040204020203" pitchFamily="34" charset="0"/>
              </a:rPr>
              <a:t>x = 300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C647C-322E-6D05-9E4B-5AF217C333F9}"/>
              </a:ext>
            </a:extLst>
          </p:cNvPr>
          <p:cNvSpPr txBox="1"/>
          <p:nvPr/>
        </p:nvSpPr>
        <p:spPr>
          <a:xfrm>
            <a:off x="1168400" y="2667000"/>
            <a:ext cx="152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 b="1">
                <a:solidFill>
                  <a:srgbClr val="606060"/>
                </a:solidFill>
                <a:latin typeface="Segoe UI" panose="020B0502040204020203" pitchFamily="34" charset="0"/>
              </a:rPr>
              <a:t>OUTSIDE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70F373-DAEF-7296-3DE9-9B59C2AFC5B1}"/>
              </a:ext>
            </a:extLst>
          </p:cNvPr>
          <p:cNvSpPr txBox="1"/>
          <p:nvPr/>
        </p:nvSpPr>
        <p:spPr>
          <a:xfrm>
            <a:off x="5105400" y="2667000"/>
            <a:ext cx="152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 b="1">
                <a:solidFill>
                  <a:srgbClr val="0288D1"/>
                </a:solidFill>
                <a:latin typeface="Segoe UI" panose="020B0502040204020203" pitchFamily="34" charset="0"/>
              </a:rPr>
              <a:t>INSIDE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C9F750-CD31-04E4-6E6A-2964FADE6DB3}"/>
              </a:ext>
            </a:extLst>
          </p:cNvPr>
          <p:cNvSpPr/>
          <p:nvPr/>
        </p:nvSpPr>
        <p:spPr>
          <a:xfrm>
            <a:off x="2438400" y="3810000"/>
            <a:ext cx="457200" cy="457200"/>
          </a:xfrm>
          <a:prstGeom prst="ellipse">
            <a:avLst/>
          </a:prstGeom>
          <a:noFill/>
          <a:ln w="25400" cap="flat" cmpd="sng" algn="ctr">
            <a:solidFill>
              <a:srgbClr val="60606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C0A32F-725D-157E-A47D-9745C957C954}"/>
              </a:ext>
            </a:extLst>
          </p:cNvPr>
          <p:cNvSpPr/>
          <p:nvPr/>
        </p:nvSpPr>
        <p:spPr>
          <a:xfrm>
            <a:off x="5486400" y="4191000"/>
            <a:ext cx="457200" cy="457200"/>
          </a:xfrm>
          <a:prstGeom prst="ellipse">
            <a:avLst/>
          </a:prstGeom>
          <a:noFill/>
          <a:ln w="25400" cap="flat" cmpd="sng" algn="ctr">
            <a:solidFill>
              <a:srgbClr val="0288D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3EA5FF9-D4DD-C5D7-CCF4-41C17BEEDB3C}"/>
              </a:ext>
            </a:extLst>
          </p:cNvPr>
          <p:cNvSpPr/>
          <p:nvPr/>
        </p:nvSpPr>
        <p:spPr>
          <a:xfrm>
            <a:off x="2946400" y="3962400"/>
            <a:ext cx="1016000" cy="177800"/>
          </a:xfrm>
          <a:prstGeom prst="rightArrow">
            <a:avLst/>
          </a:prstGeom>
          <a:solidFill>
            <a:srgbClr val="9696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90F180-DFEA-4CC5-A05B-81404DFA9217}"/>
              </a:ext>
            </a:extLst>
          </p:cNvPr>
          <p:cNvSpPr/>
          <p:nvPr/>
        </p:nvSpPr>
        <p:spPr>
          <a:xfrm>
            <a:off x="8356600" y="2794000"/>
            <a:ext cx="2921000" cy="1143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0288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E9C3DD-D363-2956-DDB6-3F9530999F67}"/>
              </a:ext>
            </a:extLst>
          </p:cNvPr>
          <p:cNvSpPr txBox="1"/>
          <p:nvPr/>
        </p:nvSpPr>
        <p:spPr>
          <a:xfrm>
            <a:off x="8356600" y="2946400"/>
            <a:ext cx="2921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400">
                <a:solidFill>
                  <a:srgbClr val="606060"/>
                </a:solidFill>
                <a:latin typeface="Consolas" panose="020B0609020204030204" pitchFamily="49" charset="0"/>
              </a:rPr>
              <a:t>inside_count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6CAF30-A2AC-B329-CFA5-5304D78E5EBE}"/>
              </a:ext>
            </a:extLst>
          </p:cNvPr>
          <p:cNvSpPr txBox="1"/>
          <p:nvPr/>
        </p:nvSpPr>
        <p:spPr>
          <a:xfrm>
            <a:off x="8356600" y="3276600"/>
            <a:ext cx="2921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2800" b="1">
                <a:solidFill>
                  <a:srgbClr val="0288D1"/>
                </a:solidFill>
                <a:latin typeface="Segoe UI" panose="020B0502040204020203" pitchFamily="34" charset="0"/>
              </a:rPr>
              <a:t>+1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EA53D4-6A29-3F6A-2CCE-5C619C9DEAE0}"/>
              </a:ext>
            </a:extLst>
          </p:cNvPr>
          <p:cNvSpPr txBox="1"/>
          <p:nvPr/>
        </p:nvSpPr>
        <p:spPr>
          <a:xfrm>
            <a:off x="8166100" y="4191000"/>
            <a:ext cx="31115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>
                <a:solidFill>
                  <a:srgbClr val="1C1C1C"/>
                </a:solidFill>
                <a:latin typeface="Consolas" panose="020B0609020204030204" pitchFamily="49" charset="0"/>
              </a:rPr>
              <a:t>model.track(persist=True, classes=[0])
center_x &gt; 300 = inside
side change ⇒ ±1 (floored at 0)</a:t>
            </a:r>
          </a:p>
        </p:txBody>
      </p:sp>
    </p:spTree>
    <p:extLst>
      <p:ext uri="{BB962C8B-B14F-4D97-AF65-F5344CB8AC3E}">
        <p14:creationId xmlns:p14="http://schemas.microsoft.com/office/powerpoint/2010/main" val="2414954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/>
      </p:transition>
    </mc:Choice>
    <mc:Fallback xmlns="">
      <p:transition spd="med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90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79982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AC6B1A-392D-4727-CB7A-1AC8615DB79C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969696"/>
                </a:solidFill>
                <a:latin typeface="Segoe UI" panose="020B0502040204020203" pitchFamily="34" charset="0"/>
              </a:rPr>
              <a:t>ROADMAP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7ED36-4241-EA6B-577A-3A69412FF10D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400" b="1">
                <a:solidFill>
                  <a:srgbClr val="1C1C1C"/>
                </a:solidFill>
                <a:latin typeface="Segoe UI" panose="020B0502040204020203" pitchFamily="34" charset="0"/>
              </a:rPr>
              <a:t>A face-identity tier for priority rescue.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2C111D6-A93E-3628-9B72-FEA1C917C411}"/>
              </a:ext>
            </a:extLst>
          </p:cNvPr>
          <p:cNvSpPr/>
          <p:nvPr/>
        </p:nvSpPr>
        <p:spPr>
          <a:xfrm>
            <a:off x="914400" y="2159000"/>
            <a:ext cx="10363200" cy="508000"/>
          </a:xfrm>
          <a:prstGeom prst="roundRect">
            <a:avLst/>
          </a:prstGeom>
          <a:noFill/>
          <a:ln w="19050" cap="flat" cmpd="sng" algn="ctr">
            <a:solidFill>
              <a:srgbClr val="969696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BE384D-26A2-54F9-A6FA-86C2831DCD57}"/>
              </a:ext>
            </a:extLst>
          </p:cNvPr>
          <p:cNvSpPr txBox="1"/>
          <p:nvPr/>
        </p:nvSpPr>
        <p:spPr>
          <a:xfrm>
            <a:off x="914400" y="2260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500" b="1">
                <a:solidFill>
                  <a:srgbClr val="606060"/>
                </a:solidFill>
                <a:latin typeface="Segoe UI" panose="020B0502040204020203" pitchFamily="34" charset="0"/>
              </a:rPr>
              <a:t>ROADMAP — designed, not yet implemented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E4E1E7-FFE6-012B-0B85-4D928A567A2D}"/>
              </a:ext>
            </a:extLst>
          </p:cNvPr>
          <p:cNvSpPr/>
          <p:nvPr/>
        </p:nvSpPr>
        <p:spPr>
          <a:xfrm>
            <a:off x="1422400" y="3556000"/>
            <a:ext cx="2921000" cy="812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CE8D95-861E-AC45-364D-883D2D288296}"/>
              </a:ext>
            </a:extLst>
          </p:cNvPr>
          <p:cNvSpPr txBox="1"/>
          <p:nvPr/>
        </p:nvSpPr>
        <p:spPr>
          <a:xfrm>
            <a:off x="1422400" y="3657600"/>
            <a:ext cx="2921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400">
                <a:solidFill>
                  <a:srgbClr val="969696"/>
                </a:solidFill>
                <a:latin typeface="Segoe UI" panose="020B0502040204020203" pitchFamily="34" charset="0"/>
              </a:rPr>
              <a:t>face embeddings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DA4BD2F-0AB5-FA1C-19F1-2C54DD23C0C3}"/>
              </a:ext>
            </a:extLst>
          </p:cNvPr>
          <p:cNvSpPr/>
          <p:nvPr/>
        </p:nvSpPr>
        <p:spPr>
          <a:xfrm>
            <a:off x="4368800" y="3886200"/>
            <a:ext cx="381000" cy="177800"/>
          </a:xfrm>
          <a:prstGeom prst="rightArrow">
            <a:avLst/>
          </a:prstGeom>
          <a:solidFill>
            <a:srgbClr val="9696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BD23552-6CCD-BC93-FEF3-7D84E70F085B}"/>
              </a:ext>
            </a:extLst>
          </p:cNvPr>
          <p:cNvSpPr/>
          <p:nvPr/>
        </p:nvSpPr>
        <p:spPr>
          <a:xfrm>
            <a:off x="4749800" y="3556000"/>
            <a:ext cx="2921000" cy="812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0D9080-CDED-B782-0977-5BBEDC64BD27}"/>
              </a:ext>
            </a:extLst>
          </p:cNvPr>
          <p:cNvSpPr txBox="1"/>
          <p:nvPr/>
        </p:nvSpPr>
        <p:spPr>
          <a:xfrm>
            <a:off x="4749800" y="3657600"/>
            <a:ext cx="2921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400">
                <a:solidFill>
                  <a:srgbClr val="969696"/>
                </a:solidFill>
                <a:latin typeface="Segoe UI" panose="020B0502040204020203" pitchFamily="34" charset="0"/>
              </a:rPr>
              <a:t>match known occupants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E045620-20A7-249B-6FFA-1F7A95CC6827}"/>
              </a:ext>
            </a:extLst>
          </p:cNvPr>
          <p:cNvSpPr/>
          <p:nvPr/>
        </p:nvSpPr>
        <p:spPr>
          <a:xfrm>
            <a:off x="7696200" y="3886200"/>
            <a:ext cx="381000" cy="177800"/>
          </a:xfrm>
          <a:prstGeom prst="rightArrow">
            <a:avLst/>
          </a:prstGeom>
          <a:solidFill>
            <a:srgbClr val="9696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2481AE8-555E-6C92-ABFC-38B85584D2D5}"/>
              </a:ext>
            </a:extLst>
          </p:cNvPr>
          <p:cNvSpPr/>
          <p:nvPr/>
        </p:nvSpPr>
        <p:spPr>
          <a:xfrm>
            <a:off x="8077200" y="3556000"/>
            <a:ext cx="2921000" cy="812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06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2E10E2-F7F2-9844-48D0-886D07AC9422}"/>
              </a:ext>
            </a:extLst>
          </p:cNvPr>
          <p:cNvSpPr txBox="1"/>
          <p:nvPr/>
        </p:nvSpPr>
        <p:spPr>
          <a:xfrm>
            <a:off x="8077200" y="3657600"/>
            <a:ext cx="29210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pPr algn="ctr"/>
            <a:r>
              <a:rPr lang="en-US" sz="1400">
                <a:solidFill>
                  <a:srgbClr val="606060"/>
                </a:solidFill>
                <a:latin typeface="Segoe UI" panose="020B0502040204020203" pitchFamily="34" charset="0"/>
              </a:rPr>
              <a:t>named priority-rescue alert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C9C427-F783-D3C6-6B54-457A2F0FC849}"/>
              </a:ext>
            </a:extLst>
          </p:cNvPr>
          <p:cNvSpPr txBox="1"/>
          <p:nvPr/>
        </p:nvSpPr>
        <p:spPr>
          <a:xfrm>
            <a:off x="914400" y="48260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606060"/>
                </a:solidFill>
                <a:latin typeface="Segoe UI" panose="020B0502040204020203" pitchFamily="34" charset="0"/>
              </a:rPr>
              <a:t>Deferred deliberately: identity adds privacy obligations and compute load. The delivered occupancy count already enables rescue prioritisation without identifying anyone.</a:t>
            </a:r>
          </a:p>
        </p:txBody>
      </p:sp>
    </p:spTree>
    <p:extLst>
      <p:ext uri="{BB962C8B-B14F-4D97-AF65-F5344CB8AC3E}">
        <p14:creationId xmlns:p14="http://schemas.microsoft.com/office/powerpoint/2010/main" val="3323173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B1D7EC-D118-E7F3-9A1F-A7A6EA80745B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F57C00"/>
                </a:solidFill>
                <a:latin typeface="Segoe UI" panose="020B0502040204020203" pitchFamily="34" charset="0"/>
              </a:rPr>
              <a:t>FUSION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8B2FF-B54C-E046-BE87-43789D3DACBF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300" b="1">
                <a:solidFill>
                  <a:srgbClr val="1C1C1C"/>
                </a:solidFill>
                <a:latin typeface="Segoe UI" panose="020B0502040204020203" pitchFamily="34" charset="0"/>
              </a:rPr>
              <a:t>Sensors and vision agree before the structure escalates.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6AC296-FE44-BF62-1C4E-38844B2346E8}"/>
              </a:ext>
            </a:extLst>
          </p:cNvPr>
          <p:cNvSpPr/>
          <p:nvPr/>
        </p:nvSpPr>
        <p:spPr>
          <a:xfrm>
            <a:off x="914400" y="2540000"/>
            <a:ext cx="4191000" cy="533400"/>
          </a:xfrm>
          <a:prstGeom prst="rect">
            <a:avLst/>
          </a:prstGeom>
          <a:solidFill>
            <a:srgbClr val="1C1C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995A35-0F00-F77B-5EC0-5D7CFC80D7F8}"/>
              </a:ext>
            </a:extLst>
          </p:cNvPr>
          <p:cNvSpPr txBox="1"/>
          <p:nvPr/>
        </p:nvSpPr>
        <p:spPr>
          <a:xfrm>
            <a:off x="1016000" y="2641600"/>
            <a:ext cx="4038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Source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909876-3A86-79A1-1C49-5A807B165783}"/>
              </a:ext>
            </a:extLst>
          </p:cNvPr>
          <p:cNvSpPr/>
          <p:nvPr/>
        </p:nvSpPr>
        <p:spPr>
          <a:xfrm>
            <a:off x="5105400" y="2540000"/>
            <a:ext cx="2540000" cy="533400"/>
          </a:xfrm>
          <a:prstGeom prst="rect">
            <a:avLst/>
          </a:prstGeom>
          <a:solidFill>
            <a:srgbClr val="1C1C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FCDA64-B86A-9F49-3E01-FFABE22944C9}"/>
              </a:ext>
            </a:extLst>
          </p:cNvPr>
          <p:cNvSpPr txBox="1"/>
          <p:nvPr/>
        </p:nvSpPr>
        <p:spPr>
          <a:xfrm>
            <a:off x="5207000" y="2641600"/>
            <a:ext cx="2387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State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CD5543-F999-33EF-4540-58A994EEBCEC}"/>
              </a:ext>
            </a:extLst>
          </p:cNvPr>
          <p:cNvSpPr/>
          <p:nvPr/>
        </p:nvSpPr>
        <p:spPr>
          <a:xfrm>
            <a:off x="7645400" y="2540000"/>
            <a:ext cx="1397000" cy="533400"/>
          </a:xfrm>
          <a:prstGeom prst="rect">
            <a:avLst/>
          </a:prstGeom>
          <a:solidFill>
            <a:srgbClr val="1C1C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F10ACA-5B20-E96E-5C9F-043E52A8A8D7}"/>
              </a:ext>
            </a:extLst>
          </p:cNvPr>
          <p:cNvSpPr txBox="1"/>
          <p:nvPr/>
        </p:nvSpPr>
        <p:spPr>
          <a:xfrm>
            <a:off x="7747000" y="2641600"/>
            <a:ext cx="1244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Conf.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D8D136-0638-9800-7373-625D646FE686}"/>
              </a:ext>
            </a:extLst>
          </p:cNvPr>
          <p:cNvSpPr/>
          <p:nvPr/>
        </p:nvSpPr>
        <p:spPr>
          <a:xfrm>
            <a:off x="914400" y="3073400"/>
            <a:ext cx="4191000" cy="5334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F3F342-DBCC-67FC-8BFD-D68D96361CC5}"/>
              </a:ext>
            </a:extLst>
          </p:cNvPr>
          <p:cNvSpPr txBox="1"/>
          <p:nvPr/>
        </p:nvSpPr>
        <p:spPr>
          <a:xfrm>
            <a:off x="1016000" y="3175000"/>
            <a:ext cx="4038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>
                <a:solidFill>
                  <a:srgbClr val="1C1C1C"/>
                </a:solidFill>
                <a:latin typeface="Segoe UI" panose="020B0502040204020203" pitchFamily="34" charset="0"/>
              </a:rPr>
              <a:t>Manual override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531886-B808-B365-35AB-FEE6C2523A55}"/>
              </a:ext>
            </a:extLst>
          </p:cNvPr>
          <p:cNvSpPr/>
          <p:nvPr/>
        </p:nvSpPr>
        <p:spPr>
          <a:xfrm>
            <a:off x="5105400" y="3073400"/>
            <a:ext cx="2540000" cy="5334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5336D1-8CD1-1B77-2B41-D2AD947E6EA4}"/>
              </a:ext>
            </a:extLst>
          </p:cNvPr>
          <p:cNvSpPr txBox="1"/>
          <p:nvPr/>
        </p:nvSpPr>
        <p:spPr>
          <a:xfrm>
            <a:off x="5207000" y="3175000"/>
            <a:ext cx="2387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 b="1">
                <a:solidFill>
                  <a:srgbClr val="D32F2F"/>
                </a:solidFill>
                <a:latin typeface="Consolas" panose="020B0609020204030204" pitchFamily="49" charset="0"/>
              </a:rPr>
              <a:t>FIRE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738367-729F-817B-8EDE-906261662094}"/>
              </a:ext>
            </a:extLst>
          </p:cNvPr>
          <p:cNvSpPr/>
          <p:nvPr/>
        </p:nvSpPr>
        <p:spPr>
          <a:xfrm>
            <a:off x="7645400" y="3073400"/>
            <a:ext cx="1397000" cy="5334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17EBBE-0862-4740-DDAF-96676E252589}"/>
              </a:ext>
            </a:extLst>
          </p:cNvPr>
          <p:cNvSpPr txBox="1"/>
          <p:nvPr/>
        </p:nvSpPr>
        <p:spPr>
          <a:xfrm>
            <a:off x="7747000" y="3175000"/>
            <a:ext cx="1244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>
                <a:solidFill>
                  <a:srgbClr val="D32F2F"/>
                </a:solidFill>
                <a:latin typeface="Consolas" panose="020B0609020204030204" pitchFamily="49" charset="0"/>
              </a:rPr>
              <a:t>1.00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75F36F-AC2F-AC3C-C558-91891DD63FD8}"/>
              </a:ext>
            </a:extLst>
          </p:cNvPr>
          <p:cNvSpPr/>
          <p:nvPr/>
        </p:nvSpPr>
        <p:spPr>
          <a:xfrm>
            <a:off x="914400" y="3606800"/>
            <a:ext cx="4191000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C7ABE8-6FA6-8EF3-486B-ED9BBB6F94F0}"/>
              </a:ext>
            </a:extLst>
          </p:cNvPr>
          <p:cNvSpPr txBox="1"/>
          <p:nvPr/>
        </p:nvSpPr>
        <p:spPr>
          <a:xfrm>
            <a:off x="1016000" y="3708400"/>
            <a:ext cx="4038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>
                <a:solidFill>
                  <a:srgbClr val="1C1C1C"/>
                </a:solidFill>
                <a:latin typeface="Segoe UI" panose="020B0502040204020203" pitchFamily="34" charset="0"/>
              </a:rPr>
              <a:t>Gas / Flame / Camera (single)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393684-50CA-D920-479B-C26C97283470}"/>
              </a:ext>
            </a:extLst>
          </p:cNvPr>
          <p:cNvSpPr/>
          <p:nvPr/>
        </p:nvSpPr>
        <p:spPr>
          <a:xfrm>
            <a:off x="5105400" y="3606800"/>
            <a:ext cx="2540000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29D73B-84E6-5AD9-7E99-2F849C8C70C1}"/>
              </a:ext>
            </a:extLst>
          </p:cNvPr>
          <p:cNvSpPr txBox="1"/>
          <p:nvPr/>
        </p:nvSpPr>
        <p:spPr>
          <a:xfrm>
            <a:off x="5207000" y="3708400"/>
            <a:ext cx="2387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 b="1">
                <a:solidFill>
                  <a:srgbClr val="D32F2F"/>
                </a:solidFill>
                <a:latin typeface="Consolas" panose="020B0609020204030204" pitchFamily="49" charset="0"/>
              </a:rPr>
              <a:t>FIRE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00CA8A-7B89-D4F1-816E-F0312C829596}"/>
              </a:ext>
            </a:extLst>
          </p:cNvPr>
          <p:cNvSpPr/>
          <p:nvPr/>
        </p:nvSpPr>
        <p:spPr>
          <a:xfrm>
            <a:off x="7645400" y="3606800"/>
            <a:ext cx="1397000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B3E9C0-1AD4-B880-6795-8355F8130D8A}"/>
              </a:ext>
            </a:extLst>
          </p:cNvPr>
          <p:cNvSpPr txBox="1"/>
          <p:nvPr/>
        </p:nvSpPr>
        <p:spPr>
          <a:xfrm>
            <a:off x="7747000" y="3708400"/>
            <a:ext cx="1244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>
                <a:solidFill>
                  <a:srgbClr val="D32F2F"/>
                </a:solidFill>
                <a:latin typeface="Consolas" panose="020B0609020204030204" pitchFamily="49" charset="0"/>
              </a:rPr>
              <a:t>0.92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D44C78-1E6F-3405-684F-D2C51BB48A7F}"/>
              </a:ext>
            </a:extLst>
          </p:cNvPr>
          <p:cNvSpPr/>
          <p:nvPr/>
        </p:nvSpPr>
        <p:spPr>
          <a:xfrm>
            <a:off x="914400" y="4140200"/>
            <a:ext cx="4191000" cy="5334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A4523C-FB70-9617-80FA-30C25FF7F54D}"/>
              </a:ext>
            </a:extLst>
          </p:cNvPr>
          <p:cNvSpPr txBox="1"/>
          <p:nvPr/>
        </p:nvSpPr>
        <p:spPr>
          <a:xfrm>
            <a:off x="1016000" y="4241800"/>
            <a:ext cx="4038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>
                <a:solidFill>
                  <a:srgbClr val="1C1C1C"/>
                </a:solidFill>
                <a:latin typeface="Segoe UI" panose="020B0502040204020203" pitchFamily="34" charset="0"/>
              </a:rPr>
              <a:t>Multiple sources agree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29A447-0BB0-ED58-1AA4-056BBE0EC1DD}"/>
              </a:ext>
            </a:extLst>
          </p:cNvPr>
          <p:cNvSpPr/>
          <p:nvPr/>
        </p:nvSpPr>
        <p:spPr>
          <a:xfrm>
            <a:off x="5105400" y="4140200"/>
            <a:ext cx="2540000" cy="5334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163900-EB36-66AC-95AD-824D9B306811}"/>
              </a:ext>
            </a:extLst>
          </p:cNvPr>
          <p:cNvSpPr txBox="1"/>
          <p:nvPr/>
        </p:nvSpPr>
        <p:spPr>
          <a:xfrm>
            <a:off x="5207000" y="4241800"/>
            <a:ext cx="2387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 b="1">
                <a:solidFill>
                  <a:srgbClr val="D32F2F"/>
                </a:solidFill>
                <a:latin typeface="Consolas" panose="020B0609020204030204" pitchFamily="49" charset="0"/>
              </a:rPr>
              <a:t>FIRE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0FFEAF-F15F-D193-BD62-86BDC2446293}"/>
              </a:ext>
            </a:extLst>
          </p:cNvPr>
          <p:cNvSpPr/>
          <p:nvPr/>
        </p:nvSpPr>
        <p:spPr>
          <a:xfrm>
            <a:off x="7645400" y="4140200"/>
            <a:ext cx="1397000" cy="5334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638A37-910D-951C-CC94-E17CC1E1EA02}"/>
              </a:ext>
            </a:extLst>
          </p:cNvPr>
          <p:cNvSpPr txBox="1"/>
          <p:nvPr/>
        </p:nvSpPr>
        <p:spPr>
          <a:xfrm>
            <a:off x="7747000" y="4241800"/>
            <a:ext cx="1244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>
                <a:solidFill>
                  <a:srgbClr val="D32F2F"/>
                </a:solidFill>
                <a:latin typeface="Consolas" panose="020B0609020204030204" pitchFamily="49" charset="0"/>
              </a:rPr>
              <a:t>0.98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F9245F-7F13-56BF-EEDB-C1ADE9D382EB}"/>
              </a:ext>
            </a:extLst>
          </p:cNvPr>
          <p:cNvSpPr/>
          <p:nvPr/>
        </p:nvSpPr>
        <p:spPr>
          <a:xfrm>
            <a:off x="914400" y="4673600"/>
            <a:ext cx="4191000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75AA27-ACC9-4A41-B138-337712832D68}"/>
              </a:ext>
            </a:extLst>
          </p:cNvPr>
          <p:cNvSpPr txBox="1"/>
          <p:nvPr/>
        </p:nvSpPr>
        <p:spPr>
          <a:xfrm>
            <a:off x="1016000" y="4775200"/>
            <a:ext cx="4038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>
                <a:solidFill>
                  <a:srgbClr val="1C1C1C"/>
                </a:solidFill>
                <a:latin typeface="Segoe UI" panose="020B0502040204020203" pitchFamily="34" charset="0"/>
              </a:rPr>
              <a:t>Temperature only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2D7A10-C263-E4CF-DB0E-3A33E0027B3C}"/>
              </a:ext>
            </a:extLst>
          </p:cNvPr>
          <p:cNvSpPr/>
          <p:nvPr/>
        </p:nvSpPr>
        <p:spPr>
          <a:xfrm>
            <a:off x="5105400" y="4673600"/>
            <a:ext cx="2540000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09E9C5-F2C9-F95F-DAA9-081CB8C8D05F}"/>
              </a:ext>
            </a:extLst>
          </p:cNvPr>
          <p:cNvSpPr txBox="1"/>
          <p:nvPr/>
        </p:nvSpPr>
        <p:spPr>
          <a:xfrm>
            <a:off x="5207000" y="4775200"/>
            <a:ext cx="2387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 b="1">
                <a:solidFill>
                  <a:srgbClr val="F57C00"/>
                </a:solidFill>
                <a:latin typeface="Consolas" panose="020B0609020204030204" pitchFamily="49" charset="0"/>
              </a:rPr>
              <a:t>SENSOR_ALERT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27841CF-1C8D-FC46-F268-BE68B0774A23}"/>
              </a:ext>
            </a:extLst>
          </p:cNvPr>
          <p:cNvSpPr/>
          <p:nvPr/>
        </p:nvSpPr>
        <p:spPr>
          <a:xfrm>
            <a:off x="7645400" y="4673600"/>
            <a:ext cx="1397000" cy="5334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75B6E7-4F48-0CBE-89B8-C3D9DD672DBE}"/>
              </a:ext>
            </a:extLst>
          </p:cNvPr>
          <p:cNvSpPr txBox="1"/>
          <p:nvPr/>
        </p:nvSpPr>
        <p:spPr>
          <a:xfrm>
            <a:off x="7747000" y="4775200"/>
            <a:ext cx="1244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>
                <a:solidFill>
                  <a:srgbClr val="F57C00"/>
                </a:solidFill>
                <a:latin typeface="Consolas" panose="020B0609020204030204" pitchFamily="49" charset="0"/>
              </a:rPr>
              <a:t>0.65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6E615DA-F0F4-B294-32FC-7716FC7E1A51}"/>
              </a:ext>
            </a:extLst>
          </p:cNvPr>
          <p:cNvSpPr/>
          <p:nvPr/>
        </p:nvSpPr>
        <p:spPr>
          <a:xfrm>
            <a:off x="914400" y="5207000"/>
            <a:ext cx="4191000" cy="5334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2CC7CA-DBB4-AF19-C5F8-58FC635B23CB}"/>
              </a:ext>
            </a:extLst>
          </p:cNvPr>
          <p:cNvSpPr txBox="1"/>
          <p:nvPr/>
        </p:nvSpPr>
        <p:spPr>
          <a:xfrm>
            <a:off x="1016000" y="5308600"/>
            <a:ext cx="4038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>
                <a:solidFill>
                  <a:srgbClr val="1C1C1C"/>
                </a:solidFill>
                <a:latin typeface="Segoe UI" panose="020B0502040204020203" pitchFamily="34" charset="0"/>
              </a:rPr>
              <a:t>None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452EB7C-966F-B4CE-A902-B22734FBEA2D}"/>
              </a:ext>
            </a:extLst>
          </p:cNvPr>
          <p:cNvSpPr/>
          <p:nvPr/>
        </p:nvSpPr>
        <p:spPr>
          <a:xfrm>
            <a:off x="5105400" y="5207000"/>
            <a:ext cx="2540000" cy="5334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4A6861-9462-CD6F-928F-3F395E4348C3}"/>
              </a:ext>
            </a:extLst>
          </p:cNvPr>
          <p:cNvSpPr txBox="1"/>
          <p:nvPr/>
        </p:nvSpPr>
        <p:spPr>
          <a:xfrm>
            <a:off x="5207000" y="5308600"/>
            <a:ext cx="2387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 b="1">
                <a:solidFill>
                  <a:srgbClr val="0288D1"/>
                </a:solidFill>
                <a:latin typeface="Consolas" panose="020B0609020204030204" pitchFamily="49" charset="0"/>
              </a:rPr>
              <a:t>SAFE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21226E4-2527-DBA2-8644-12E3FB23CD68}"/>
              </a:ext>
            </a:extLst>
          </p:cNvPr>
          <p:cNvSpPr/>
          <p:nvPr/>
        </p:nvSpPr>
        <p:spPr>
          <a:xfrm>
            <a:off x="7645400" y="5207000"/>
            <a:ext cx="1397000" cy="5334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81A49D-0810-A988-D2EA-1F270DEA92EF}"/>
              </a:ext>
            </a:extLst>
          </p:cNvPr>
          <p:cNvSpPr txBox="1"/>
          <p:nvPr/>
        </p:nvSpPr>
        <p:spPr>
          <a:xfrm>
            <a:off x="7747000" y="5308600"/>
            <a:ext cx="1244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>
                <a:solidFill>
                  <a:srgbClr val="0288D1"/>
                </a:solidFill>
                <a:latin typeface="Consolas" panose="020B0609020204030204" pitchFamily="49" charset="0"/>
              </a:rPr>
              <a:t>—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40AF8C-02A2-9203-DF4A-C26B3AB62193}"/>
              </a:ext>
            </a:extLst>
          </p:cNvPr>
          <p:cNvSpPr txBox="1"/>
          <p:nvPr/>
        </p:nvSpPr>
        <p:spPr>
          <a:xfrm>
            <a:off x="914400" y="58928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606060"/>
                </a:solidFill>
                <a:latin typeface="Segoe UI" panose="020B0502040204020203" pitchFamily="34" charset="0"/>
              </a:rPr>
              <a:t>Asymmetric debounce: escalate immediately (safety first); de-escalate only after a 5 s cooldown.</a:t>
            </a:r>
          </a:p>
        </p:txBody>
      </p:sp>
    </p:spTree>
    <p:extLst>
      <p:ext uri="{BB962C8B-B14F-4D97-AF65-F5344CB8AC3E}">
        <p14:creationId xmlns:p14="http://schemas.microsoft.com/office/powerpoint/2010/main" val="1066700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wipe/>
      </p:transition>
    </mc:Choice>
    <mc:Fallback xmlns="">
      <p:transition spd="med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900" fill="hold"/>
                                        <p:tgtEl>
                                          <p:spTgt spid="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5341B4-4CFC-A1F6-2333-EB275402B632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0288D1"/>
                </a:solidFill>
                <a:latin typeface="Segoe UI" panose="020B0502040204020203" pitchFamily="34" charset="0"/>
              </a:rPr>
              <a:t>OCCUPANCY-AWARE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DDC674-EA6B-76D2-AA0D-0F0DFBB60864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300" b="1">
                <a:solidFill>
                  <a:srgbClr val="1C1C1C"/>
                </a:solidFill>
                <a:latin typeface="Segoe UI" panose="020B0502040204020203" pitchFamily="34" charset="0"/>
              </a:rPr>
              <a:t>Alert prioritisation today, suppression modulation next.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EC19E04-BB86-88B7-5A57-7B2A1ECC2A72}"/>
              </a:ext>
            </a:extLst>
          </p:cNvPr>
          <p:cNvSpPr/>
          <p:nvPr/>
        </p:nvSpPr>
        <p:spPr>
          <a:xfrm>
            <a:off x="914400" y="2667000"/>
            <a:ext cx="4572000" cy="29210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0288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468569-1D98-E380-0E24-2B8483164685}"/>
              </a:ext>
            </a:extLst>
          </p:cNvPr>
          <p:cNvSpPr/>
          <p:nvPr/>
        </p:nvSpPr>
        <p:spPr>
          <a:xfrm>
            <a:off x="914400" y="2667000"/>
            <a:ext cx="4572000" cy="101600"/>
          </a:xfrm>
          <a:prstGeom prst="rect">
            <a:avLst/>
          </a:prstGeom>
          <a:solidFill>
            <a:srgbClr val="0288D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D712AB-C033-177E-00C7-ED00137D1DDC}"/>
              </a:ext>
            </a:extLst>
          </p:cNvPr>
          <p:cNvSpPr txBox="1"/>
          <p:nvPr/>
        </p:nvSpPr>
        <p:spPr>
          <a:xfrm>
            <a:off x="1168400" y="2946400"/>
            <a:ext cx="406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700" b="1">
                <a:solidFill>
                  <a:srgbClr val="1C1C1C"/>
                </a:solidFill>
                <a:latin typeface="Segoe UI" panose="020B0502040204020203" pitchFamily="34" charset="0"/>
              </a:rPr>
              <a:t>Occupancy-Aware Alerting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1409DCB-84B4-7449-54BF-C5522D10D2D4}"/>
              </a:ext>
            </a:extLst>
          </p:cNvPr>
          <p:cNvSpPr/>
          <p:nvPr/>
        </p:nvSpPr>
        <p:spPr>
          <a:xfrm>
            <a:off x="1168400" y="3403600"/>
            <a:ext cx="1397000" cy="304800"/>
          </a:xfrm>
          <a:prstGeom prst="roundRect">
            <a:avLst/>
          </a:prstGeom>
          <a:noFill/>
          <a:ln w="19050" cap="flat" cmpd="sng" algn="ctr">
            <a:solidFill>
              <a:srgbClr val="0288D1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71E717-0CAC-6BD1-FC2D-0F93F95BF2ED}"/>
              </a:ext>
            </a:extLst>
          </p:cNvPr>
          <p:cNvSpPr txBox="1"/>
          <p:nvPr/>
        </p:nvSpPr>
        <p:spPr>
          <a:xfrm>
            <a:off x="1168400" y="3429000"/>
            <a:ext cx="1397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 b="1">
                <a:solidFill>
                  <a:srgbClr val="0288D1"/>
                </a:solidFill>
                <a:latin typeface="Segoe UI" panose="020B0502040204020203" pitchFamily="34" charset="0"/>
              </a:rPr>
              <a:t>DELIVERED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DB37A6-DE4B-8846-B08B-0D1137ABEB56}"/>
              </a:ext>
            </a:extLst>
          </p:cNvPr>
          <p:cNvSpPr txBox="1"/>
          <p:nvPr/>
        </p:nvSpPr>
        <p:spPr>
          <a:xfrm>
            <a:off x="1168400" y="3886200"/>
            <a:ext cx="406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The live head-count is embedded in the Telegram alert, raising rescue priority when people remain inside an active hazard zone.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593652-B29F-8D4C-F2D2-4E0D1E0AD875}"/>
              </a:ext>
            </a:extLst>
          </p:cNvPr>
          <p:cNvSpPr/>
          <p:nvPr/>
        </p:nvSpPr>
        <p:spPr>
          <a:xfrm>
            <a:off x="6705600" y="2667000"/>
            <a:ext cx="4572000" cy="292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0C51B8-1C7F-265D-E42E-EF812AE9963B}"/>
              </a:ext>
            </a:extLst>
          </p:cNvPr>
          <p:cNvSpPr/>
          <p:nvPr/>
        </p:nvSpPr>
        <p:spPr>
          <a:xfrm>
            <a:off x="6705600" y="2667000"/>
            <a:ext cx="4572000" cy="101600"/>
          </a:xfrm>
          <a:prstGeom prst="rect">
            <a:avLst/>
          </a:prstGeom>
          <a:solidFill>
            <a:srgbClr val="9696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D81873-B7B6-442E-5E86-439EA6B9536E}"/>
              </a:ext>
            </a:extLst>
          </p:cNvPr>
          <p:cNvSpPr txBox="1"/>
          <p:nvPr/>
        </p:nvSpPr>
        <p:spPr>
          <a:xfrm>
            <a:off x="6959600" y="2946400"/>
            <a:ext cx="406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600" b="1">
                <a:solidFill>
                  <a:srgbClr val="606060"/>
                </a:solidFill>
                <a:latin typeface="Segoe UI" panose="020B0502040204020203" pitchFamily="34" charset="0"/>
              </a:rPr>
              <a:t>Occupancy-Modulated Suppression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BEC1907-67BB-2FE3-BC69-809BA5D15A28}"/>
              </a:ext>
            </a:extLst>
          </p:cNvPr>
          <p:cNvSpPr/>
          <p:nvPr/>
        </p:nvSpPr>
        <p:spPr>
          <a:xfrm>
            <a:off x="6959600" y="3403600"/>
            <a:ext cx="1397000" cy="304800"/>
          </a:xfrm>
          <a:prstGeom prst="roundRect">
            <a:avLst/>
          </a:prstGeom>
          <a:noFill/>
          <a:ln w="19050" cap="flat" cmpd="sng" algn="ctr">
            <a:solidFill>
              <a:srgbClr val="969696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1A283B-FD2E-934B-BAB6-8B370951A6AE}"/>
              </a:ext>
            </a:extLst>
          </p:cNvPr>
          <p:cNvSpPr txBox="1"/>
          <p:nvPr/>
        </p:nvSpPr>
        <p:spPr>
          <a:xfrm>
            <a:off x="6959600" y="3429000"/>
            <a:ext cx="1397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 b="1">
                <a:solidFill>
                  <a:srgbClr val="969696"/>
                </a:solidFill>
                <a:latin typeface="Segoe UI" panose="020B0502040204020203" pitchFamily="34" charset="0"/>
              </a:rPr>
              <a:t>ROADMAP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ACBE11-AA49-F013-52DD-4141A868D5C3}"/>
              </a:ext>
            </a:extLst>
          </p:cNvPr>
          <p:cNvSpPr txBox="1"/>
          <p:nvPr/>
        </p:nvSpPr>
        <p:spPr>
          <a:xfrm>
            <a:off x="6959600" y="3886200"/>
            <a:ext cx="406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606060"/>
                </a:solidFill>
                <a:latin typeface="Segoe UI" panose="020B0502040204020203" pitchFamily="34" charset="0"/>
              </a:rPr>
              <a:t>A planned extension in which actuation adapts to protect occupants (e.g. holding an egress path). Not yet wired into the ESP32 control law.</a:t>
            </a:r>
          </a:p>
        </p:txBody>
      </p:sp>
    </p:spTree>
    <p:extLst>
      <p:ext uri="{BB962C8B-B14F-4D97-AF65-F5344CB8AC3E}">
        <p14:creationId xmlns:p14="http://schemas.microsoft.com/office/powerpoint/2010/main" val="371715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repeatCount="9999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9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9982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A83838-03F6-AA7E-85BB-3D34C115E7A6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D32F2F"/>
                </a:solidFill>
                <a:latin typeface="Segoe UI" panose="020B0502040204020203" pitchFamily="34" charset="0"/>
              </a:rPr>
              <a:t>LIVE DEMONSTRATION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20794-7DE3-AA4C-5993-4340AFBF006A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400" b="1">
                <a:solidFill>
                  <a:srgbClr val="1C1C1C"/>
                </a:solidFill>
                <a:latin typeface="Segoe UI" panose="020B0502040204020203" pitchFamily="34" charset="0"/>
              </a:rPr>
              <a:t>From detection to suppression — in front of you.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3262F9-8B20-2274-F0D3-D83BA61746E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413000"/>
            <a:ext cx="4826000" cy="3048000"/>
          </a:xfrm>
          <a:prstGeom prst="rect">
            <a:avLst/>
          </a:prstGeom>
          <a:ln w="15875">
            <a:solidFill>
              <a:srgbClr val="1C1C1C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B0B49E-A035-6C89-9FB0-E8CE628C65CA}"/>
              </a:ext>
            </a:extLst>
          </p:cNvPr>
          <p:cNvSpPr txBox="1"/>
          <p:nvPr/>
        </p:nvSpPr>
        <p:spPr>
          <a:xfrm>
            <a:off x="914400" y="5511800"/>
            <a:ext cx="4826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000">
                <a:solidFill>
                  <a:srgbClr val="606060"/>
                </a:solidFill>
                <a:latin typeface="Segoe UI" panose="020B0502040204020203" pitchFamily="34" charset="0"/>
              </a:rPr>
              <a:t>photos\running_cv_model.png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AF32D8-4CAD-BB15-0AD2-5E6DD25A8859}"/>
              </a:ext>
            </a:extLst>
          </p:cNvPr>
          <p:cNvSpPr/>
          <p:nvPr/>
        </p:nvSpPr>
        <p:spPr>
          <a:xfrm>
            <a:off x="6705600" y="2413000"/>
            <a:ext cx="4572000" cy="2578100"/>
          </a:xfrm>
          <a:prstGeom prst="roundRect">
            <a:avLst/>
          </a:prstGeom>
          <a:solidFill>
            <a:srgbClr val="EDEDED"/>
          </a:solidFill>
          <a:ln w="22225">
            <a:solidFill>
              <a:srgbClr val="1C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DAD876C-D0CB-63AB-2FC0-7BE61EA6EB12}"/>
              </a:ext>
            </a:extLst>
          </p:cNvPr>
          <p:cNvSpPr/>
          <p:nvPr/>
        </p:nvSpPr>
        <p:spPr>
          <a:xfrm>
            <a:off x="8610600" y="3175000"/>
            <a:ext cx="762000" cy="762000"/>
          </a:xfrm>
          <a:prstGeom prst="ellipse">
            <a:avLst/>
          </a:prstGeom>
          <a:solidFill>
            <a:srgbClr val="D3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5AC17C-046D-2FA0-3692-FC8660482BE0}"/>
              </a:ext>
            </a:extLst>
          </p:cNvPr>
          <p:cNvSpPr txBox="1"/>
          <p:nvPr/>
        </p:nvSpPr>
        <p:spPr>
          <a:xfrm>
            <a:off x="6705600" y="4572000"/>
            <a:ext cx="457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sv-SE" sz="1200">
                <a:solidFill>
                  <a:srgbClr val="606060"/>
                </a:solidFill>
                <a:latin typeface="Segoe UI" panose="020B0502040204020203" pitchFamily="34" charset="0"/>
              </a:rPr>
              <a:t>Fallback demo video — insert .mp4</a:t>
            </a:r>
            <a:endParaRPr lang="en-US" sz="1200">
              <a:solidFill>
                <a:srgbClr val="606060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B453BC-CE81-704A-EDDF-D00A9EFF0F1C}"/>
              </a:ext>
            </a:extLst>
          </p:cNvPr>
          <p:cNvSpPr txBox="1"/>
          <p:nvPr/>
        </p:nvSpPr>
        <p:spPr>
          <a:xfrm>
            <a:off x="914400" y="52070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>
                <a:solidFill>
                  <a:srgbClr val="1C1C1C"/>
                </a:solidFill>
                <a:latin typeface="Segoe UI" panose="020B0502040204020203" pitchFamily="34" charset="0"/>
              </a:rPr>
              <a:t>1 · induce gas in a room → local suppression fires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5647C6-A65E-7FE3-959A-4B16819A79E6}"/>
              </a:ext>
            </a:extLst>
          </p:cNvPr>
          <p:cNvSpPr txBox="1"/>
          <p:nvPr/>
        </p:nvSpPr>
        <p:spPr>
          <a:xfrm>
            <a:off x="914400" y="55118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>
                <a:solidFill>
                  <a:srgbClr val="1C1C1C"/>
                </a:solidFill>
                <a:latin typeface="Segoe UI" panose="020B0502040204020203" pitchFamily="34" charset="0"/>
              </a:rPr>
              <a:t>2 · present flame → global override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7C09DF-9CC7-B58E-8ECD-8CD9EE069F5E}"/>
              </a:ext>
            </a:extLst>
          </p:cNvPr>
          <p:cNvSpPr txBox="1"/>
          <p:nvPr/>
        </p:nvSpPr>
        <p:spPr>
          <a:xfrm>
            <a:off x="914400" y="5816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>
                <a:solidFill>
                  <a:srgbClr val="1C1C1C"/>
                </a:solidFill>
                <a:latin typeface="Segoe UI" panose="020B0502040204020203" pitchFamily="34" charset="0"/>
              </a:rPr>
              <a:t>3 · show YOLO confirmation + snapshot → Telegram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367D26-7AB2-50D7-17F6-43C1CDB957A7}"/>
              </a:ext>
            </a:extLst>
          </p:cNvPr>
          <p:cNvSpPr txBox="1"/>
          <p:nvPr/>
        </p:nvSpPr>
        <p:spPr>
          <a:xfrm>
            <a:off x="914400" y="61214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>
                <a:solidFill>
                  <a:srgbClr val="1C1C1C"/>
                </a:solidFill>
                <a:latin typeface="Segoe UI" panose="020B0502040204020203" pitchFamily="34" charset="0"/>
              </a:rPr>
              <a:t>4 · dashboard mirrors every state live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3148249-5908-8DB2-56CA-8AFDBF6524E5}"/>
              </a:ext>
            </a:extLst>
          </p:cNvPr>
          <p:cNvSpPr/>
          <p:nvPr/>
        </p:nvSpPr>
        <p:spPr>
          <a:xfrm>
            <a:off x="10134600" y="1905000"/>
            <a:ext cx="1143000" cy="355600"/>
          </a:xfrm>
          <a:prstGeom prst="roundRect">
            <a:avLst/>
          </a:prstGeom>
          <a:solidFill>
            <a:srgbClr val="D3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9CDC36-5CFD-9095-64C5-BD66ECCFAF0C}"/>
              </a:ext>
            </a:extLst>
          </p:cNvPr>
          <p:cNvSpPr txBox="1"/>
          <p:nvPr/>
        </p:nvSpPr>
        <p:spPr>
          <a:xfrm>
            <a:off x="10134600" y="1955800"/>
            <a:ext cx="1143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Segoe UI" panose="020B0502040204020203" pitchFamily="34" charset="0"/>
              </a:rPr>
              <a:t>LIVE</a:t>
            </a:r>
          </a:p>
        </p:txBody>
      </p:sp>
    </p:spTree>
    <p:extLst>
      <p:ext uri="{BB962C8B-B14F-4D97-AF65-F5344CB8AC3E}">
        <p14:creationId xmlns:p14="http://schemas.microsoft.com/office/powerpoint/2010/main" val="507543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9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9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DEF1C7-73B2-D01F-C2F8-340F719344D2}"/>
              </a:ext>
            </a:extLst>
          </p:cNvPr>
          <p:cNvSpPr txBox="1"/>
          <p:nvPr/>
        </p:nvSpPr>
        <p:spPr>
          <a:xfrm>
            <a:off x="838200" y="1905000"/>
            <a:ext cx="457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0000" b="1">
                <a:solidFill>
                  <a:srgbClr val="EDEDED"/>
                </a:solidFill>
                <a:latin typeface="Segoe UI" panose="020B0502040204020203" pitchFamily="34" charset="0"/>
              </a:rPr>
              <a:t>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61340C-0B62-6CEE-1E69-73346684A587}"/>
              </a:ext>
            </a:extLst>
          </p:cNvPr>
          <p:cNvSpPr txBox="1"/>
          <p:nvPr/>
        </p:nvSpPr>
        <p:spPr>
          <a:xfrm>
            <a:off x="914400" y="21590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D32F2F"/>
                </a:solidFill>
                <a:latin typeface="Segoe UI" panose="020B0502040204020203" pitchFamily="34" charset="0"/>
              </a:rPr>
              <a:t>PILLAR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1493B9-7028-238E-4A68-970CDC7C8470}"/>
              </a:ext>
            </a:extLst>
          </p:cNvPr>
          <p:cNvSpPr txBox="1"/>
          <p:nvPr/>
        </p:nvSpPr>
        <p:spPr>
          <a:xfrm>
            <a:off x="914400" y="2489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4200" b="1">
                <a:solidFill>
                  <a:srgbClr val="1C1C1C"/>
                </a:solidFill>
                <a:latin typeface="Segoe UI" panose="020B0502040204020203" pitchFamily="34" charset="0"/>
              </a:rPr>
              <a:t>Validation &amp; Experimental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CC76CA-A9C2-CB26-3434-B26A3B36F723}"/>
              </a:ext>
            </a:extLst>
          </p:cNvPr>
          <p:cNvCxnSpPr/>
          <p:nvPr/>
        </p:nvCxnSpPr>
        <p:spPr>
          <a:xfrm>
            <a:off x="914400" y="3606800"/>
            <a:ext cx="1524000" cy="0"/>
          </a:xfrm>
          <a:prstGeom prst="line">
            <a:avLst/>
          </a:prstGeom>
          <a:ln w="38100">
            <a:solidFill>
              <a:srgbClr val="D32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3CF8A3A-A2BB-CA69-5922-ED316B86C7C5}"/>
              </a:ext>
            </a:extLst>
          </p:cNvPr>
          <p:cNvSpPr txBox="1"/>
          <p:nvPr/>
        </p:nvSpPr>
        <p:spPr>
          <a:xfrm>
            <a:off x="914400" y="3860800"/>
            <a:ext cx="1016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000">
                <a:solidFill>
                  <a:srgbClr val="606060"/>
                </a:solidFill>
                <a:latin typeface="Segoe UI" panose="020B0502040204020203" pitchFamily="34" charset="0"/>
              </a:rPr>
              <a:t>Claims are only as good as the bench that proves them.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BCCEF2B-D119-9845-9934-5F28C3D5B9A0}"/>
              </a:ext>
            </a:extLst>
          </p:cNvPr>
          <p:cNvSpPr/>
          <p:nvPr/>
        </p:nvSpPr>
        <p:spPr>
          <a:xfrm>
            <a:off x="10287000" y="1143000"/>
            <a:ext cx="685800" cy="685800"/>
          </a:xfrm>
          <a:prstGeom prst="ellipse">
            <a:avLst/>
          </a:prstGeom>
          <a:noFill/>
          <a:ln w="31750" cap="flat" cmpd="sng" algn="ctr">
            <a:solidFill>
              <a:srgbClr val="D32F2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80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push dir="u"/>
      </p:transition>
    </mc:Choice>
    <mc:Fallback>
      <p:transition spd="med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900" fill="hold"/>
                                        <p:tgtEl>
                                          <p:spTgt spid="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92F2A5-D388-EFB1-90EA-068F67BB9D95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D32F2F"/>
                </a:solidFill>
                <a:latin typeface="Segoe UI" panose="020B0502040204020203" pitchFamily="34" charset="0"/>
              </a:rPr>
              <a:t>LATENCY BREAKDOWN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208B80-EA4D-74F7-24DD-21136BBEBBD4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300" b="1">
                <a:solidFill>
                  <a:srgbClr val="1C1C1C"/>
                </a:solidFill>
                <a:latin typeface="Segoe UI" panose="020B0502040204020203" pitchFamily="34" charset="0"/>
              </a:rPr>
              <a:t>Where the milliseconds go: suppression is the fast path.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5D47B9-C184-3E97-D966-3C0004768441}"/>
              </a:ext>
            </a:extLst>
          </p:cNvPr>
          <p:cNvSpPr txBox="1"/>
          <p:nvPr/>
        </p:nvSpPr>
        <p:spPr>
          <a:xfrm>
            <a:off x="914400" y="2717800"/>
            <a:ext cx="3048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r"/>
            <a:r>
              <a:rPr lang="en-US" sz="1400">
                <a:solidFill>
                  <a:srgbClr val="1C1C1C"/>
                </a:solidFill>
                <a:latin typeface="Segoe UI" panose="020B0502040204020203" pitchFamily="34" charset="0"/>
              </a:rPr>
              <a:t>Local edge → actuation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BFDC936-EFC4-3115-1873-FD297F1AAA3E}"/>
              </a:ext>
            </a:extLst>
          </p:cNvPr>
          <p:cNvSpPr/>
          <p:nvPr/>
        </p:nvSpPr>
        <p:spPr>
          <a:xfrm>
            <a:off x="4089400" y="2667000"/>
            <a:ext cx="762000" cy="431800"/>
          </a:xfrm>
          <a:prstGeom prst="roundRect">
            <a:avLst/>
          </a:prstGeom>
          <a:solidFill>
            <a:srgbClr val="D3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EC9874-0CE7-387A-EE6C-E2C2283B5DAC}"/>
              </a:ext>
            </a:extLst>
          </p:cNvPr>
          <p:cNvSpPr txBox="1"/>
          <p:nvPr/>
        </p:nvSpPr>
        <p:spPr>
          <a:xfrm>
            <a:off x="5003800" y="2717800"/>
            <a:ext cx="3175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D32F2F"/>
                </a:solidFill>
                <a:latin typeface="Segoe UI" panose="020B0502040204020203" pitchFamily="34" charset="0"/>
              </a:rPr>
              <a:t>~15 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784DCA-C6BF-1535-D5CB-159EBDCEA49F}"/>
              </a:ext>
            </a:extLst>
          </p:cNvPr>
          <p:cNvSpPr txBox="1"/>
          <p:nvPr/>
        </p:nvSpPr>
        <p:spPr>
          <a:xfrm>
            <a:off x="914400" y="3606800"/>
            <a:ext cx="3048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r"/>
            <a:r>
              <a:rPr lang="en-US" sz="1400">
                <a:solidFill>
                  <a:srgbClr val="1C1C1C"/>
                </a:solidFill>
                <a:latin typeface="Segoe UI" panose="020B0502040204020203" pitchFamily="34" charset="0"/>
              </a:rPr>
              <a:t>GPU YOLOv11 inference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CB84FF-1ADF-F06C-F942-23143230C6FD}"/>
              </a:ext>
            </a:extLst>
          </p:cNvPr>
          <p:cNvSpPr/>
          <p:nvPr/>
        </p:nvSpPr>
        <p:spPr>
          <a:xfrm>
            <a:off x="4089400" y="3556000"/>
            <a:ext cx="1905000" cy="431800"/>
          </a:xfrm>
          <a:prstGeom prst="roundRect">
            <a:avLst/>
          </a:prstGeom>
          <a:solidFill>
            <a:srgbClr val="F57C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AF395F-1E04-D351-0DE0-53AD82513633}"/>
              </a:ext>
            </a:extLst>
          </p:cNvPr>
          <p:cNvSpPr txBox="1"/>
          <p:nvPr/>
        </p:nvSpPr>
        <p:spPr>
          <a:xfrm>
            <a:off x="6146800" y="3606800"/>
            <a:ext cx="3175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F57C00"/>
                </a:solidFill>
                <a:latin typeface="Segoe UI" panose="020B0502040204020203" pitchFamily="34" charset="0"/>
              </a:rPr>
              <a:t>~43 ms  (23 FPS)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117AD8-C24D-FA6E-F9C9-B97A964F3AB7}"/>
              </a:ext>
            </a:extLst>
          </p:cNvPr>
          <p:cNvSpPr txBox="1"/>
          <p:nvPr/>
        </p:nvSpPr>
        <p:spPr>
          <a:xfrm>
            <a:off x="914400" y="4495800"/>
            <a:ext cx="30480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r"/>
            <a:r>
              <a:rPr lang="en-US" sz="1400">
                <a:solidFill>
                  <a:srgbClr val="1C1C1C"/>
                </a:solidFill>
                <a:latin typeface="Segoe UI" panose="020B0502040204020203" pitchFamily="34" charset="0"/>
              </a:rPr>
              <a:t>Telegram remote alert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1DA4A8D-DC48-1366-683E-C9D9FB79CC5D}"/>
              </a:ext>
            </a:extLst>
          </p:cNvPr>
          <p:cNvSpPr/>
          <p:nvPr/>
        </p:nvSpPr>
        <p:spPr>
          <a:xfrm>
            <a:off x="4089400" y="4445000"/>
            <a:ext cx="3810000" cy="431800"/>
          </a:xfrm>
          <a:prstGeom prst="roundRect">
            <a:avLst/>
          </a:prstGeom>
          <a:solidFill>
            <a:srgbClr val="606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6B5B5F-D006-9E2A-ABF6-BE97A0A4FEBD}"/>
              </a:ext>
            </a:extLst>
          </p:cNvPr>
          <p:cNvSpPr txBox="1"/>
          <p:nvPr/>
        </p:nvSpPr>
        <p:spPr>
          <a:xfrm>
            <a:off x="8051800" y="4495800"/>
            <a:ext cx="3175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606060"/>
                </a:solidFill>
                <a:latin typeface="Segoe UI" panose="020B0502040204020203" pitchFamily="34" charset="0"/>
              </a:rPr>
              <a:t>~1–3 s  (network)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395DF4-479E-B460-E638-3DD843474490}"/>
              </a:ext>
            </a:extLst>
          </p:cNvPr>
          <p:cNvCxnSpPr/>
          <p:nvPr/>
        </p:nvCxnSpPr>
        <p:spPr>
          <a:xfrm>
            <a:off x="4851400" y="2489200"/>
            <a:ext cx="0" cy="685800"/>
          </a:xfrm>
          <a:prstGeom prst="line">
            <a:avLst/>
          </a:prstGeom>
          <a:ln w="19050">
            <a:solidFill>
              <a:srgbClr val="D32F2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B28A625-7B21-CEA0-F155-6DE790E60147}"/>
              </a:ext>
            </a:extLst>
          </p:cNvPr>
          <p:cNvSpPr txBox="1"/>
          <p:nvPr/>
        </p:nvSpPr>
        <p:spPr>
          <a:xfrm>
            <a:off x="4927600" y="2489200"/>
            <a:ext cx="2794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 b="1">
                <a:solidFill>
                  <a:srgbClr val="D32F2F"/>
                </a:solidFill>
                <a:latin typeface="Segoe UI" panose="020B0502040204020203" pitchFamily="34" charset="0"/>
              </a:rPr>
              <a:t>one control cycle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488F07-DF5A-5E21-A9A8-9F6B883EBF2B}"/>
              </a:ext>
            </a:extLst>
          </p:cNvPr>
          <p:cNvSpPr txBox="1"/>
          <p:nvPr/>
        </p:nvSpPr>
        <p:spPr>
          <a:xfrm>
            <a:off x="914400" y="54610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606060"/>
                </a:solidFill>
                <a:latin typeface="Segoe UI" panose="020B0502040204020203" pitchFamily="34" charset="0"/>
              </a:rPr>
              <a:t>Network lane compressed for scale. Local suppression completes far ahead of — and is never gated by — the remote alert.</a:t>
            </a:r>
          </a:p>
        </p:txBody>
      </p:sp>
    </p:spTree>
    <p:extLst>
      <p:ext uri="{BB962C8B-B14F-4D97-AF65-F5344CB8AC3E}">
        <p14:creationId xmlns:p14="http://schemas.microsoft.com/office/powerpoint/2010/main" val="3733871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F71F7A-EEFA-614C-77C3-292F1BBB1B53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F57C00"/>
                </a:solidFill>
                <a:latin typeface="Segoe UI" panose="020B0502040204020203" pitchFamily="34" charset="0"/>
              </a:rPr>
              <a:t>FALSE-ALARM MITIGATION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81418-3718-6934-3576-EB22D9051D80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300" b="1">
                <a:solidFill>
                  <a:srgbClr val="1C1C1C"/>
                </a:solidFill>
                <a:latin typeface="Segoe UI" panose="020B0502040204020203" pitchFamily="34" charset="0"/>
              </a:rPr>
              <a:t>Tighter gates: fewer false alarms, no missed fire.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875F5F-B5AD-8233-A59A-14BB7FD3B82A}"/>
              </a:ext>
            </a:extLst>
          </p:cNvPr>
          <p:cNvSpPr/>
          <p:nvPr/>
        </p:nvSpPr>
        <p:spPr>
          <a:xfrm>
            <a:off x="1168400" y="2794000"/>
            <a:ext cx="1143000" cy="5080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6CDCD7-B226-248A-07C8-BF7CA1423FAB}"/>
              </a:ext>
            </a:extLst>
          </p:cNvPr>
          <p:cNvSpPr txBox="1"/>
          <p:nvPr/>
        </p:nvSpPr>
        <p:spPr>
          <a:xfrm>
            <a:off x="1168400" y="2895600"/>
            <a:ext cx="1143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600">
                <a:solidFill>
                  <a:srgbClr val="606060"/>
                </a:solidFill>
                <a:latin typeface="Segoe UI" panose="020B0502040204020203" pitchFamily="34" charset="0"/>
              </a:rPr>
              <a:t>0.50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BBF38EC-0A1B-9544-4EC3-D3ABC2F2D87A}"/>
              </a:ext>
            </a:extLst>
          </p:cNvPr>
          <p:cNvSpPr/>
          <p:nvPr/>
        </p:nvSpPr>
        <p:spPr>
          <a:xfrm>
            <a:off x="2387600" y="2946400"/>
            <a:ext cx="381000" cy="203200"/>
          </a:xfrm>
          <a:prstGeom prst="rightArrow">
            <a:avLst/>
          </a:prstGeom>
          <a:solidFill>
            <a:srgbClr val="F57C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10B0174-4264-29EA-932B-6C378993528A}"/>
              </a:ext>
            </a:extLst>
          </p:cNvPr>
          <p:cNvSpPr/>
          <p:nvPr/>
        </p:nvSpPr>
        <p:spPr>
          <a:xfrm>
            <a:off x="2844800" y="2794000"/>
            <a:ext cx="1143000" cy="508000"/>
          </a:xfrm>
          <a:prstGeom prst="roundRect">
            <a:avLst/>
          </a:prstGeom>
          <a:noFill/>
          <a:ln w="25400" cap="flat" cmpd="sng" algn="ctr">
            <a:solidFill>
              <a:srgbClr val="F57C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67998E-1203-324E-C5A1-9346767A9969}"/>
              </a:ext>
            </a:extLst>
          </p:cNvPr>
          <p:cNvSpPr txBox="1"/>
          <p:nvPr/>
        </p:nvSpPr>
        <p:spPr>
          <a:xfrm>
            <a:off x="2844800" y="2895600"/>
            <a:ext cx="1143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600" b="1">
                <a:solidFill>
                  <a:srgbClr val="F57C00"/>
                </a:solidFill>
                <a:latin typeface="Segoe UI" panose="020B0502040204020203" pitchFamily="34" charset="0"/>
              </a:rPr>
              <a:t>0.68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579D04-CA8B-1B3E-DF46-23B2A47B6A83}"/>
              </a:ext>
            </a:extLst>
          </p:cNvPr>
          <p:cNvSpPr txBox="1"/>
          <p:nvPr/>
        </p:nvSpPr>
        <p:spPr>
          <a:xfrm>
            <a:off x="1168400" y="2514600"/>
            <a:ext cx="28194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 b="1">
                <a:solidFill>
                  <a:srgbClr val="1C1C1C"/>
                </a:solidFill>
                <a:latin typeface="Segoe UI" panose="020B0502040204020203" pitchFamily="34" charset="0"/>
              </a:rPr>
              <a:t>fire confidence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0C432A2-011F-3458-0FC8-A7478D791531}"/>
              </a:ext>
            </a:extLst>
          </p:cNvPr>
          <p:cNvSpPr/>
          <p:nvPr/>
        </p:nvSpPr>
        <p:spPr>
          <a:xfrm>
            <a:off x="1168400" y="4064000"/>
            <a:ext cx="1143000" cy="5080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3C9448-B237-7A81-BC59-1B4E5EFA9078}"/>
              </a:ext>
            </a:extLst>
          </p:cNvPr>
          <p:cNvSpPr txBox="1"/>
          <p:nvPr/>
        </p:nvSpPr>
        <p:spPr>
          <a:xfrm>
            <a:off x="1168400" y="4165600"/>
            <a:ext cx="1143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600">
                <a:solidFill>
                  <a:srgbClr val="606060"/>
                </a:solidFill>
                <a:latin typeface="Segoe UI" panose="020B0502040204020203" pitchFamily="34" charset="0"/>
              </a:rPr>
              <a:t>0.75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D165140-5233-4C02-10CB-242A4C5F4D23}"/>
              </a:ext>
            </a:extLst>
          </p:cNvPr>
          <p:cNvSpPr/>
          <p:nvPr/>
        </p:nvSpPr>
        <p:spPr>
          <a:xfrm>
            <a:off x="2387600" y="4216400"/>
            <a:ext cx="381000" cy="203200"/>
          </a:xfrm>
          <a:prstGeom prst="rightArrow">
            <a:avLst/>
          </a:prstGeom>
          <a:solidFill>
            <a:srgbClr val="F57C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4126682-9A84-0EFB-6300-4D831F4C05BA}"/>
              </a:ext>
            </a:extLst>
          </p:cNvPr>
          <p:cNvSpPr/>
          <p:nvPr/>
        </p:nvSpPr>
        <p:spPr>
          <a:xfrm>
            <a:off x="2844800" y="4064000"/>
            <a:ext cx="1143000" cy="508000"/>
          </a:xfrm>
          <a:prstGeom prst="roundRect">
            <a:avLst/>
          </a:prstGeom>
          <a:noFill/>
          <a:ln w="25400" cap="flat" cmpd="sng" algn="ctr">
            <a:solidFill>
              <a:srgbClr val="F57C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D59B13-6ACC-9E59-8A9C-B4B45F10A669}"/>
              </a:ext>
            </a:extLst>
          </p:cNvPr>
          <p:cNvSpPr txBox="1"/>
          <p:nvPr/>
        </p:nvSpPr>
        <p:spPr>
          <a:xfrm>
            <a:off x="2844800" y="4165600"/>
            <a:ext cx="1143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600" b="1">
                <a:solidFill>
                  <a:srgbClr val="F57C00"/>
                </a:solidFill>
                <a:latin typeface="Segoe UI" panose="020B0502040204020203" pitchFamily="34" charset="0"/>
              </a:rPr>
              <a:t>0.82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0385DB-A1E1-B19C-12AF-51D827AEBD93}"/>
              </a:ext>
            </a:extLst>
          </p:cNvPr>
          <p:cNvSpPr txBox="1"/>
          <p:nvPr/>
        </p:nvSpPr>
        <p:spPr>
          <a:xfrm>
            <a:off x="1168400" y="3784600"/>
            <a:ext cx="28194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200" b="1">
                <a:solidFill>
                  <a:srgbClr val="1C1C1C"/>
                </a:solidFill>
                <a:latin typeface="Segoe UI" panose="020B0502040204020203" pitchFamily="34" charset="0"/>
              </a:rPr>
              <a:t>smoke confidence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277E2E-771B-AB1F-3BF5-FE5D117074D2}"/>
              </a:ext>
            </a:extLst>
          </p:cNvPr>
          <p:cNvSpPr/>
          <p:nvPr/>
        </p:nvSpPr>
        <p:spPr>
          <a:xfrm>
            <a:off x="4978400" y="2667000"/>
            <a:ext cx="152400" cy="152400"/>
          </a:xfrm>
          <a:prstGeom prst="rect">
            <a:avLst/>
          </a:prstGeom>
          <a:solidFill>
            <a:srgbClr val="D3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5F7158-5604-56FF-AF7F-F73620C83300}"/>
              </a:ext>
            </a:extLst>
          </p:cNvPr>
          <p:cNvSpPr txBox="1"/>
          <p:nvPr/>
        </p:nvSpPr>
        <p:spPr>
          <a:xfrm>
            <a:off x="5257800" y="2616200"/>
            <a:ext cx="5969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Gas: EMA α = 0.15  +  60 s warm-up  +  ADC ≥ 2000 gate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4BB041-6FEA-8CDE-521E-732276E1A2F4}"/>
              </a:ext>
            </a:extLst>
          </p:cNvPr>
          <p:cNvSpPr/>
          <p:nvPr/>
        </p:nvSpPr>
        <p:spPr>
          <a:xfrm>
            <a:off x="4978400" y="3276600"/>
            <a:ext cx="152400" cy="152400"/>
          </a:xfrm>
          <a:prstGeom prst="rect">
            <a:avLst/>
          </a:prstGeom>
          <a:solidFill>
            <a:srgbClr val="D3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247F6C-3BA7-73E0-41F1-0B204A8AB7C3}"/>
              </a:ext>
            </a:extLst>
          </p:cNvPr>
          <p:cNvSpPr txBox="1"/>
          <p:nvPr/>
        </p:nvSpPr>
        <p:spPr>
          <a:xfrm>
            <a:off x="5257800" y="3225800"/>
            <a:ext cx="5969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Fusion: OR-gate needs a real sensor/vision signal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798B84-E93E-CFBD-0B3E-A2FB1B8A5F34}"/>
              </a:ext>
            </a:extLst>
          </p:cNvPr>
          <p:cNvSpPr/>
          <p:nvPr/>
        </p:nvSpPr>
        <p:spPr>
          <a:xfrm>
            <a:off x="4978400" y="3886200"/>
            <a:ext cx="152400" cy="152400"/>
          </a:xfrm>
          <a:prstGeom prst="rect">
            <a:avLst/>
          </a:prstGeom>
          <a:solidFill>
            <a:srgbClr val="D3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BEB311-BD71-03E1-4FAD-72073137AD42}"/>
              </a:ext>
            </a:extLst>
          </p:cNvPr>
          <p:cNvSpPr txBox="1"/>
          <p:nvPr/>
        </p:nvSpPr>
        <p:spPr>
          <a:xfrm>
            <a:off x="5257800" y="3835400"/>
            <a:ext cx="5969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Temperature alone → soft SENSOR_ALERT (never FIRE)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236357-7C29-948D-EAF6-D6932E2D05CD}"/>
              </a:ext>
            </a:extLst>
          </p:cNvPr>
          <p:cNvSpPr/>
          <p:nvPr/>
        </p:nvSpPr>
        <p:spPr>
          <a:xfrm>
            <a:off x="4978400" y="4495800"/>
            <a:ext cx="152400" cy="152400"/>
          </a:xfrm>
          <a:prstGeom prst="rect">
            <a:avLst/>
          </a:prstGeom>
          <a:solidFill>
            <a:srgbClr val="D3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BDB413-256B-3439-535C-7EFAF6F8C6CD}"/>
              </a:ext>
            </a:extLst>
          </p:cNvPr>
          <p:cNvSpPr txBox="1"/>
          <p:nvPr/>
        </p:nvSpPr>
        <p:spPr>
          <a:xfrm>
            <a:off x="5257800" y="4445000"/>
            <a:ext cx="5969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Stability: 5 s de-escalation debounce  +  45 s alert cooldown</a:t>
            </a:r>
          </a:p>
        </p:txBody>
      </p:sp>
    </p:spTree>
    <p:extLst>
      <p:ext uri="{BB962C8B-B14F-4D97-AF65-F5344CB8AC3E}">
        <p14:creationId xmlns:p14="http://schemas.microsoft.com/office/powerpoint/2010/main" val="17178630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900" fill="hold"/>
                                        <p:tgtEl>
                                          <p:spTgt spid="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900" fill="hold"/>
                                        <p:tgtEl>
                                          <p:spTgt spid="1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A7FCB0-768C-A820-FC00-653E8103A46E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D32F2F"/>
                </a:solidFill>
                <a:latin typeface="Segoe UI" panose="020B0502040204020203" pitchFamily="34" charset="0"/>
              </a:rPr>
              <a:t>ZONAL ACTUATION · OPTION 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32C32-9894-B8ED-E352-637E0B8E701B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200" b="1">
                <a:solidFill>
                  <a:srgbClr val="1C1C1C"/>
                </a:solidFill>
                <a:latin typeface="Segoe UI" panose="020B0502040204020203" pitchFamily="34" charset="0"/>
              </a:rPr>
              <a:t>Validated on the maquette: the right zone, every time.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87BFE2-783D-835F-6CF9-5B2C08D38D96}"/>
              </a:ext>
            </a:extLst>
          </p:cNvPr>
          <p:cNvSpPr/>
          <p:nvPr/>
        </p:nvSpPr>
        <p:spPr>
          <a:xfrm>
            <a:off x="914400" y="2413000"/>
            <a:ext cx="1397000" cy="508000"/>
          </a:xfrm>
          <a:prstGeom prst="rect">
            <a:avLst/>
          </a:prstGeom>
          <a:solidFill>
            <a:srgbClr val="1C1C1C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126725-6F3B-7E28-5EE7-F41A344A54A5}"/>
              </a:ext>
            </a:extLst>
          </p:cNvPr>
          <p:cNvSpPr txBox="1"/>
          <p:nvPr/>
        </p:nvSpPr>
        <p:spPr>
          <a:xfrm>
            <a:off x="1016000" y="2489200"/>
            <a:ext cx="1244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Zone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1DC8EB-1A6A-BD4F-F7EA-9C010ADF78FE}"/>
              </a:ext>
            </a:extLst>
          </p:cNvPr>
          <p:cNvSpPr/>
          <p:nvPr/>
        </p:nvSpPr>
        <p:spPr>
          <a:xfrm>
            <a:off x="2311400" y="2413000"/>
            <a:ext cx="1905000" cy="508000"/>
          </a:xfrm>
          <a:prstGeom prst="rect">
            <a:avLst/>
          </a:prstGeom>
          <a:solidFill>
            <a:srgbClr val="1C1C1C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32F035-259A-3B17-06CD-124AFBFDD10A}"/>
              </a:ext>
            </a:extLst>
          </p:cNvPr>
          <p:cNvSpPr txBox="1"/>
          <p:nvPr/>
        </p:nvSpPr>
        <p:spPr>
          <a:xfrm>
            <a:off x="2413000" y="2489200"/>
            <a:ext cx="1752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onsolas" panose="020B0609020204030204" pitchFamily="49" charset="0"/>
              </a:rPr>
              <a:t>Sensor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2C50FF-8565-CA87-8EFA-92466D901B1E}"/>
              </a:ext>
            </a:extLst>
          </p:cNvPr>
          <p:cNvSpPr/>
          <p:nvPr/>
        </p:nvSpPr>
        <p:spPr>
          <a:xfrm>
            <a:off x="4216400" y="2413000"/>
            <a:ext cx="2159000" cy="508000"/>
          </a:xfrm>
          <a:prstGeom prst="rect">
            <a:avLst/>
          </a:prstGeom>
          <a:solidFill>
            <a:srgbClr val="1C1C1C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FB51BF-930C-9176-E4C2-2ADAC013AD52}"/>
              </a:ext>
            </a:extLst>
          </p:cNvPr>
          <p:cNvSpPr txBox="1"/>
          <p:nvPr/>
        </p:nvSpPr>
        <p:spPr>
          <a:xfrm>
            <a:off x="4318000" y="2489200"/>
            <a:ext cx="2006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onsolas" panose="020B0609020204030204" pitchFamily="49" charset="0"/>
              </a:rPr>
              <a:t>Trigger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716B4F-46C2-6663-E3F2-1DC45AADBB0B}"/>
              </a:ext>
            </a:extLst>
          </p:cNvPr>
          <p:cNvSpPr/>
          <p:nvPr/>
        </p:nvSpPr>
        <p:spPr>
          <a:xfrm>
            <a:off x="6375400" y="2413000"/>
            <a:ext cx="2921000" cy="508000"/>
          </a:xfrm>
          <a:prstGeom prst="rect">
            <a:avLst/>
          </a:prstGeom>
          <a:solidFill>
            <a:srgbClr val="1C1C1C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A8A586-CA1C-895A-DCD0-1444238C32B0}"/>
              </a:ext>
            </a:extLst>
          </p:cNvPr>
          <p:cNvSpPr txBox="1"/>
          <p:nvPr/>
        </p:nvSpPr>
        <p:spPr>
          <a:xfrm>
            <a:off x="6477000" y="2489200"/>
            <a:ext cx="2768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onsolas" panose="020B0609020204030204" pitchFamily="49" charset="0"/>
              </a:rPr>
              <a:t>Actuation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C09F39-0245-9D72-632A-1653247B7A30}"/>
              </a:ext>
            </a:extLst>
          </p:cNvPr>
          <p:cNvSpPr/>
          <p:nvPr/>
        </p:nvSpPr>
        <p:spPr>
          <a:xfrm>
            <a:off x="914400" y="2921000"/>
            <a:ext cx="1397000" cy="5080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1F4123-35A1-1941-12CC-624C933E9966}"/>
              </a:ext>
            </a:extLst>
          </p:cNvPr>
          <p:cNvSpPr txBox="1"/>
          <p:nvPr/>
        </p:nvSpPr>
        <p:spPr>
          <a:xfrm>
            <a:off x="1016000" y="2997200"/>
            <a:ext cx="1244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Segoe UI" panose="020B0502040204020203" pitchFamily="34" charset="0"/>
              </a:rPr>
              <a:t>Room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F97616-0240-1AAB-97F3-E2C664278718}"/>
              </a:ext>
            </a:extLst>
          </p:cNvPr>
          <p:cNvSpPr/>
          <p:nvPr/>
        </p:nvSpPr>
        <p:spPr>
          <a:xfrm>
            <a:off x="2311400" y="2921000"/>
            <a:ext cx="1905000" cy="5080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BE9ED9-E645-66A4-57F8-F52FD9B448DC}"/>
              </a:ext>
            </a:extLst>
          </p:cNvPr>
          <p:cNvSpPr txBox="1"/>
          <p:nvPr/>
        </p:nvSpPr>
        <p:spPr>
          <a:xfrm>
            <a:off x="2413000" y="2997200"/>
            <a:ext cx="1752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MQ-7 (CO)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687421-0762-384F-A432-7DEDF0452566}"/>
              </a:ext>
            </a:extLst>
          </p:cNvPr>
          <p:cNvSpPr/>
          <p:nvPr/>
        </p:nvSpPr>
        <p:spPr>
          <a:xfrm>
            <a:off x="4216400" y="2921000"/>
            <a:ext cx="2159000" cy="5080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79C64D-B96F-CFC7-779A-6E8DFBE7CA63}"/>
              </a:ext>
            </a:extLst>
          </p:cNvPr>
          <p:cNvSpPr txBox="1"/>
          <p:nvPr/>
        </p:nvSpPr>
        <p:spPr>
          <a:xfrm>
            <a:off x="4318000" y="2997200"/>
            <a:ext cx="2006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&gt; 2000 / button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A3F2FF-3A57-2CA4-9B74-29CB60962687}"/>
              </a:ext>
            </a:extLst>
          </p:cNvPr>
          <p:cNvSpPr/>
          <p:nvPr/>
        </p:nvSpPr>
        <p:spPr>
          <a:xfrm>
            <a:off x="6375400" y="2921000"/>
            <a:ext cx="2921000" cy="5080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F3BD1C-F316-EEAD-5C7A-F14B58D39701}"/>
              </a:ext>
            </a:extLst>
          </p:cNvPr>
          <p:cNvSpPr txBox="1"/>
          <p:nvPr/>
        </p:nvSpPr>
        <p:spPr>
          <a:xfrm>
            <a:off x="6477000" y="2997200"/>
            <a:ext cx="2768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valve+door+pump 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F65554-E299-7CF1-A20D-4AAA436369BB}"/>
              </a:ext>
            </a:extLst>
          </p:cNvPr>
          <p:cNvSpPr/>
          <p:nvPr/>
        </p:nvSpPr>
        <p:spPr>
          <a:xfrm>
            <a:off x="914400" y="3429000"/>
            <a:ext cx="1397000" cy="5080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D9E688-C7FC-63F0-E739-7F1D25573A2A}"/>
              </a:ext>
            </a:extLst>
          </p:cNvPr>
          <p:cNvSpPr txBox="1"/>
          <p:nvPr/>
        </p:nvSpPr>
        <p:spPr>
          <a:xfrm>
            <a:off x="1016000" y="3505200"/>
            <a:ext cx="1244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Segoe UI" panose="020B0502040204020203" pitchFamily="34" charset="0"/>
              </a:rPr>
              <a:t>Room 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B288FE-E20E-2B6E-B443-C07DF6634D39}"/>
              </a:ext>
            </a:extLst>
          </p:cNvPr>
          <p:cNvSpPr/>
          <p:nvPr/>
        </p:nvSpPr>
        <p:spPr>
          <a:xfrm>
            <a:off x="2311400" y="3429000"/>
            <a:ext cx="1905000" cy="5080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1846F4-15C9-4807-F5AB-790705CA58D7}"/>
              </a:ext>
            </a:extLst>
          </p:cNvPr>
          <p:cNvSpPr txBox="1"/>
          <p:nvPr/>
        </p:nvSpPr>
        <p:spPr>
          <a:xfrm>
            <a:off x="2413000" y="3505200"/>
            <a:ext cx="1752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MQ-6 (LPG)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E01C1D-5D4D-6D7A-BA4F-5824DF69D178}"/>
              </a:ext>
            </a:extLst>
          </p:cNvPr>
          <p:cNvSpPr/>
          <p:nvPr/>
        </p:nvSpPr>
        <p:spPr>
          <a:xfrm>
            <a:off x="4216400" y="3429000"/>
            <a:ext cx="2159000" cy="5080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0EA0E6-2D9F-5655-284E-89AE8C52D67D}"/>
              </a:ext>
            </a:extLst>
          </p:cNvPr>
          <p:cNvSpPr txBox="1"/>
          <p:nvPr/>
        </p:nvSpPr>
        <p:spPr>
          <a:xfrm>
            <a:off x="4318000" y="3505200"/>
            <a:ext cx="2006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&gt; 2000 / button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2371BC-9835-59C7-0630-AD77A71CA498}"/>
              </a:ext>
            </a:extLst>
          </p:cNvPr>
          <p:cNvSpPr/>
          <p:nvPr/>
        </p:nvSpPr>
        <p:spPr>
          <a:xfrm>
            <a:off x="6375400" y="3429000"/>
            <a:ext cx="2921000" cy="5080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D21B15-08C2-A89E-0447-A9F9B694B10F}"/>
              </a:ext>
            </a:extLst>
          </p:cNvPr>
          <p:cNvSpPr txBox="1"/>
          <p:nvPr/>
        </p:nvSpPr>
        <p:spPr>
          <a:xfrm>
            <a:off x="6477000" y="3505200"/>
            <a:ext cx="2768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door+pump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363FBD-4F07-ED13-4012-AF28E815F022}"/>
              </a:ext>
            </a:extLst>
          </p:cNvPr>
          <p:cNvSpPr/>
          <p:nvPr/>
        </p:nvSpPr>
        <p:spPr>
          <a:xfrm>
            <a:off x="914400" y="3937000"/>
            <a:ext cx="1397000" cy="5080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ABA37B-F366-D9DF-E18C-346544EC2D9D}"/>
              </a:ext>
            </a:extLst>
          </p:cNvPr>
          <p:cNvSpPr txBox="1"/>
          <p:nvPr/>
        </p:nvSpPr>
        <p:spPr>
          <a:xfrm>
            <a:off x="1016000" y="4013200"/>
            <a:ext cx="1244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Segoe UI" panose="020B0502040204020203" pitchFamily="34" charset="0"/>
              </a:rPr>
              <a:t>Room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436CE24-73C2-F150-C893-47490078CA26}"/>
              </a:ext>
            </a:extLst>
          </p:cNvPr>
          <p:cNvSpPr/>
          <p:nvPr/>
        </p:nvSpPr>
        <p:spPr>
          <a:xfrm>
            <a:off x="2311400" y="3937000"/>
            <a:ext cx="1905000" cy="5080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263C10-23FE-8B82-15EE-EEE84D05B246}"/>
              </a:ext>
            </a:extLst>
          </p:cNvPr>
          <p:cNvSpPr txBox="1"/>
          <p:nvPr/>
        </p:nvSpPr>
        <p:spPr>
          <a:xfrm>
            <a:off x="2413000" y="4013200"/>
            <a:ext cx="1752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MQ-5 (CH4)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B82B36-6F2D-93C0-9D6C-1F44EFEF143C}"/>
              </a:ext>
            </a:extLst>
          </p:cNvPr>
          <p:cNvSpPr/>
          <p:nvPr/>
        </p:nvSpPr>
        <p:spPr>
          <a:xfrm>
            <a:off x="4216400" y="3937000"/>
            <a:ext cx="2159000" cy="5080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3868F6-670F-7856-FFC6-B6AB823420F3}"/>
              </a:ext>
            </a:extLst>
          </p:cNvPr>
          <p:cNvSpPr txBox="1"/>
          <p:nvPr/>
        </p:nvSpPr>
        <p:spPr>
          <a:xfrm>
            <a:off x="4318000" y="4013200"/>
            <a:ext cx="2006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&gt; 2000 / button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959EDB-0D12-F643-724E-C2B91C194610}"/>
              </a:ext>
            </a:extLst>
          </p:cNvPr>
          <p:cNvSpPr/>
          <p:nvPr/>
        </p:nvSpPr>
        <p:spPr>
          <a:xfrm>
            <a:off x="6375400" y="3937000"/>
            <a:ext cx="2921000" cy="5080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9F50C1-4353-5634-3DDC-BE7D4677ED24}"/>
              </a:ext>
            </a:extLst>
          </p:cNvPr>
          <p:cNvSpPr txBox="1"/>
          <p:nvPr/>
        </p:nvSpPr>
        <p:spPr>
          <a:xfrm>
            <a:off x="6477000" y="4013200"/>
            <a:ext cx="2768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door+window+pump 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53847E0-0F84-FEB0-1079-588D74D457AA}"/>
              </a:ext>
            </a:extLst>
          </p:cNvPr>
          <p:cNvSpPr/>
          <p:nvPr/>
        </p:nvSpPr>
        <p:spPr>
          <a:xfrm>
            <a:off x="914400" y="4445000"/>
            <a:ext cx="1397000" cy="5080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B4ADFA-E062-57E8-F776-FC9E0B92A345}"/>
              </a:ext>
            </a:extLst>
          </p:cNvPr>
          <p:cNvSpPr txBox="1"/>
          <p:nvPr/>
        </p:nvSpPr>
        <p:spPr>
          <a:xfrm>
            <a:off x="1016000" y="4521200"/>
            <a:ext cx="1244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Segoe UI" panose="020B0502040204020203" pitchFamily="34" charset="0"/>
              </a:rPr>
              <a:t>Room 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2C2CC06-AD14-DEFA-50C3-A9D448CF7D73}"/>
              </a:ext>
            </a:extLst>
          </p:cNvPr>
          <p:cNvSpPr/>
          <p:nvPr/>
        </p:nvSpPr>
        <p:spPr>
          <a:xfrm>
            <a:off x="2311400" y="4445000"/>
            <a:ext cx="1905000" cy="5080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E40C6B-E5F7-7FBF-02C6-FE94A07DF438}"/>
              </a:ext>
            </a:extLst>
          </p:cNvPr>
          <p:cNvSpPr txBox="1"/>
          <p:nvPr/>
        </p:nvSpPr>
        <p:spPr>
          <a:xfrm>
            <a:off x="2413000" y="4521200"/>
            <a:ext cx="1752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MQ-2 (smoke)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30CBB4A-012E-9231-4C70-5871A6869890}"/>
              </a:ext>
            </a:extLst>
          </p:cNvPr>
          <p:cNvSpPr/>
          <p:nvPr/>
        </p:nvSpPr>
        <p:spPr>
          <a:xfrm>
            <a:off x="4216400" y="4445000"/>
            <a:ext cx="2159000" cy="5080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0668F7-1DE3-25DE-7F13-01A3B66FA632}"/>
              </a:ext>
            </a:extLst>
          </p:cNvPr>
          <p:cNvSpPr txBox="1"/>
          <p:nvPr/>
        </p:nvSpPr>
        <p:spPr>
          <a:xfrm>
            <a:off x="4318000" y="4521200"/>
            <a:ext cx="2006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&gt; 2000 / button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E2A8450-C005-81E0-EB1D-C46DC11575AB}"/>
              </a:ext>
            </a:extLst>
          </p:cNvPr>
          <p:cNvSpPr/>
          <p:nvPr/>
        </p:nvSpPr>
        <p:spPr>
          <a:xfrm>
            <a:off x="6375400" y="4445000"/>
            <a:ext cx="2921000" cy="5080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A721B8C-34A2-EC39-33D6-285AC5F23A69}"/>
              </a:ext>
            </a:extLst>
          </p:cNvPr>
          <p:cNvSpPr txBox="1"/>
          <p:nvPr/>
        </p:nvSpPr>
        <p:spPr>
          <a:xfrm>
            <a:off x="6477000" y="4521200"/>
            <a:ext cx="27686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door+window+pump 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17152B-D218-EDAA-F525-446C13B0A8CF}"/>
              </a:ext>
            </a:extLst>
          </p:cNvPr>
          <p:cNvSpPr txBox="1"/>
          <p:nvPr/>
        </p:nvSpPr>
        <p:spPr>
          <a:xfrm>
            <a:off x="9118600" y="4241800"/>
            <a:ext cx="2159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 b="1">
                <a:solidFill>
                  <a:srgbClr val="0288D1"/>
                </a:solidFill>
                <a:latin typeface="Segoe UI" panose="020B0502040204020203" pitchFamily="34" charset="0"/>
              </a:rPr>
              <a:t>cross-zone isolation ✓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796D6F1-11C0-BEB2-E4E5-4E7898E06FD3}"/>
              </a:ext>
            </a:extLst>
          </p:cNvPr>
          <p:cNvSpPr/>
          <p:nvPr/>
        </p:nvSpPr>
        <p:spPr>
          <a:xfrm>
            <a:off x="9118600" y="4572000"/>
            <a:ext cx="1016000" cy="635000"/>
          </a:xfrm>
          <a:prstGeom prst="rect">
            <a:avLst/>
          </a:prstGeom>
          <a:solidFill>
            <a:srgbClr val="D32F2F"/>
          </a:solidFill>
          <a:ln w="6350">
            <a:solidFill>
              <a:srgbClr val="606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74B5BC-4624-837E-A974-DAD311BFC0E3}"/>
              </a:ext>
            </a:extLst>
          </p:cNvPr>
          <p:cNvSpPr txBox="1"/>
          <p:nvPr/>
        </p:nvSpPr>
        <p:spPr>
          <a:xfrm>
            <a:off x="9118600" y="4749800"/>
            <a:ext cx="1016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pitchFamily="34" charset="0"/>
              </a:rPr>
              <a:t>R1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71404F9-5F8E-059D-5957-2E02E61EE000}"/>
              </a:ext>
            </a:extLst>
          </p:cNvPr>
          <p:cNvSpPr/>
          <p:nvPr/>
        </p:nvSpPr>
        <p:spPr>
          <a:xfrm>
            <a:off x="10210800" y="4572000"/>
            <a:ext cx="1016000" cy="635000"/>
          </a:xfrm>
          <a:prstGeom prst="rect">
            <a:avLst/>
          </a:prstGeom>
          <a:solidFill>
            <a:srgbClr val="EDEDED"/>
          </a:solidFill>
          <a:ln w="6350">
            <a:solidFill>
              <a:srgbClr val="606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8944D2F-C3D3-3200-63DF-F200DDCE3952}"/>
              </a:ext>
            </a:extLst>
          </p:cNvPr>
          <p:cNvSpPr txBox="1"/>
          <p:nvPr/>
        </p:nvSpPr>
        <p:spPr>
          <a:xfrm>
            <a:off x="10210800" y="4749800"/>
            <a:ext cx="1016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400" b="1">
                <a:solidFill>
                  <a:srgbClr val="1C1C1C"/>
                </a:solidFill>
                <a:latin typeface="Segoe UI" panose="020B0502040204020203" pitchFamily="34" charset="0"/>
              </a:rPr>
              <a:t>R2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D14EB9C-DCE4-3989-80C6-DAF86A5EDC4C}"/>
              </a:ext>
            </a:extLst>
          </p:cNvPr>
          <p:cNvSpPr/>
          <p:nvPr/>
        </p:nvSpPr>
        <p:spPr>
          <a:xfrm>
            <a:off x="9118600" y="5283200"/>
            <a:ext cx="1016000" cy="635000"/>
          </a:xfrm>
          <a:prstGeom prst="rect">
            <a:avLst/>
          </a:prstGeom>
          <a:solidFill>
            <a:srgbClr val="EDEDED"/>
          </a:solidFill>
          <a:ln w="6350">
            <a:solidFill>
              <a:srgbClr val="606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CC84BB7-1292-E712-5C9C-5E26ECB0344B}"/>
              </a:ext>
            </a:extLst>
          </p:cNvPr>
          <p:cNvSpPr txBox="1"/>
          <p:nvPr/>
        </p:nvSpPr>
        <p:spPr>
          <a:xfrm>
            <a:off x="9118600" y="5461000"/>
            <a:ext cx="1016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400" b="1">
                <a:solidFill>
                  <a:srgbClr val="1C1C1C"/>
                </a:solidFill>
                <a:latin typeface="Segoe UI" panose="020B0502040204020203" pitchFamily="34" charset="0"/>
              </a:rPr>
              <a:t>R3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9EF424F-2773-876A-B1A1-9B9A1FCC9FA1}"/>
              </a:ext>
            </a:extLst>
          </p:cNvPr>
          <p:cNvSpPr/>
          <p:nvPr/>
        </p:nvSpPr>
        <p:spPr>
          <a:xfrm>
            <a:off x="10210800" y="5283200"/>
            <a:ext cx="1016000" cy="635000"/>
          </a:xfrm>
          <a:prstGeom prst="rect">
            <a:avLst/>
          </a:prstGeom>
          <a:solidFill>
            <a:srgbClr val="EDEDED"/>
          </a:solidFill>
          <a:ln w="6350">
            <a:solidFill>
              <a:srgbClr val="606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53EC9F-06E6-A912-C06A-36AD5B0FAD37}"/>
              </a:ext>
            </a:extLst>
          </p:cNvPr>
          <p:cNvSpPr txBox="1"/>
          <p:nvPr/>
        </p:nvSpPr>
        <p:spPr>
          <a:xfrm>
            <a:off x="10210800" y="5461000"/>
            <a:ext cx="1016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400" b="1">
                <a:solidFill>
                  <a:srgbClr val="1C1C1C"/>
                </a:solidFill>
                <a:latin typeface="Segoe UI" panose="020B0502040204020203" pitchFamily="34" charset="0"/>
              </a:rPr>
              <a:t>R4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662549-9314-08FE-FBA6-8D30EFB67C30}"/>
              </a:ext>
            </a:extLst>
          </p:cNvPr>
          <p:cNvSpPr txBox="1"/>
          <p:nvPr/>
        </p:nvSpPr>
        <p:spPr>
          <a:xfrm>
            <a:off x="914400" y="5969000"/>
            <a:ext cx="711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>
                <a:solidFill>
                  <a:srgbClr val="606060"/>
                </a:solidFill>
                <a:latin typeface="Segoe UI" panose="020B0502040204020203" pitchFamily="34" charset="0"/>
              </a:rPr>
              <a:t>Water hysteresis (cut &lt; 10% / resume ≥ 20%) confirmed under live pump load.</a:t>
            </a:r>
          </a:p>
        </p:txBody>
      </p:sp>
    </p:spTree>
    <p:extLst>
      <p:ext uri="{BB962C8B-B14F-4D97-AF65-F5344CB8AC3E}">
        <p14:creationId xmlns:p14="http://schemas.microsoft.com/office/powerpoint/2010/main" val="3548433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wipe/>
      </p:transition>
    </mc:Choice>
    <mc:Fallback>
      <p:transition spd="med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9999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900" fill="hold"/>
                                        <p:tgtEl>
                                          <p:spTgt spid="4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5B71EE-00AD-6FC6-33E3-29E9782DA859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F57C00"/>
                </a:solidFill>
                <a:latin typeface="Segoe UI" panose="020B0502040204020203" pitchFamily="34" charset="0"/>
              </a:rPr>
              <a:t>CONTRIBUTIONS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EB280B-D7EE-EA17-F121-277970373EF9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300" b="1">
                <a:solidFill>
                  <a:srgbClr val="1C1C1C"/>
                </a:solidFill>
                <a:latin typeface="Segoe UI" panose="020B0502040204020203" pitchFamily="34" charset="0"/>
              </a:rPr>
              <a:t>A modular, real-time, multi-agent fire platform.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40C5591-5F4C-73A1-D15F-35E5874976AA}"/>
              </a:ext>
            </a:extLst>
          </p:cNvPr>
          <p:cNvSpPr/>
          <p:nvPr/>
        </p:nvSpPr>
        <p:spPr>
          <a:xfrm>
            <a:off x="914400" y="2540000"/>
            <a:ext cx="4572000" cy="13970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EDC5A9-23A0-3CC8-B726-F9EBB963115F}"/>
              </a:ext>
            </a:extLst>
          </p:cNvPr>
          <p:cNvSpPr/>
          <p:nvPr/>
        </p:nvSpPr>
        <p:spPr>
          <a:xfrm>
            <a:off x="914400" y="2540000"/>
            <a:ext cx="101600" cy="1397000"/>
          </a:xfrm>
          <a:prstGeom prst="rect">
            <a:avLst/>
          </a:prstGeom>
          <a:solidFill>
            <a:srgbClr val="0288D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7DB5CB-62D7-5117-57B1-49B839C26DF6}"/>
              </a:ext>
            </a:extLst>
          </p:cNvPr>
          <p:cNvSpPr txBox="1"/>
          <p:nvPr/>
        </p:nvSpPr>
        <p:spPr>
          <a:xfrm>
            <a:off x="1193800" y="2692400"/>
            <a:ext cx="41148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600" b="1">
                <a:solidFill>
                  <a:srgbClr val="0288D1"/>
                </a:solidFill>
                <a:latin typeface="Segoe UI" panose="020B0502040204020203" pitchFamily="34" charset="0"/>
              </a:rPr>
              <a:t>Architectural modularity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F0578-162E-C436-A269-1037DCFB25E1}"/>
              </a:ext>
            </a:extLst>
          </p:cNvPr>
          <p:cNvSpPr txBox="1"/>
          <p:nvPr/>
        </p:nvSpPr>
        <p:spPr>
          <a:xfrm>
            <a:off x="1193800" y="3073400"/>
            <a:ext cx="41148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>
                <a:solidFill>
                  <a:srgbClr val="1C1C1C"/>
                </a:solidFill>
                <a:latin typeface="Segoe UI" panose="020B0502040204020203" pitchFamily="34" charset="0"/>
              </a:rPr>
              <a:t>Decoupled edge / perception tiers over MQTT — each independently restartable.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E0F916-5D78-B87A-FA67-E8F72A77DDE7}"/>
              </a:ext>
            </a:extLst>
          </p:cNvPr>
          <p:cNvSpPr/>
          <p:nvPr/>
        </p:nvSpPr>
        <p:spPr>
          <a:xfrm>
            <a:off x="5943600" y="2540000"/>
            <a:ext cx="4572000" cy="13970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4711CE-5C31-79DE-A92F-674E54B5C2C7}"/>
              </a:ext>
            </a:extLst>
          </p:cNvPr>
          <p:cNvSpPr/>
          <p:nvPr/>
        </p:nvSpPr>
        <p:spPr>
          <a:xfrm>
            <a:off x="5943600" y="2540000"/>
            <a:ext cx="101600" cy="1397000"/>
          </a:xfrm>
          <a:prstGeom prst="rect">
            <a:avLst/>
          </a:prstGeom>
          <a:solidFill>
            <a:srgbClr val="F57C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64F1CF-284F-6CAE-BFEF-39A5A5168699}"/>
              </a:ext>
            </a:extLst>
          </p:cNvPr>
          <p:cNvSpPr txBox="1"/>
          <p:nvPr/>
        </p:nvSpPr>
        <p:spPr>
          <a:xfrm>
            <a:off x="6223000" y="2692400"/>
            <a:ext cx="41148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600" b="1">
                <a:solidFill>
                  <a:srgbClr val="F57C00"/>
                </a:solidFill>
                <a:latin typeface="Segoe UI" panose="020B0502040204020203" pitchFamily="34" charset="0"/>
              </a:rPr>
              <a:t>Real-time multi-agent sync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47AA83-DC72-5DC7-86D1-62C16165FFCF}"/>
              </a:ext>
            </a:extLst>
          </p:cNvPr>
          <p:cNvSpPr txBox="1"/>
          <p:nvPr/>
        </p:nvSpPr>
        <p:spPr>
          <a:xfrm>
            <a:off x="6223000" y="3073400"/>
            <a:ext cx="41148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>
                <a:solidFill>
                  <a:srgbClr val="1C1C1C"/>
                </a:solidFill>
                <a:latin typeface="Segoe UI" panose="020B0502040204020203" pitchFamily="34" charset="0"/>
              </a:rPr>
              <a:t>Deterministic ESP32 + probabilistic AI fused without blocking the control loop.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161BD0-B7B6-F7E0-3FE9-64FC1E714D7D}"/>
              </a:ext>
            </a:extLst>
          </p:cNvPr>
          <p:cNvSpPr/>
          <p:nvPr/>
        </p:nvSpPr>
        <p:spPr>
          <a:xfrm>
            <a:off x="914400" y="4241800"/>
            <a:ext cx="4572000" cy="13970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2AD62D-65F0-1CF9-FB4A-A6728D414CA9}"/>
              </a:ext>
            </a:extLst>
          </p:cNvPr>
          <p:cNvSpPr/>
          <p:nvPr/>
        </p:nvSpPr>
        <p:spPr>
          <a:xfrm>
            <a:off x="914400" y="4241800"/>
            <a:ext cx="101600" cy="1397000"/>
          </a:xfrm>
          <a:prstGeom prst="rect">
            <a:avLst/>
          </a:prstGeom>
          <a:solidFill>
            <a:srgbClr val="D3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92D231-0835-253B-79C2-CF2863DC3D03}"/>
              </a:ext>
            </a:extLst>
          </p:cNvPr>
          <p:cNvSpPr txBox="1"/>
          <p:nvPr/>
        </p:nvSpPr>
        <p:spPr>
          <a:xfrm>
            <a:off x="1193800" y="4394200"/>
            <a:ext cx="41148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600" b="1">
                <a:solidFill>
                  <a:srgbClr val="D32F2F"/>
                </a:solidFill>
                <a:latin typeface="Segoe UI" panose="020B0502040204020203" pitchFamily="34" charset="0"/>
              </a:rPr>
              <a:t>Fail-operational autonomy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D86052-F76E-F352-5CD5-42D9EE533C80}"/>
              </a:ext>
            </a:extLst>
          </p:cNvPr>
          <p:cNvSpPr txBox="1"/>
          <p:nvPr/>
        </p:nvSpPr>
        <p:spPr>
          <a:xfrm>
            <a:off x="1193800" y="4775200"/>
            <a:ext cx="41148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>
                <a:solidFill>
                  <a:srgbClr val="1C1C1C"/>
                </a:solidFill>
                <a:latin typeface="Segoe UI" panose="020B0502040204020203" pitchFamily="34" charset="0"/>
              </a:rPr>
              <a:t>Room-level detection and suppression independent of network and vision.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FA6DE8A-7F19-8D82-9D22-FB39982F917F}"/>
              </a:ext>
            </a:extLst>
          </p:cNvPr>
          <p:cNvSpPr/>
          <p:nvPr/>
        </p:nvSpPr>
        <p:spPr>
          <a:xfrm>
            <a:off x="5943600" y="4241800"/>
            <a:ext cx="4572000" cy="13970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9FC8B0-56A4-B51D-6338-399D72635F93}"/>
              </a:ext>
            </a:extLst>
          </p:cNvPr>
          <p:cNvSpPr/>
          <p:nvPr/>
        </p:nvSpPr>
        <p:spPr>
          <a:xfrm>
            <a:off x="5943600" y="4241800"/>
            <a:ext cx="101600" cy="1397000"/>
          </a:xfrm>
          <a:prstGeom prst="rect">
            <a:avLst/>
          </a:prstGeom>
          <a:solidFill>
            <a:srgbClr val="1C1C1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5B466A-B739-9EB5-6DE4-D8C85E56455E}"/>
              </a:ext>
            </a:extLst>
          </p:cNvPr>
          <p:cNvSpPr txBox="1"/>
          <p:nvPr/>
        </p:nvSpPr>
        <p:spPr>
          <a:xfrm>
            <a:off x="6223000" y="4394200"/>
            <a:ext cx="41148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600" b="1">
                <a:solidFill>
                  <a:srgbClr val="1C1C1C"/>
                </a:solidFill>
                <a:latin typeface="Segoe UI" panose="020B0502040204020203" pitchFamily="34" charset="0"/>
              </a:rPr>
              <a:t>Dissemination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04D3E2-94AE-9690-5D59-69DF1FB7FC2A}"/>
              </a:ext>
            </a:extLst>
          </p:cNvPr>
          <p:cNvSpPr txBox="1"/>
          <p:nvPr/>
        </p:nvSpPr>
        <p:spPr>
          <a:xfrm>
            <a:off x="6223000" y="4775200"/>
            <a:ext cx="41148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200">
                <a:solidFill>
                  <a:srgbClr val="1C1C1C"/>
                </a:solidFill>
                <a:latin typeface="Segoe UI" panose="020B0502040204020203" pitchFamily="34" charset="0"/>
              </a:rPr>
              <a:t>Paper-submission framework targeting IJADT.</a:t>
            </a:r>
          </a:p>
        </p:txBody>
      </p:sp>
    </p:spTree>
    <p:extLst>
      <p:ext uri="{BB962C8B-B14F-4D97-AF65-F5344CB8AC3E}">
        <p14:creationId xmlns:p14="http://schemas.microsoft.com/office/powerpoint/2010/main" val="3414967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6" presetClass="emph" presetSubtype="0" repeatCount="9999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900" fill="hold"/>
                                        <p:tgtEl>
                                          <p:spTgt spid="1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2" grpId="0" animBg="1"/>
      <p:bldP spid="16" grpId="0" animBg="1"/>
      <p:bldP spid="16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5CE1E4-EAF9-2887-5118-6178456C8F61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606060"/>
                </a:solidFill>
                <a:latin typeface="Segoe UI" panose="020B0502040204020203" pitchFamily="34" charset="0"/>
              </a:rPr>
              <a:t>CONSTRAINTS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FDDCC6-12A9-FAAA-58A2-6124D09AD913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300" b="1">
                <a:solidFill>
                  <a:srgbClr val="1C1C1C"/>
                </a:solidFill>
                <a:latin typeface="Segoe UI" panose="020B0502040204020203" pitchFamily="34" charset="0"/>
              </a:rPr>
              <a:t>Honest constraints: where the current design stops.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A2FD59-9BAA-AD74-7972-2A468C70F4E8}"/>
              </a:ext>
            </a:extLst>
          </p:cNvPr>
          <p:cNvCxnSpPr/>
          <p:nvPr/>
        </p:nvCxnSpPr>
        <p:spPr>
          <a:xfrm>
            <a:off x="914400" y="2971800"/>
            <a:ext cx="7620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40E0B8A-CF22-1234-323A-C237464CAA0C}"/>
              </a:ext>
            </a:extLst>
          </p:cNvPr>
          <p:cNvSpPr txBox="1"/>
          <p:nvPr/>
        </p:nvSpPr>
        <p:spPr>
          <a:xfrm>
            <a:off x="1143000" y="2667000"/>
            <a:ext cx="965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600" b="1">
                <a:solidFill>
                  <a:srgbClr val="1C1C1C"/>
                </a:solidFill>
                <a:latin typeface="Segoe UI" panose="020B0502040204020203" pitchFamily="34" charset="0"/>
              </a:rPr>
              <a:t>Edge-compute thermal throttling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9AA175-BA23-E478-396B-E7DFC2655F8B}"/>
              </a:ext>
            </a:extLst>
          </p:cNvPr>
          <p:cNvSpPr txBox="1"/>
          <p:nvPr/>
        </p:nvSpPr>
        <p:spPr>
          <a:xfrm>
            <a:off x="1143000" y="2997200"/>
            <a:ext cx="9906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606060"/>
                </a:solidFill>
                <a:latin typeface="Segoe UI" panose="020B0502040204020203" pitchFamily="34" charset="0"/>
              </a:rPr>
              <a:t>sustained GPU inference bounds the RTX 3050 clock under load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46EC88-8A20-FB99-4920-A011068EB329}"/>
              </a:ext>
            </a:extLst>
          </p:cNvPr>
          <p:cNvCxnSpPr/>
          <p:nvPr/>
        </p:nvCxnSpPr>
        <p:spPr>
          <a:xfrm>
            <a:off x="914400" y="3810000"/>
            <a:ext cx="7620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D62323E-B989-53FA-6ECC-8F4830A7A2D7}"/>
              </a:ext>
            </a:extLst>
          </p:cNvPr>
          <p:cNvSpPr txBox="1"/>
          <p:nvPr/>
        </p:nvSpPr>
        <p:spPr>
          <a:xfrm>
            <a:off x="1143000" y="3505200"/>
            <a:ext cx="965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600" b="1">
                <a:solidFill>
                  <a:srgbClr val="1C1C1C"/>
                </a:solidFill>
                <a:latin typeface="Segoe UI" panose="020B0502040204020203" pitchFamily="34" charset="0"/>
              </a:rPr>
              <a:t>Static camera FOV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EA65C0-026B-8D8E-D157-E5952B2C0753}"/>
              </a:ext>
            </a:extLst>
          </p:cNvPr>
          <p:cNvSpPr txBox="1"/>
          <p:nvPr/>
        </p:nvSpPr>
        <p:spPr>
          <a:xfrm>
            <a:off x="1143000" y="3835400"/>
            <a:ext cx="9906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606060"/>
                </a:solidFill>
                <a:latin typeface="Segoe UI" panose="020B0502040204020203" pitchFamily="34" charset="0"/>
              </a:rPr>
              <a:t>single fixed view; out-of-frame ignition relies on the independent sensor path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6C6D54-3608-1341-5051-94BBF1D6FB9E}"/>
              </a:ext>
            </a:extLst>
          </p:cNvPr>
          <p:cNvCxnSpPr/>
          <p:nvPr/>
        </p:nvCxnSpPr>
        <p:spPr>
          <a:xfrm>
            <a:off x="914400" y="4648200"/>
            <a:ext cx="7620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56B3978-48D3-4FA4-8625-FAEA2FBB71A5}"/>
              </a:ext>
            </a:extLst>
          </p:cNvPr>
          <p:cNvSpPr txBox="1"/>
          <p:nvPr/>
        </p:nvSpPr>
        <p:spPr>
          <a:xfrm>
            <a:off x="1143000" y="4343400"/>
            <a:ext cx="965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600" b="1">
                <a:solidFill>
                  <a:srgbClr val="1C1C1C"/>
                </a:solidFill>
                <a:latin typeface="Segoe UI" panose="020B0502040204020203" pitchFamily="34" charset="0"/>
              </a:rPr>
              <a:t>Remote-alert network dependency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82E12D-3427-8E54-2509-4296698D37CA}"/>
              </a:ext>
            </a:extLst>
          </p:cNvPr>
          <p:cNvSpPr txBox="1"/>
          <p:nvPr/>
        </p:nvSpPr>
        <p:spPr>
          <a:xfrm>
            <a:off x="1143000" y="4673600"/>
            <a:ext cx="9906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606060"/>
                </a:solidFill>
                <a:latin typeface="Segoe UI" panose="020B0502040204020203" pitchFamily="34" charset="0"/>
              </a:rPr>
              <a:t>Telegram delivery needs IP connectivity — suppression does not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622C7A-2210-55C0-C616-D672CF4F07FA}"/>
              </a:ext>
            </a:extLst>
          </p:cNvPr>
          <p:cNvCxnSpPr/>
          <p:nvPr/>
        </p:nvCxnSpPr>
        <p:spPr>
          <a:xfrm>
            <a:off x="914400" y="5486400"/>
            <a:ext cx="76200" cy="0"/>
          </a:xfrm>
          <a:prstGeom prst="line">
            <a:avLst/>
          </a:prstGeom>
          <a:ln w="38100">
            <a:solidFill>
              <a:srgbClr val="F57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EC26E13-6DF0-59FF-8B47-54541338CBBA}"/>
              </a:ext>
            </a:extLst>
          </p:cNvPr>
          <p:cNvSpPr txBox="1"/>
          <p:nvPr/>
        </p:nvSpPr>
        <p:spPr>
          <a:xfrm>
            <a:off x="1143000" y="5181600"/>
            <a:ext cx="9652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600" b="1">
                <a:solidFill>
                  <a:srgbClr val="1C1C1C"/>
                </a:solidFill>
                <a:latin typeface="Segoe UI" panose="020B0502040204020203" pitchFamily="34" charset="0"/>
              </a:rPr>
              <a:t>Scope bounds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652AF1-D300-ADDC-6712-2676F0207429}"/>
              </a:ext>
            </a:extLst>
          </p:cNvPr>
          <p:cNvSpPr txBox="1"/>
          <p:nvPr/>
        </p:nvSpPr>
        <p:spPr>
          <a:xfrm>
            <a:off x="1143000" y="5511800"/>
            <a:ext cx="9906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606060"/>
                </a:solidFill>
                <a:latin typeface="Segoe UI" panose="020B0502040204020203" pitchFamily="34" charset="0"/>
              </a:rPr>
              <a:t>occupancy is a count, not an identity; thresholds are ADC-domain, not ppm-calibrated</a:t>
            </a:r>
          </a:p>
        </p:txBody>
      </p:sp>
    </p:spTree>
    <p:extLst>
      <p:ext uri="{BB962C8B-B14F-4D97-AF65-F5344CB8AC3E}">
        <p14:creationId xmlns:p14="http://schemas.microsoft.com/office/powerpoint/2010/main" val="3209371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CA6385-366A-0293-28BF-B4E0A1F04B0A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0288D1"/>
                </a:solidFill>
                <a:latin typeface="Segoe UI" panose="020B0502040204020203" pitchFamily="34" charset="0"/>
              </a:rPr>
              <a:t>FUTURE 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70D7A2-0E7E-4590-472D-D509B13250DA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400" b="1">
                <a:solidFill>
                  <a:srgbClr val="1C1C1C"/>
                </a:solidFill>
                <a:latin typeface="Segoe UI" panose="020B0502040204020203" pitchFamily="34" charset="0"/>
              </a:rPr>
              <a:t>From roadmap to active development.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A2B0E2-272D-3AB9-DEF8-BE298A6294E7}"/>
              </a:ext>
            </a:extLst>
          </p:cNvPr>
          <p:cNvSpPr/>
          <p:nvPr/>
        </p:nvSpPr>
        <p:spPr>
          <a:xfrm>
            <a:off x="914400" y="2667000"/>
            <a:ext cx="3175000" cy="812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20D6BF-EDE8-98B8-1FC7-5E76C21D53EF}"/>
              </a:ext>
            </a:extLst>
          </p:cNvPr>
          <p:cNvSpPr txBox="1"/>
          <p:nvPr/>
        </p:nvSpPr>
        <p:spPr>
          <a:xfrm>
            <a:off x="914400" y="2794000"/>
            <a:ext cx="3175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606060"/>
                </a:solidFill>
                <a:latin typeface="Segoe UI" panose="020B0502040204020203" pitchFamily="34" charset="0"/>
              </a:rPr>
              <a:t>ROADMAP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0E7233-5635-38F2-5862-1243B0988B05}"/>
              </a:ext>
            </a:extLst>
          </p:cNvPr>
          <p:cNvSpPr txBox="1"/>
          <p:nvPr/>
        </p:nvSpPr>
        <p:spPr>
          <a:xfrm>
            <a:off x="914400" y="3098800"/>
            <a:ext cx="3175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606060"/>
                </a:solidFill>
                <a:latin typeface="Segoe UI" panose="020B0502040204020203" pitchFamily="34" charset="0"/>
              </a:rPr>
              <a:t>Face-Identity tier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26F49C1-E987-5CF2-AD3B-F93D18A41CDF}"/>
              </a:ext>
            </a:extLst>
          </p:cNvPr>
          <p:cNvSpPr/>
          <p:nvPr/>
        </p:nvSpPr>
        <p:spPr>
          <a:xfrm>
            <a:off x="4241800" y="2971800"/>
            <a:ext cx="635000" cy="228600"/>
          </a:xfrm>
          <a:prstGeom prst="rightArrow">
            <a:avLst/>
          </a:prstGeom>
          <a:solidFill>
            <a:srgbClr val="0288D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457470-49DB-7015-4EB5-43683979302F}"/>
              </a:ext>
            </a:extLst>
          </p:cNvPr>
          <p:cNvSpPr/>
          <p:nvPr/>
        </p:nvSpPr>
        <p:spPr>
          <a:xfrm>
            <a:off x="5105400" y="2667000"/>
            <a:ext cx="4191000" cy="8128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0288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78ADAA-75B9-2E5B-FFBF-C39F0A06DFB3}"/>
              </a:ext>
            </a:extLst>
          </p:cNvPr>
          <p:cNvSpPr txBox="1"/>
          <p:nvPr/>
        </p:nvSpPr>
        <p:spPr>
          <a:xfrm>
            <a:off x="5308600" y="2794000"/>
            <a:ext cx="381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 b="1">
                <a:solidFill>
                  <a:srgbClr val="0288D1"/>
                </a:solidFill>
                <a:latin typeface="Segoe UI" panose="020B0502040204020203" pitchFamily="34" charset="0"/>
              </a:rPr>
              <a:t>ACTIVE DEVELOPMENT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373B3A-6F7C-E670-3826-F5DB83D0C740}"/>
              </a:ext>
            </a:extLst>
          </p:cNvPr>
          <p:cNvSpPr txBox="1"/>
          <p:nvPr/>
        </p:nvSpPr>
        <p:spPr>
          <a:xfrm>
            <a:off x="5308600" y="3098800"/>
            <a:ext cx="381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Segoe UI" panose="020B0502040204020203" pitchFamily="34" charset="0"/>
              </a:rPr>
              <a:t>named priority-rescue alerts (privacy + compute design)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8BE7701-72C7-A9FA-3218-3E482B14F0FE}"/>
              </a:ext>
            </a:extLst>
          </p:cNvPr>
          <p:cNvSpPr/>
          <p:nvPr/>
        </p:nvSpPr>
        <p:spPr>
          <a:xfrm>
            <a:off x="914400" y="3759200"/>
            <a:ext cx="3175000" cy="812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6969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C7417C-24FD-D182-21CC-DF9910514663}"/>
              </a:ext>
            </a:extLst>
          </p:cNvPr>
          <p:cNvSpPr txBox="1"/>
          <p:nvPr/>
        </p:nvSpPr>
        <p:spPr>
          <a:xfrm>
            <a:off x="914400" y="3886200"/>
            <a:ext cx="3175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606060"/>
                </a:solidFill>
                <a:latin typeface="Segoe UI" panose="020B0502040204020203" pitchFamily="34" charset="0"/>
              </a:rPr>
              <a:t>ROADMAP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8F9D4C-2388-8FD9-8CD2-49E985B2154E}"/>
              </a:ext>
            </a:extLst>
          </p:cNvPr>
          <p:cNvSpPr txBox="1"/>
          <p:nvPr/>
        </p:nvSpPr>
        <p:spPr>
          <a:xfrm>
            <a:off x="914400" y="4191000"/>
            <a:ext cx="3175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606060"/>
                </a:solidFill>
                <a:latin typeface="Segoe UI" panose="020B0502040204020203" pitchFamily="34" charset="0"/>
              </a:rPr>
              <a:t>Occupancy-modulated suppression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2C577CC-4FD9-E2B6-93C2-CAA155B5270B}"/>
              </a:ext>
            </a:extLst>
          </p:cNvPr>
          <p:cNvSpPr/>
          <p:nvPr/>
        </p:nvSpPr>
        <p:spPr>
          <a:xfrm>
            <a:off x="4241800" y="4064000"/>
            <a:ext cx="635000" cy="228600"/>
          </a:xfrm>
          <a:prstGeom prst="rightArrow">
            <a:avLst/>
          </a:prstGeom>
          <a:solidFill>
            <a:srgbClr val="0288D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5283B36-0EB5-AD9A-9D12-958872364C3A}"/>
              </a:ext>
            </a:extLst>
          </p:cNvPr>
          <p:cNvSpPr/>
          <p:nvPr/>
        </p:nvSpPr>
        <p:spPr>
          <a:xfrm>
            <a:off x="5105400" y="3759200"/>
            <a:ext cx="4191000" cy="812800"/>
          </a:xfrm>
          <a:prstGeom prst="roundRect">
            <a:avLst/>
          </a:prstGeom>
          <a:solidFill>
            <a:srgbClr val="EDEDED"/>
          </a:solidFill>
          <a:ln w="25400">
            <a:solidFill>
              <a:srgbClr val="0288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D68394-7F4B-2AD7-A33C-3D2B5D38998A}"/>
              </a:ext>
            </a:extLst>
          </p:cNvPr>
          <p:cNvSpPr txBox="1"/>
          <p:nvPr/>
        </p:nvSpPr>
        <p:spPr>
          <a:xfrm>
            <a:off x="5308600" y="3886200"/>
            <a:ext cx="381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 b="1">
                <a:solidFill>
                  <a:srgbClr val="0288D1"/>
                </a:solidFill>
                <a:latin typeface="Segoe UI" panose="020B0502040204020203" pitchFamily="34" charset="0"/>
              </a:rPr>
              <a:t>ACTIVE DEVELOPMENT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BC4105-7070-264B-1AC8-0665D65E8277}"/>
              </a:ext>
            </a:extLst>
          </p:cNvPr>
          <p:cNvSpPr txBox="1"/>
          <p:nvPr/>
        </p:nvSpPr>
        <p:spPr>
          <a:xfrm>
            <a:off x="5308600" y="4191000"/>
            <a:ext cx="3810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Segoe UI" panose="020B0502040204020203" pitchFamily="34" charset="0"/>
              </a:rPr>
              <a:t>actuation that protects egress and occupants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8429A02-5C2B-9844-C758-E83082B96A7C}"/>
              </a:ext>
            </a:extLst>
          </p:cNvPr>
          <p:cNvSpPr/>
          <p:nvPr/>
        </p:nvSpPr>
        <p:spPr>
          <a:xfrm>
            <a:off x="914400" y="5029200"/>
            <a:ext cx="10363200" cy="635000"/>
          </a:xfrm>
          <a:prstGeom prst="roundRect">
            <a:avLst/>
          </a:prstGeom>
          <a:solidFill>
            <a:srgbClr val="EDED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C5CD17-93CB-45F6-D32B-5E9ED0634DAC}"/>
              </a:ext>
            </a:extLst>
          </p:cNvPr>
          <p:cNvSpPr txBox="1"/>
          <p:nvPr/>
        </p:nvSpPr>
        <p:spPr>
          <a:xfrm>
            <a:off x="1117600" y="5181600"/>
            <a:ext cx="9956800" cy="381000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en-US" sz="1300" b="1">
                <a:solidFill>
                  <a:srgbClr val="1C1C1C"/>
                </a:solidFill>
                <a:latin typeface="Segoe UI" panose="020B0502040204020203" pitchFamily="34" charset="0"/>
              </a:rPr>
              <a:t>Platform extensions:  MQTT-SN clustering  ·  LoRaWAN fallback  ·  TensorRT INT8 quantization</a:t>
            </a:r>
          </a:p>
        </p:txBody>
      </p:sp>
    </p:spTree>
    <p:extLst>
      <p:ext uri="{BB962C8B-B14F-4D97-AF65-F5344CB8AC3E}">
        <p14:creationId xmlns:p14="http://schemas.microsoft.com/office/powerpoint/2010/main" val="392402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0BC94D-CCEA-5228-9866-20BCF09224F2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D32F2F"/>
                </a:solidFill>
                <a:latin typeface="Segoe UI" panose="020B0502040204020203" pitchFamily="34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7D0D71-9E7A-A450-FF8C-786AA9871287}"/>
              </a:ext>
            </a:extLst>
          </p:cNvPr>
          <p:cNvSpPr txBox="1"/>
          <p:nvPr/>
        </p:nvSpPr>
        <p:spPr>
          <a:xfrm>
            <a:off x="914400" y="21590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3000" b="1">
                <a:solidFill>
                  <a:srgbClr val="0288D1"/>
                </a:solidFill>
                <a:latin typeface="Segoe UI" panose="020B0502040204020203" pitchFamily="34" charset="0"/>
              </a:rPr>
              <a:t>A fail-operational,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B9F126-FD44-D067-D473-9C82C42CE0C2}"/>
              </a:ext>
            </a:extLst>
          </p:cNvPr>
          <p:cNvSpPr txBox="1"/>
          <p:nvPr/>
        </p:nvSpPr>
        <p:spPr>
          <a:xfrm>
            <a:off x="914400" y="2870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3000" b="1">
                <a:solidFill>
                  <a:srgbClr val="F57C00"/>
                </a:solidFill>
                <a:latin typeface="Segoe UI" panose="020B0502040204020203" pitchFamily="34" charset="0"/>
              </a:rPr>
              <a:t>AI-confirmed,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7F51C3-0840-7CFA-6C77-79A84644626B}"/>
              </a:ext>
            </a:extLst>
          </p:cNvPr>
          <p:cNvSpPr txBox="1"/>
          <p:nvPr/>
        </p:nvSpPr>
        <p:spPr>
          <a:xfrm>
            <a:off x="914400" y="35814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3000" b="1">
                <a:solidFill>
                  <a:srgbClr val="D32F2F"/>
                </a:solidFill>
                <a:latin typeface="Segoe UI" panose="020B0502040204020203" pitchFamily="34" charset="0"/>
              </a:rPr>
              <a:t>room-level fire system that suppresses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2CB989-C784-532D-6793-B68DF7B753D5}"/>
              </a:ext>
            </a:extLst>
          </p:cNvPr>
          <p:cNvSpPr txBox="1"/>
          <p:nvPr/>
        </p:nvSpPr>
        <p:spPr>
          <a:xfrm>
            <a:off x="914400" y="4292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3000" b="1">
                <a:solidFill>
                  <a:srgbClr val="1C1C1C"/>
                </a:solidFill>
                <a:latin typeface="Segoe UI" panose="020B0502040204020203" pitchFamily="34" charset="0"/>
              </a:rPr>
              <a:t>in one control cycle — without waiting on the network.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C1211D-3040-5DA5-59B1-F5106C636B56}"/>
              </a:ext>
            </a:extLst>
          </p:cNvPr>
          <p:cNvSpPr/>
          <p:nvPr/>
        </p:nvSpPr>
        <p:spPr>
          <a:xfrm>
            <a:off x="914400" y="5461000"/>
            <a:ext cx="177800" cy="177800"/>
          </a:xfrm>
          <a:prstGeom prst="rect">
            <a:avLst/>
          </a:prstGeom>
          <a:solidFill>
            <a:srgbClr val="0288D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6DD0C9-8EC0-0CD5-C48F-9636407E8E0F}"/>
              </a:ext>
            </a:extLst>
          </p:cNvPr>
          <p:cNvSpPr txBox="1"/>
          <p:nvPr/>
        </p:nvSpPr>
        <p:spPr>
          <a:xfrm>
            <a:off x="1193800" y="5410200"/>
            <a:ext cx="2921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Zonal Autonomy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A31E74-E67A-B84F-33E8-33AB2307FF27}"/>
              </a:ext>
            </a:extLst>
          </p:cNvPr>
          <p:cNvSpPr/>
          <p:nvPr/>
        </p:nvSpPr>
        <p:spPr>
          <a:xfrm>
            <a:off x="4470400" y="5461000"/>
            <a:ext cx="177800" cy="177800"/>
          </a:xfrm>
          <a:prstGeom prst="rect">
            <a:avLst/>
          </a:prstGeom>
          <a:solidFill>
            <a:srgbClr val="F57C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C9473F-D2A1-DB39-F7ED-0539730CF4A4}"/>
              </a:ext>
            </a:extLst>
          </p:cNvPr>
          <p:cNvSpPr txBox="1"/>
          <p:nvPr/>
        </p:nvSpPr>
        <p:spPr>
          <a:xfrm>
            <a:off x="4749800" y="5410200"/>
            <a:ext cx="2921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AI-Confirmed Perception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6A3844-EF5C-2785-2154-4C9F13802CE2}"/>
              </a:ext>
            </a:extLst>
          </p:cNvPr>
          <p:cNvSpPr/>
          <p:nvPr/>
        </p:nvSpPr>
        <p:spPr>
          <a:xfrm>
            <a:off x="8026400" y="5461000"/>
            <a:ext cx="177800" cy="177800"/>
          </a:xfrm>
          <a:prstGeom prst="rect">
            <a:avLst/>
          </a:prstGeom>
          <a:solidFill>
            <a:srgbClr val="D3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4C8127-E45B-0F61-ACA5-D46EEA0D642C}"/>
              </a:ext>
            </a:extLst>
          </p:cNvPr>
          <p:cNvSpPr txBox="1"/>
          <p:nvPr/>
        </p:nvSpPr>
        <p:spPr>
          <a:xfrm>
            <a:off x="8305800" y="5410200"/>
            <a:ext cx="29210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300">
                <a:solidFill>
                  <a:srgbClr val="1C1C1C"/>
                </a:solidFill>
                <a:latin typeface="Segoe UI" panose="020B0502040204020203" pitchFamily="34" charset="0"/>
              </a:rPr>
              <a:t>Engineered Reliability</a:t>
            </a:r>
          </a:p>
        </p:txBody>
      </p:sp>
    </p:spTree>
    <p:extLst>
      <p:ext uri="{BB962C8B-B14F-4D97-AF65-F5344CB8AC3E}">
        <p14:creationId xmlns:p14="http://schemas.microsoft.com/office/powerpoint/2010/main" val="875474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mph" presetSubtype="0" repeatCount="9999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9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5" grpId="1"/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5A099B-2429-69F1-A529-766C1489BC7F}"/>
              </a:ext>
            </a:extLst>
          </p:cNvPr>
          <p:cNvSpPr txBox="1"/>
          <p:nvPr/>
        </p:nvSpPr>
        <p:spPr>
          <a:xfrm>
            <a:off x="914400" y="19050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4400" b="1">
                <a:solidFill>
                  <a:srgbClr val="1C1C1C"/>
                </a:solidFill>
                <a:latin typeface="Segoe UI" panose="020B0502040204020203" pitchFamily="34" charset="0"/>
              </a:rPr>
              <a:t>Thank you.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2E6483-4ECF-C15C-F786-E9FA62234E67}"/>
              </a:ext>
            </a:extLst>
          </p:cNvPr>
          <p:cNvSpPr txBox="1"/>
          <p:nvPr/>
        </p:nvSpPr>
        <p:spPr>
          <a:xfrm>
            <a:off x="914400" y="2717800"/>
            <a:ext cx="103632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000">
                <a:solidFill>
                  <a:srgbClr val="606060"/>
                </a:solidFill>
                <a:latin typeface="Segoe UI" panose="020B0502040204020203" pitchFamily="34" charset="0"/>
              </a:rPr>
              <a:t>Questions &amp; committee discussion.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9634D5-D200-3555-17B3-2EDB2792D4A2}"/>
              </a:ext>
            </a:extLst>
          </p:cNvPr>
          <p:cNvSpPr/>
          <p:nvPr/>
        </p:nvSpPr>
        <p:spPr>
          <a:xfrm>
            <a:off x="914400" y="3810000"/>
            <a:ext cx="3175000" cy="889000"/>
          </a:xfrm>
          <a:prstGeom prst="roundRect">
            <a:avLst/>
          </a:prstGeom>
          <a:solidFill>
            <a:srgbClr val="EDEDED"/>
          </a:solidFill>
          <a:ln w="19050">
            <a:solidFill>
              <a:srgbClr val="0288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74F63B-EA8A-00AE-20AE-E16963FFE8C1}"/>
              </a:ext>
            </a:extLst>
          </p:cNvPr>
          <p:cNvSpPr/>
          <p:nvPr/>
        </p:nvSpPr>
        <p:spPr>
          <a:xfrm>
            <a:off x="914400" y="3810000"/>
            <a:ext cx="76200" cy="889000"/>
          </a:xfrm>
          <a:prstGeom prst="rect">
            <a:avLst/>
          </a:prstGeom>
          <a:solidFill>
            <a:srgbClr val="0288D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2D2EA4-4C4E-3AFF-7BA1-8C553C4B9F5D}"/>
              </a:ext>
            </a:extLst>
          </p:cNvPr>
          <p:cNvSpPr txBox="1"/>
          <p:nvPr/>
        </p:nvSpPr>
        <p:spPr>
          <a:xfrm>
            <a:off x="1143000" y="4089400"/>
            <a:ext cx="28194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en-US" sz="1400" b="1">
                <a:solidFill>
                  <a:srgbClr val="1C1C1C"/>
                </a:solidFill>
                <a:latin typeface="Segoe UI" panose="020B0502040204020203" pitchFamily="34" charset="0"/>
              </a:rPr>
              <a:t>Two-tier system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200D9A3-E645-5799-68D7-B79F1C9C3944}"/>
              </a:ext>
            </a:extLst>
          </p:cNvPr>
          <p:cNvSpPr/>
          <p:nvPr/>
        </p:nvSpPr>
        <p:spPr>
          <a:xfrm>
            <a:off x="4394200" y="3810000"/>
            <a:ext cx="3175000" cy="889000"/>
          </a:xfrm>
          <a:prstGeom prst="roundRect">
            <a:avLst/>
          </a:prstGeom>
          <a:solidFill>
            <a:srgbClr val="EDEDED"/>
          </a:solidFill>
          <a:ln w="19050">
            <a:solidFill>
              <a:srgbClr val="D32F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DDBF8-C1F9-219E-0D29-84E1C6AA709C}"/>
              </a:ext>
            </a:extLst>
          </p:cNvPr>
          <p:cNvSpPr/>
          <p:nvPr/>
        </p:nvSpPr>
        <p:spPr>
          <a:xfrm>
            <a:off x="4394200" y="3810000"/>
            <a:ext cx="76200" cy="889000"/>
          </a:xfrm>
          <a:prstGeom prst="rect">
            <a:avLst/>
          </a:prstGeom>
          <a:solidFill>
            <a:srgbClr val="D3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5C7E39-CE98-418F-8A7A-EFC4E4699CCE}"/>
              </a:ext>
            </a:extLst>
          </p:cNvPr>
          <p:cNvSpPr txBox="1"/>
          <p:nvPr/>
        </p:nvSpPr>
        <p:spPr>
          <a:xfrm>
            <a:off x="4622800" y="4089400"/>
            <a:ext cx="28194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en-US" sz="1400" b="1">
                <a:solidFill>
                  <a:srgbClr val="1C1C1C"/>
                </a:solidFill>
                <a:latin typeface="Segoe UI" panose="020B0502040204020203" pitchFamily="34" charset="0"/>
              </a:rPr>
              <a:t>Zonal plant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65FD73-4330-4979-D2E7-93E4CD8555D2}"/>
              </a:ext>
            </a:extLst>
          </p:cNvPr>
          <p:cNvSpPr/>
          <p:nvPr/>
        </p:nvSpPr>
        <p:spPr>
          <a:xfrm>
            <a:off x="7874000" y="3810000"/>
            <a:ext cx="3175000" cy="889000"/>
          </a:xfrm>
          <a:prstGeom prst="roundRect">
            <a:avLst/>
          </a:prstGeom>
          <a:solidFill>
            <a:srgbClr val="EDEDED"/>
          </a:solidFill>
          <a:ln w="19050">
            <a:solidFill>
              <a:srgbClr val="0288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35D541-46B9-7417-BDD2-1335F00F67DF}"/>
              </a:ext>
            </a:extLst>
          </p:cNvPr>
          <p:cNvSpPr/>
          <p:nvPr/>
        </p:nvSpPr>
        <p:spPr>
          <a:xfrm>
            <a:off x="7874000" y="3810000"/>
            <a:ext cx="76200" cy="889000"/>
          </a:xfrm>
          <a:prstGeom prst="rect">
            <a:avLst/>
          </a:prstGeom>
          <a:solidFill>
            <a:srgbClr val="0288D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3F8CF0-45BB-A71C-1ECD-DD29434F6106}"/>
              </a:ext>
            </a:extLst>
          </p:cNvPr>
          <p:cNvSpPr txBox="1"/>
          <p:nvPr/>
        </p:nvSpPr>
        <p:spPr>
          <a:xfrm>
            <a:off x="8102600" y="4089400"/>
            <a:ext cx="28194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en-US" sz="1400" b="1">
                <a:solidFill>
                  <a:srgbClr val="1C1C1C"/>
                </a:solidFill>
                <a:latin typeface="Segoe UI" panose="020B0502040204020203" pitchFamily="34" charset="0"/>
              </a:rPr>
              <a:t>Edge control loop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EA49DFC-5BAA-D2FB-14CA-2841FA03C093}"/>
              </a:ext>
            </a:extLst>
          </p:cNvPr>
          <p:cNvSpPr/>
          <p:nvPr/>
        </p:nvSpPr>
        <p:spPr>
          <a:xfrm>
            <a:off x="914400" y="4953000"/>
            <a:ext cx="3175000" cy="889000"/>
          </a:xfrm>
          <a:prstGeom prst="roundRect">
            <a:avLst/>
          </a:prstGeom>
          <a:solidFill>
            <a:srgbClr val="EDEDED"/>
          </a:solidFill>
          <a:ln w="19050">
            <a:solidFill>
              <a:srgbClr val="F57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DF2AE3-A370-10E5-9E77-A719458A7E78}"/>
              </a:ext>
            </a:extLst>
          </p:cNvPr>
          <p:cNvSpPr/>
          <p:nvPr/>
        </p:nvSpPr>
        <p:spPr>
          <a:xfrm>
            <a:off x="914400" y="4953000"/>
            <a:ext cx="76200" cy="889000"/>
          </a:xfrm>
          <a:prstGeom prst="rect">
            <a:avLst/>
          </a:prstGeom>
          <a:solidFill>
            <a:srgbClr val="F57C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AD-036D-47FB-7368-DEC3923EDE79}"/>
              </a:ext>
            </a:extLst>
          </p:cNvPr>
          <p:cNvSpPr txBox="1"/>
          <p:nvPr/>
        </p:nvSpPr>
        <p:spPr>
          <a:xfrm>
            <a:off x="1143000" y="5232400"/>
            <a:ext cx="28194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en-US" sz="1400" b="1">
                <a:solidFill>
                  <a:srgbClr val="1C1C1C"/>
                </a:solidFill>
                <a:latin typeface="Segoe UI" panose="020B0502040204020203" pitchFamily="34" charset="0"/>
              </a:rPr>
              <a:t>AI pipeline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D48F3EA-0060-6EDC-9661-377958EE170E}"/>
              </a:ext>
            </a:extLst>
          </p:cNvPr>
          <p:cNvSpPr/>
          <p:nvPr/>
        </p:nvSpPr>
        <p:spPr>
          <a:xfrm>
            <a:off x="4394200" y="4953000"/>
            <a:ext cx="3175000" cy="889000"/>
          </a:xfrm>
          <a:prstGeom prst="roundRect">
            <a:avLst/>
          </a:prstGeom>
          <a:solidFill>
            <a:srgbClr val="EDEDED"/>
          </a:solidFill>
          <a:ln w="19050">
            <a:solidFill>
              <a:srgbClr val="F57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74CF31-98D0-3686-0080-381B9DB3FD1F}"/>
              </a:ext>
            </a:extLst>
          </p:cNvPr>
          <p:cNvSpPr/>
          <p:nvPr/>
        </p:nvSpPr>
        <p:spPr>
          <a:xfrm>
            <a:off x="4394200" y="4953000"/>
            <a:ext cx="76200" cy="889000"/>
          </a:xfrm>
          <a:prstGeom prst="rect">
            <a:avLst/>
          </a:prstGeom>
          <a:solidFill>
            <a:srgbClr val="F57C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AB4378-73C5-838F-1A42-2D40C29BC1E9}"/>
              </a:ext>
            </a:extLst>
          </p:cNvPr>
          <p:cNvSpPr txBox="1"/>
          <p:nvPr/>
        </p:nvSpPr>
        <p:spPr>
          <a:xfrm>
            <a:off x="4622800" y="5232400"/>
            <a:ext cx="28194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en-US" sz="1400" b="1">
                <a:solidFill>
                  <a:srgbClr val="1C1C1C"/>
                </a:solidFill>
                <a:latin typeface="Segoe UI" panose="020B0502040204020203" pitchFamily="34" charset="0"/>
              </a:rPr>
              <a:t>Snapshot → Telegram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0A10A96-695A-E585-38B2-4507715C84AF}"/>
              </a:ext>
            </a:extLst>
          </p:cNvPr>
          <p:cNvSpPr/>
          <p:nvPr/>
        </p:nvSpPr>
        <p:spPr>
          <a:xfrm>
            <a:off x="7874000" y="4953000"/>
            <a:ext cx="3175000" cy="889000"/>
          </a:xfrm>
          <a:prstGeom prst="roundRect">
            <a:avLst/>
          </a:prstGeom>
          <a:solidFill>
            <a:srgbClr val="EDEDED"/>
          </a:solidFill>
          <a:ln w="19050">
            <a:solidFill>
              <a:srgbClr val="D32F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B20BD7-7C19-0FD4-4A39-292B3730864F}"/>
              </a:ext>
            </a:extLst>
          </p:cNvPr>
          <p:cNvSpPr/>
          <p:nvPr/>
        </p:nvSpPr>
        <p:spPr>
          <a:xfrm>
            <a:off x="7874000" y="4953000"/>
            <a:ext cx="76200" cy="889000"/>
          </a:xfrm>
          <a:prstGeom prst="rect">
            <a:avLst/>
          </a:prstGeom>
          <a:solidFill>
            <a:srgbClr val="D32F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05A09B-909C-9AC6-7BE8-175092A634B1}"/>
              </a:ext>
            </a:extLst>
          </p:cNvPr>
          <p:cNvSpPr txBox="1"/>
          <p:nvPr/>
        </p:nvSpPr>
        <p:spPr>
          <a:xfrm>
            <a:off x="8102600" y="5232400"/>
            <a:ext cx="2819400" cy="369332"/>
          </a:xfrm>
          <a:prstGeom prst="rect">
            <a:avLst/>
          </a:prstGeom>
          <a:noFill/>
        </p:spPr>
        <p:txBody>
          <a:bodyPr vert="horz" wrap="square" rtlCol="0" anchor="ctr">
            <a:noAutofit/>
          </a:bodyPr>
          <a:lstStyle/>
          <a:p>
            <a:r>
              <a:rPr lang="en-US" sz="1400" b="1">
                <a:solidFill>
                  <a:srgbClr val="1C1C1C"/>
                </a:solidFill>
                <a:latin typeface="Segoe UI" panose="020B0502040204020203" pitchFamily="34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341956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repeatCount="9999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9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79982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99854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99888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99922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99956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7" grpId="0" animBg="1"/>
      <p:bldP spid="10" grpId="0" animBg="1"/>
      <p:bldP spid="13" grpId="0" animBg="1"/>
      <p:bldP spid="16" grpId="0" animBg="1"/>
      <p:bldP spid="1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139F67-452A-2834-310B-BF29C4C7AA81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606060"/>
                </a:solidFill>
                <a:latin typeface="Segoe UI" panose="020B0502040204020203" pitchFamily="34" charset="0"/>
              </a:rPr>
              <a:t>APPENDIX A · BACKUP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2B6588-0DE2-5699-BD8C-698BE9930414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200" b="1">
                <a:solidFill>
                  <a:srgbClr val="1C1C1C"/>
                </a:solidFill>
                <a:latin typeface="Segoe UI" panose="020B0502040204020203" pitchFamily="34" charset="0"/>
              </a:rPr>
              <a:t>Hardware &amp; electrical reference.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71FE45-EA6F-E91B-F6DE-083B22815574}"/>
              </a:ext>
            </a:extLst>
          </p:cNvPr>
          <p:cNvSpPr/>
          <p:nvPr/>
        </p:nvSpPr>
        <p:spPr>
          <a:xfrm>
            <a:off x="914400" y="2222500"/>
            <a:ext cx="2540000" cy="482600"/>
          </a:xfrm>
          <a:prstGeom prst="rect">
            <a:avLst/>
          </a:prstGeom>
          <a:solidFill>
            <a:srgbClr val="1C1C1C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5589E2-DD01-4BDB-634E-B7CEC4BED584}"/>
              </a:ext>
            </a:extLst>
          </p:cNvPr>
          <p:cNvSpPr txBox="1"/>
          <p:nvPr/>
        </p:nvSpPr>
        <p:spPr>
          <a:xfrm>
            <a:off x="1016000" y="2298700"/>
            <a:ext cx="2387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Item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4EB9DF-BDF6-4C36-EDFF-94F6473BCAA7}"/>
              </a:ext>
            </a:extLst>
          </p:cNvPr>
          <p:cNvSpPr/>
          <p:nvPr/>
        </p:nvSpPr>
        <p:spPr>
          <a:xfrm>
            <a:off x="3454400" y="2222500"/>
            <a:ext cx="7874000" cy="482600"/>
          </a:xfrm>
          <a:prstGeom prst="rect">
            <a:avLst/>
          </a:prstGeom>
          <a:solidFill>
            <a:srgbClr val="1C1C1C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50A46E-C8C9-9405-5F01-CDF523957E2E}"/>
              </a:ext>
            </a:extLst>
          </p:cNvPr>
          <p:cNvSpPr txBox="1"/>
          <p:nvPr/>
        </p:nvSpPr>
        <p:spPr>
          <a:xfrm>
            <a:off x="3556000" y="2298700"/>
            <a:ext cx="7721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onsolas" panose="020B0609020204030204" pitchFamily="49" charset="0"/>
              </a:rPr>
              <a:t>Value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B1B805-532A-3795-2CB7-9AE093477FC2}"/>
              </a:ext>
            </a:extLst>
          </p:cNvPr>
          <p:cNvSpPr/>
          <p:nvPr/>
        </p:nvSpPr>
        <p:spPr>
          <a:xfrm>
            <a:off x="914400" y="2705100"/>
            <a:ext cx="2540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22F74B-3E9B-0F84-30C9-7D2FA7FA0C14}"/>
              </a:ext>
            </a:extLst>
          </p:cNvPr>
          <p:cNvSpPr txBox="1"/>
          <p:nvPr/>
        </p:nvSpPr>
        <p:spPr>
          <a:xfrm>
            <a:off x="1016000" y="2781300"/>
            <a:ext cx="2387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Segoe UI" panose="020B0502040204020203" pitchFamily="34" charset="0"/>
              </a:rPr>
              <a:t>MCU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24F9EB-9CCA-3544-358D-0156B8EBBBCD}"/>
              </a:ext>
            </a:extLst>
          </p:cNvPr>
          <p:cNvSpPr/>
          <p:nvPr/>
        </p:nvSpPr>
        <p:spPr>
          <a:xfrm>
            <a:off x="3454400" y="2705100"/>
            <a:ext cx="7874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0FBB3C-D325-335A-EF81-A39ACDF00E8E}"/>
              </a:ext>
            </a:extLst>
          </p:cNvPr>
          <p:cNvSpPr txBox="1"/>
          <p:nvPr/>
        </p:nvSpPr>
        <p:spPr>
          <a:xfrm>
            <a:off x="3556000" y="2781300"/>
            <a:ext cx="7721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pt-BR" sz="1100">
                <a:solidFill>
                  <a:srgbClr val="1C1C1C"/>
                </a:solidFill>
                <a:latin typeface="Consolas" panose="020B0609020204030204" pitchFamily="49" charset="0"/>
              </a:rPr>
              <a:t>ESP32-WROOM-32DA (LX6 dual-core, 240 MHz)</a:t>
            </a:r>
            <a:endParaRPr lang="en-US" sz="1100">
              <a:solidFill>
                <a:srgbClr val="1C1C1C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E093A4-520B-1F45-D40D-98D6666F42F3}"/>
              </a:ext>
            </a:extLst>
          </p:cNvPr>
          <p:cNvSpPr/>
          <p:nvPr/>
        </p:nvSpPr>
        <p:spPr>
          <a:xfrm>
            <a:off x="914400" y="3187700"/>
            <a:ext cx="2540000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80587F-67BC-B0A9-1191-0B09E960259B}"/>
              </a:ext>
            </a:extLst>
          </p:cNvPr>
          <p:cNvSpPr txBox="1"/>
          <p:nvPr/>
        </p:nvSpPr>
        <p:spPr>
          <a:xfrm>
            <a:off x="1016000" y="3263900"/>
            <a:ext cx="2387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Segoe UI" panose="020B0502040204020203" pitchFamily="34" charset="0"/>
              </a:rPr>
              <a:t>Gas (ADC1)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6B76FE-09D5-AAB5-83EB-6229ED1DBB97}"/>
              </a:ext>
            </a:extLst>
          </p:cNvPr>
          <p:cNvSpPr/>
          <p:nvPr/>
        </p:nvSpPr>
        <p:spPr>
          <a:xfrm>
            <a:off x="3454400" y="3187700"/>
            <a:ext cx="7874000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C7714F-C459-9AFC-7776-F42206C79707}"/>
              </a:ext>
            </a:extLst>
          </p:cNvPr>
          <p:cNvSpPr txBox="1"/>
          <p:nvPr/>
        </p:nvSpPr>
        <p:spPr>
          <a:xfrm>
            <a:off x="3556000" y="3263900"/>
            <a:ext cx="7721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pt-BR" sz="1100">
                <a:solidFill>
                  <a:srgbClr val="1C1C1C"/>
                </a:solidFill>
                <a:latin typeface="Consolas" panose="020B0609020204030204" pitchFamily="49" charset="0"/>
              </a:rPr>
              <a:t>R1 GPIO35 MQ-7 / R2 34 MQ-6 / R3 33 MQ-5 / R4 32 MQ-2</a:t>
            </a:r>
            <a:endParaRPr lang="en-US" sz="1100">
              <a:solidFill>
                <a:srgbClr val="1C1C1C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1CCD2F-E94D-67C0-16AD-73E047EEF4F8}"/>
              </a:ext>
            </a:extLst>
          </p:cNvPr>
          <p:cNvSpPr/>
          <p:nvPr/>
        </p:nvSpPr>
        <p:spPr>
          <a:xfrm>
            <a:off x="914400" y="3670300"/>
            <a:ext cx="2540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4D21AD-D93D-D138-7020-B8FB9C03D0E7}"/>
              </a:ext>
            </a:extLst>
          </p:cNvPr>
          <p:cNvSpPr txBox="1"/>
          <p:nvPr/>
        </p:nvSpPr>
        <p:spPr>
          <a:xfrm>
            <a:off x="1016000" y="3746500"/>
            <a:ext cx="2387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Segoe UI" panose="020B0502040204020203" pitchFamily="34" charset="0"/>
              </a:rPr>
              <a:t>Gas threshold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BBEA28-B736-0A0C-6E25-F2F1043A6999}"/>
              </a:ext>
            </a:extLst>
          </p:cNvPr>
          <p:cNvSpPr/>
          <p:nvPr/>
        </p:nvSpPr>
        <p:spPr>
          <a:xfrm>
            <a:off x="3454400" y="3670300"/>
            <a:ext cx="7874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07F137-285B-0465-A2EE-564414DD3FF9}"/>
              </a:ext>
            </a:extLst>
          </p:cNvPr>
          <p:cNvSpPr txBox="1"/>
          <p:nvPr/>
        </p:nvSpPr>
        <p:spPr>
          <a:xfrm>
            <a:off x="3556000" y="3746500"/>
            <a:ext cx="7721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ADC 2000 (mid of 0–4095) · EMA α 0.15 · 60 s warm-up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576CF6-8832-48AD-D351-9AF63C9ECC94}"/>
              </a:ext>
            </a:extLst>
          </p:cNvPr>
          <p:cNvSpPr/>
          <p:nvPr/>
        </p:nvSpPr>
        <p:spPr>
          <a:xfrm>
            <a:off x="914400" y="4152900"/>
            <a:ext cx="2540000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644A95-09D0-2029-129E-DBE7A8FBD4AA}"/>
              </a:ext>
            </a:extLst>
          </p:cNvPr>
          <p:cNvSpPr txBox="1"/>
          <p:nvPr/>
        </p:nvSpPr>
        <p:spPr>
          <a:xfrm>
            <a:off x="1016000" y="4229100"/>
            <a:ext cx="2387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Segoe UI" panose="020B0502040204020203" pitchFamily="34" charset="0"/>
              </a:rPr>
              <a:t>Actuation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1C6651-43C8-054E-F9DE-14A6EDDD1C5C}"/>
              </a:ext>
            </a:extLst>
          </p:cNvPr>
          <p:cNvSpPr/>
          <p:nvPr/>
        </p:nvSpPr>
        <p:spPr>
          <a:xfrm>
            <a:off x="3454400" y="4152900"/>
            <a:ext cx="7874000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6CB531-963B-598F-5119-DCDA24CD5676}"/>
              </a:ext>
            </a:extLst>
          </p:cNvPr>
          <p:cNvSpPr txBox="1"/>
          <p:nvPr/>
        </p:nvSpPr>
        <p:spPr>
          <a:xfrm>
            <a:off x="3556000" y="4229100"/>
            <a:ext cx="7721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PCA9685 @0x40, 50 Hz · 9 servos · 4 relay pumps (active-LOW)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CA4B1D-A597-651B-6CBA-0735B1A0AFA4}"/>
              </a:ext>
            </a:extLst>
          </p:cNvPr>
          <p:cNvSpPr/>
          <p:nvPr/>
        </p:nvSpPr>
        <p:spPr>
          <a:xfrm>
            <a:off x="914400" y="4635500"/>
            <a:ext cx="2540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48B1BB-1CCF-504E-2EA2-80708A30AFEE}"/>
              </a:ext>
            </a:extLst>
          </p:cNvPr>
          <p:cNvSpPr txBox="1"/>
          <p:nvPr/>
        </p:nvSpPr>
        <p:spPr>
          <a:xfrm>
            <a:off x="1016000" y="4711700"/>
            <a:ext cx="2387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Segoe UI" panose="020B0502040204020203" pitchFamily="34" charset="0"/>
              </a:rPr>
              <a:t>Flame / DHT22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699692-0507-5F0A-0562-AFB53FA73F96}"/>
              </a:ext>
            </a:extLst>
          </p:cNvPr>
          <p:cNvSpPr/>
          <p:nvPr/>
        </p:nvSpPr>
        <p:spPr>
          <a:xfrm>
            <a:off x="3454400" y="4635500"/>
            <a:ext cx="7874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361ECD-C832-29A4-C6A1-F5787A0BA021}"/>
              </a:ext>
            </a:extLst>
          </p:cNvPr>
          <p:cNvSpPr txBox="1"/>
          <p:nvPr/>
        </p:nvSpPr>
        <p:spPr>
          <a:xfrm>
            <a:off x="3556000" y="4711700"/>
            <a:ext cx="7721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GPIO27 active-LOW / GPIO26 one-wire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F0D05F-951A-E9DC-8C89-6171C62AA3B1}"/>
              </a:ext>
            </a:extLst>
          </p:cNvPr>
          <p:cNvSpPr/>
          <p:nvPr/>
        </p:nvSpPr>
        <p:spPr>
          <a:xfrm>
            <a:off x="914400" y="5118100"/>
            <a:ext cx="2540000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A65859-FFFC-DDE0-B9ED-88614C3B4D68}"/>
              </a:ext>
            </a:extLst>
          </p:cNvPr>
          <p:cNvSpPr txBox="1"/>
          <p:nvPr/>
        </p:nvSpPr>
        <p:spPr>
          <a:xfrm>
            <a:off x="1016000" y="5194300"/>
            <a:ext cx="2387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Segoe UI" panose="020B0502040204020203" pitchFamily="34" charset="0"/>
              </a:rPr>
              <a:t>Water (HC-SR04)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649A3B-7BAE-C26A-6C48-3FDD115B3122}"/>
              </a:ext>
            </a:extLst>
          </p:cNvPr>
          <p:cNvSpPr/>
          <p:nvPr/>
        </p:nvSpPr>
        <p:spPr>
          <a:xfrm>
            <a:off x="3454400" y="5118100"/>
            <a:ext cx="7874000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EF2C1B-615F-7FF3-0DA1-484A17B6D9D8}"/>
              </a:ext>
            </a:extLst>
          </p:cNvPr>
          <p:cNvSpPr txBox="1"/>
          <p:nvPr/>
        </p:nvSpPr>
        <p:spPr>
          <a:xfrm>
            <a:off x="3556000" y="5194300"/>
            <a:ext cx="7721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TRIG 15 / ECHO 36 · cut &lt; 10% resume ≥ 20%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CCEC6C-CBBE-F24C-2505-5A0A0FC7DC05}"/>
              </a:ext>
            </a:extLst>
          </p:cNvPr>
          <p:cNvSpPr/>
          <p:nvPr/>
        </p:nvSpPr>
        <p:spPr>
          <a:xfrm>
            <a:off x="914400" y="5600700"/>
            <a:ext cx="2540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F09F8C-338B-1B92-211C-762E42AD38D0}"/>
              </a:ext>
            </a:extLst>
          </p:cNvPr>
          <p:cNvSpPr txBox="1"/>
          <p:nvPr/>
        </p:nvSpPr>
        <p:spPr>
          <a:xfrm>
            <a:off x="1016000" y="5676900"/>
            <a:ext cx="2387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Segoe UI" panose="020B0502040204020203" pitchFamily="34" charset="0"/>
              </a:rPr>
              <a:t>Power budget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490E9F-FEFB-F016-9469-A7312D099094}"/>
              </a:ext>
            </a:extLst>
          </p:cNvPr>
          <p:cNvSpPr/>
          <p:nvPr/>
        </p:nvSpPr>
        <p:spPr>
          <a:xfrm>
            <a:off x="3454400" y="5600700"/>
            <a:ext cx="7874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FD7D22-CA79-CD9C-BEF8-B56E9FBB30F8}"/>
              </a:ext>
            </a:extLst>
          </p:cNvPr>
          <p:cNvSpPr txBox="1"/>
          <p:nvPr/>
        </p:nvSpPr>
        <p:spPr>
          <a:xfrm>
            <a:off x="3556000" y="5676900"/>
            <a:ext cx="7721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~4.1 A peak on 5 V / 5 A (20% margin)</a:t>
            </a:r>
          </a:p>
        </p:txBody>
      </p:sp>
    </p:spTree>
    <p:extLst>
      <p:ext uri="{BB962C8B-B14F-4D97-AF65-F5344CB8AC3E}">
        <p14:creationId xmlns:p14="http://schemas.microsoft.com/office/powerpoint/2010/main" val="2010958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wipe/>
      </p:transition>
    </mc:Choice>
    <mc:Fallback>
      <p:transition spd="med">
        <p:wip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B21B91-3E26-EE5D-3701-4C56BC646D8D}"/>
              </a:ext>
            </a:extLst>
          </p:cNvPr>
          <p:cNvSpPr txBox="1"/>
          <p:nvPr/>
        </p:nvSpPr>
        <p:spPr>
          <a:xfrm>
            <a:off x="914400" y="11176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400" b="1">
                <a:solidFill>
                  <a:srgbClr val="606060"/>
                </a:solidFill>
                <a:latin typeface="Segoe UI" panose="020B0502040204020203" pitchFamily="34" charset="0"/>
              </a:rPr>
              <a:t>APPENDIX B · BACKUP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2ED8DA-EABD-0F53-88E8-C77AA4E68A14}"/>
              </a:ext>
            </a:extLst>
          </p:cNvPr>
          <p:cNvSpPr txBox="1"/>
          <p:nvPr/>
        </p:nvSpPr>
        <p:spPr>
          <a:xfrm>
            <a:off x="914400" y="1473200"/>
            <a:ext cx="10363200" cy="369332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2200" b="1">
                <a:solidFill>
                  <a:srgbClr val="1C1C1C"/>
                </a:solidFill>
                <a:latin typeface="Segoe UI" panose="020B0502040204020203" pitchFamily="34" charset="0"/>
              </a:rPr>
              <a:t>Software &amp; AI reference.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7D9AC8-F4FF-8B11-D4D0-62EF4427404A}"/>
              </a:ext>
            </a:extLst>
          </p:cNvPr>
          <p:cNvSpPr/>
          <p:nvPr/>
        </p:nvSpPr>
        <p:spPr>
          <a:xfrm>
            <a:off x="914400" y="2222500"/>
            <a:ext cx="2540000" cy="482600"/>
          </a:xfrm>
          <a:prstGeom prst="rect">
            <a:avLst/>
          </a:prstGeom>
          <a:solidFill>
            <a:srgbClr val="1C1C1C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3F361A-299F-DDF1-0739-E1349C642135}"/>
              </a:ext>
            </a:extLst>
          </p:cNvPr>
          <p:cNvSpPr txBox="1"/>
          <p:nvPr/>
        </p:nvSpPr>
        <p:spPr>
          <a:xfrm>
            <a:off x="1016000" y="2298700"/>
            <a:ext cx="2387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Segoe UI" panose="020B0502040204020203" pitchFamily="34" charset="0"/>
              </a:rPr>
              <a:t>Item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FFE168-4358-B5E3-288D-A2BA4175B4BA}"/>
              </a:ext>
            </a:extLst>
          </p:cNvPr>
          <p:cNvSpPr/>
          <p:nvPr/>
        </p:nvSpPr>
        <p:spPr>
          <a:xfrm>
            <a:off x="3454400" y="2222500"/>
            <a:ext cx="7874000" cy="482600"/>
          </a:xfrm>
          <a:prstGeom prst="rect">
            <a:avLst/>
          </a:prstGeom>
          <a:solidFill>
            <a:srgbClr val="1C1C1C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5F2756-C53A-3E1C-9024-5B5DCDA4DA7E}"/>
              </a:ext>
            </a:extLst>
          </p:cNvPr>
          <p:cNvSpPr txBox="1"/>
          <p:nvPr/>
        </p:nvSpPr>
        <p:spPr>
          <a:xfrm>
            <a:off x="3556000" y="2298700"/>
            <a:ext cx="7721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onsolas" panose="020B0609020204030204" pitchFamily="49" charset="0"/>
              </a:rPr>
              <a:t>Value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E444E3-F2CC-8255-8A05-C609D940F35B}"/>
              </a:ext>
            </a:extLst>
          </p:cNvPr>
          <p:cNvSpPr/>
          <p:nvPr/>
        </p:nvSpPr>
        <p:spPr>
          <a:xfrm>
            <a:off x="914400" y="2705100"/>
            <a:ext cx="2540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2976C9-9504-F52E-C38D-0B0EC0EBAA6A}"/>
              </a:ext>
            </a:extLst>
          </p:cNvPr>
          <p:cNvSpPr txBox="1"/>
          <p:nvPr/>
        </p:nvSpPr>
        <p:spPr>
          <a:xfrm>
            <a:off x="1016000" y="2781300"/>
            <a:ext cx="2387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Segoe UI" panose="020B0502040204020203" pitchFamily="34" charset="0"/>
              </a:rPr>
              <a:t>Vision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9AEE5E-70EB-382E-EB05-595F20C1174E}"/>
              </a:ext>
            </a:extLst>
          </p:cNvPr>
          <p:cNvSpPr/>
          <p:nvPr/>
        </p:nvSpPr>
        <p:spPr>
          <a:xfrm>
            <a:off x="3454400" y="2705100"/>
            <a:ext cx="7874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845568-2BC4-8F68-EDB2-57CA4E143358}"/>
              </a:ext>
            </a:extLst>
          </p:cNvPr>
          <p:cNvSpPr txBox="1"/>
          <p:nvPr/>
        </p:nvSpPr>
        <p:spPr>
          <a:xfrm>
            <a:off x="3556000" y="2781300"/>
            <a:ext cx="7721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YOLOv11-nano best_nano_111.pt · CUDA FP16 · imgsz 640 · IoU 0.20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516915-FD69-2E78-89F5-AC7D9E15710D}"/>
              </a:ext>
            </a:extLst>
          </p:cNvPr>
          <p:cNvSpPr/>
          <p:nvPr/>
        </p:nvSpPr>
        <p:spPr>
          <a:xfrm>
            <a:off x="914400" y="3187700"/>
            <a:ext cx="2540000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9A78D7-4BB2-84ED-F0E8-6485D98465B5}"/>
              </a:ext>
            </a:extLst>
          </p:cNvPr>
          <p:cNvSpPr txBox="1"/>
          <p:nvPr/>
        </p:nvSpPr>
        <p:spPr>
          <a:xfrm>
            <a:off x="1016000" y="3263900"/>
            <a:ext cx="2387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Segoe UI" panose="020B0502040204020203" pitchFamily="34" charset="0"/>
              </a:rPr>
              <a:t>Confidence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02B3E1-134E-92A5-DCEE-32EA3A5DB038}"/>
              </a:ext>
            </a:extLst>
          </p:cNvPr>
          <p:cNvSpPr/>
          <p:nvPr/>
        </p:nvSpPr>
        <p:spPr>
          <a:xfrm>
            <a:off x="3454400" y="3187700"/>
            <a:ext cx="7874000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E7C351-E2D5-05F4-3957-7A2B7EB55AA4}"/>
              </a:ext>
            </a:extLst>
          </p:cNvPr>
          <p:cNvSpPr txBox="1"/>
          <p:nvPr/>
        </p:nvSpPr>
        <p:spPr>
          <a:xfrm>
            <a:off x="3556000" y="3263900"/>
            <a:ext cx="7721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fire 0.68 · smoke 0.82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63985F-1E94-96A3-0549-233333118797}"/>
              </a:ext>
            </a:extLst>
          </p:cNvPr>
          <p:cNvSpPr/>
          <p:nvPr/>
        </p:nvSpPr>
        <p:spPr>
          <a:xfrm>
            <a:off x="914400" y="3670300"/>
            <a:ext cx="2540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49F3D0-EC86-91DF-2028-7212666AB688}"/>
              </a:ext>
            </a:extLst>
          </p:cNvPr>
          <p:cNvSpPr txBox="1"/>
          <p:nvPr/>
        </p:nvSpPr>
        <p:spPr>
          <a:xfrm>
            <a:off x="1016000" y="3746500"/>
            <a:ext cx="2387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Segoe UI" panose="020B0502040204020203" pitchFamily="34" charset="0"/>
              </a:rPr>
              <a:t>Throughput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D38FBD-8C76-CE40-8056-ACE02BFB2B5A}"/>
              </a:ext>
            </a:extLst>
          </p:cNvPr>
          <p:cNvSpPr/>
          <p:nvPr/>
        </p:nvSpPr>
        <p:spPr>
          <a:xfrm>
            <a:off x="3454400" y="3670300"/>
            <a:ext cx="7874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EBC794-3126-C27C-E102-97A0EA13C9D7}"/>
              </a:ext>
            </a:extLst>
          </p:cNvPr>
          <p:cNvSpPr txBox="1"/>
          <p:nvPr/>
        </p:nvSpPr>
        <p:spPr>
          <a:xfrm>
            <a:off x="3556000" y="3746500"/>
            <a:ext cx="7721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23 FPS GPU (RTX 3050) / 7 FPS CPU (ONNX, every 3rd frame)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354AFC-F044-84D6-9D86-630B378067B8}"/>
              </a:ext>
            </a:extLst>
          </p:cNvPr>
          <p:cNvSpPr/>
          <p:nvPr/>
        </p:nvSpPr>
        <p:spPr>
          <a:xfrm>
            <a:off x="914400" y="4152900"/>
            <a:ext cx="2540000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C42049-4193-50F3-CE01-5000CE3AC539}"/>
              </a:ext>
            </a:extLst>
          </p:cNvPr>
          <p:cNvSpPr txBox="1"/>
          <p:nvPr/>
        </p:nvSpPr>
        <p:spPr>
          <a:xfrm>
            <a:off x="1016000" y="4229100"/>
            <a:ext cx="2387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Segoe UI" panose="020B0502040204020203" pitchFamily="34" charset="0"/>
              </a:rPr>
              <a:t>Occupancy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0365DC-BDAC-D047-2457-F310B0365449}"/>
              </a:ext>
            </a:extLst>
          </p:cNvPr>
          <p:cNvSpPr/>
          <p:nvPr/>
        </p:nvSpPr>
        <p:spPr>
          <a:xfrm>
            <a:off x="3454400" y="4152900"/>
            <a:ext cx="7874000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7EECD2-CAA5-A56C-7512-D3E44E5D32F4}"/>
              </a:ext>
            </a:extLst>
          </p:cNvPr>
          <p:cNvSpPr txBox="1"/>
          <p:nvPr/>
        </p:nvSpPr>
        <p:spPr>
          <a:xfrm>
            <a:off x="3556000" y="4229100"/>
            <a:ext cx="7721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yolo11n person track · line x = 300 · directional count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622A4E-353F-3430-1789-EF7705761A48}"/>
              </a:ext>
            </a:extLst>
          </p:cNvPr>
          <p:cNvSpPr/>
          <p:nvPr/>
        </p:nvSpPr>
        <p:spPr>
          <a:xfrm>
            <a:off x="914400" y="4635500"/>
            <a:ext cx="2540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A35778D-A9ED-15A9-607F-929504095161}"/>
              </a:ext>
            </a:extLst>
          </p:cNvPr>
          <p:cNvSpPr txBox="1"/>
          <p:nvPr/>
        </p:nvSpPr>
        <p:spPr>
          <a:xfrm>
            <a:off x="1016000" y="4711700"/>
            <a:ext cx="2387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Segoe UI" panose="020B0502040204020203" pitchFamily="34" charset="0"/>
              </a:rPr>
              <a:t>Fusion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97D811-80EA-CE62-09FB-F9ADBD96EF81}"/>
              </a:ext>
            </a:extLst>
          </p:cNvPr>
          <p:cNvSpPr/>
          <p:nvPr/>
        </p:nvSpPr>
        <p:spPr>
          <a:xfrm>
            <a:off x="3454400" y="4635500"/>
            <a:ext cx="7874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0999D8-4098-80F0-9A75-1CE1CE99E0DF}"/>
              </a:ext>
            </a:extLst>
          </p:cNvPr>
          <p:cNvSpPr txBox="1"/>
          <p:nvPr/>
        </p:nvSpPr>
        <p:spPr>
          <a:xfrm>
            <a:off x="3556000" y="4711700"/>
            <a:ext cx="7721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pt-BR" sz="1100">
                <a:solidFill>
                  <a:srgbClr val="1C1C1C"/>
                </a:solidFill>
                <a:latin typeface="Consolas" panose="020B0609020204030204" pitchFamily="49" charset="0"/>
              </a:rPr>
              <a:t>manual 1.00 / gas|flame|cam 0.92 / multi 0.98 / temp 0.65</a:t>
            </a:r>
            <a:endParaRPr lang="en-US" sz="1100">
              <a:solidFill>
                <a:srgbClr val="1C1C1C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CE593C-A76B-1F31-7F0A-278EEEBE0E2C}"/>
              </a:ext>
            </a:extLst>
          </p:cNvPr>
          <p:cNvSpPr/>
          <p:nvPr/>
        </p:nvSpPr>
        <p:spPr>
          <a:xfrm>
            <a:off x="914400" y="5118100"/>
            <a:ext cx="2540000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94D53D-A8A3-1F22-34B0-8EFA3D9436F8}"/>
              </a:ext>
            </a:extLst>
          </p:cNvPr>
          <p:cNvSpPr txBox="1"/>
          <p:nvPr/>
        </p:nvSpPr>
        <p:spPr>
          <a:xfrm>
            <a:off x="1016000" y="5194300"/>
            <a:ext cx="2387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Segoe UI" panose="020B0502040204020203" pitchFamily="34" charset="0"/>
              </a:rPr>
              <a:t>Alerting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193938-88FD-11DF-6773-917617C8557B}"/>
              </a:ext>
            </a:extLst>
          </p:cNvPr>
          <p:cNvSpPr/>
          <p:nvPr/>
        </p:nvSpPr>
        <p:spPr>
          <a:xfrm>
            <a:off x="3454400" y="5118100"/>
            <a:ext cx="7874000" cy="482600"/>
          </a:xfrm>
          <a:prstGeom prst="rect">
            <a:avLst/>
          </a:prstGeom>
          <a:solidFill>
            <a:srgbClr val="FFFFFF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A5EE5E-8FD6-AF29-FB9E-564A953467D9}"/>
              </a:ext>
            </a:extLst>
          </p:cNvPr>
          <p:cNvSpPr txBox="1"/>
          <p:nvPr/>
        </p:nvSpPr>
        <p:spPr>
          <a:xfrm>
            <a:off x="3556000" y="5194300"/>
            <a:ext cx="7721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Telegram sffs_bot · 45 s cooldown · escalation bypass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E5DB97-A066-9F4B-1A39-E797866D2031}"/>
              </a:ext>
            </a:extLst>
          </p:cNvPr>
          <p:cNvSpPr/>
          <p:nvPr/>
        </p:nvSpPr>
        <p:spPr>
          <a:xfrm>
            <a:off x="914400" y="5600700"/>
            <a:ext cx="2540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980363-4C4B-649E-F671-AC33A31B3D2C}"/>
              </a:ext>
            </a:extLst>
          </p:cNvPr>
          <p:cNvSpPr txBox="1"/>
          <p:nvPr/>
        </p:nvSpPr>
        <p:spPr>
          <a:xfrm>
            <a:off x="1016000" y="5676900"/>
            <a:ext cx="2387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r>
              <a:rPr lang="en-US" sz="1100">
                <a:solidFill>
                  <a:srgbClr val="1C1C1C"/>
                </a:solidFill>
                <a:latin typeface="Segoe UI" panose="020B0502040204020203" pitchFamily="34" charset="0"/>
              </a:rPr>
              <a:t>Resilience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214ACD-CFD1-3B44-D075-708F1163BC6E}"/>
              </a:ext>
            </a:extLst>
          </p:cNvPr>
          <p:cNvSpPr/>
          <p:nvPr/>
        </p:nvSpPr>
        <p:spPr>
          <a:xfrm>
            <a:off x="3454400" y="5600700"/>
            <a:ext cx="7874000" cy="482600"/>
          </a:xfrm>
          <a:prstGeom prst="rect">
            <a:avLst/>
          </a:prstGeom>
          <a:solidFill>
            <a:srgbClr val="EDEDED"/>
          </a:solidFill>
          <a:ln w="6350">
            <a:solidFill>
              <a:srgbClr val="96969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433C3C-3877-7CAA-F79F-786141A971F9}"/>
              </a:ext>
            </a:extLst>
          </p:cNvPr>
          <p:cNvSpPr txBox="1"/>
          <p:nvPr/>
        </p:nvSpPr>
        <p:spPr>
          <a:xfrm>
            <a:off x="3556000" y="5676900"/>
            <a:ext cx="7721600" cy="381000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ctr"/>
            <a:r>
              <a:rPr lang="en-US" sz="1100">
                <a:solidFill>
                  <a:srgbClr val="1C1C1C"/>
                </a:solidFill>
                <a:latin typeface="Consolas" panose="020B0609020204030204" pitchFamily="49" charset="0"/>
              </a:rPr>
              <a:t>edge predicate broker-independent · failsafe FSM · MQTT LWT</a:t>
            </a:r>
          </a:p>
        </p:txBody>
      </p:sp>
    </p:spTree>
    <p:extLst>
      <p:ext uri="{BB962C8B-B14F-4D97-AF65-F5344CB8AC3E}">
        <p14:creationId xmlns:p14="http://schemas.microsoft.com/office/powerpoint/2010/main" val="351836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wipe/>
      </p:transition>
    </mc:Choice>
    <mc:Fallback>
      <p:transition spd="med">
        <p:wip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2576</Words>
  <Application>Microsoft Office PowerPoint</Application>
  <PresentationFormat>Widescreen</PresentationFormat>
  <Paragraphs>508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Aptos</vt:lpstr>
      <vt:lpstr>Aptos Display</vt:lpstr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Marawan Mohamed</dc:creator>
  <cp:lastModifiedBy>Marawan Mohamed</cp:lastModifiedBy>
  <cp:revision>6</cp:revision>
  <dcterms:created xsi:type="dcterms:W3CDTF">2026-06-20T09:00:57Z</dcterms:created>
  <dcterms:modified xsi:type="dcterms:W3CDTF">2026-06-20T22:10:08Z</dcterms:modified>
</cp:coreProperties>
</file>